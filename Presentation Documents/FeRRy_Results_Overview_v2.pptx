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5.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9ff9f4d3-1372-7ce9-3ead-e1d51db08b4a}">
          <p14:sldIdLst>
            <p14:sldId id="256"/>
            <p14:sldId id="257"/>
          </p14:sldIdLst>
        </p14:section>
        <p14:section name="Introduction" id="{a26503f7-3dff-0bd7-2bc9-e30707cf3f41}">
          <p14:sldIdLst>
            <p14:sldId id="258"/>
            <p14:sldId id="259"/>
            <p14:sldId id="260"/>
          </p14:sldIdLst>
        </p14:section>
        <p14:section name="Related work" id="{e7c026a5-26f7-2eb9-7ebd-9761b261e1e8}">
          <p14:sldIdLst>
            <p14:sldId id="261"/>
            <p14:sldId id="262"/>
          </p14:sldIdLst>
        </p14:section>
        <p14:section name="Methods" id="{e76b0611-b82e-9015-30ff-a6560e72d41d}">
          <p14:sldIdLst>
            <p14:sldId id="263"/>
            <p14:sldId id="264"/>
            <p14:sldId id="265"/>
            <p14:sldId id="266"/>
          </p14:sldIdLst>
        </p14:section>
        <p14:section name="Setup" id="{3fd5e282-4314-96c5-a2bb-57cbba782b41}">
          <p14:sldIdLst>
            <p14:sldId id="267"/>
          </p14:sldIdLst>
        </p14:section>
        <p14:section name="Results" id="{39a75c52-57e4-f4d5-844e-d57e7bd01b75}">
          <p14:sldIdLst>
            <p14:sldId id="268"/>
            <p14:sldId id="269"/>
            <p14:sldId id="270"/>
            <p14:sldId id="271"/>
            <p14:sldId id="272"/>
            <p14:sldId id="273"/>
          </p14:sldIdLst>
        </p14:section>
        <p14:section name="Wrap-up" id="{0cf9d5c9-15b5-1a09-8e60-c70e5e1c3b36}">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Time to target</c:v>
                </c:pt>
              </c:strCache>
            </c:strRef>
          </c:tx>
          <c:spPr>
            <a:solidFill>
              <a:srgbClr val="D9681A"/>
            </a:solidFill>
            <a:effectLst/>
          </c:spPr>
          <c:invertIfNegative val="0"/>
          <c:dLbls>
            <c:numFmt formatCode="0&quot; s&quot;"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D9681A"/>
              </a:solidFill>
              <a:effectLst/>
            </c:spPr>
          </c:dPt>
          <c:dPt>
            <c:idx val="1"/>
            <c:invertIfNegative val="0"/>
            <c:bubble3D val="0"/>
            <c:spPr>
              <a:solidFill>
                <a:srgbClr val="D9681A"/>
              </a:solidFill>
              <a:effectLst/>
            </c:spPr>
          </c:dPt>
          <c:dPt>
            <c:idx val="2"/>
            <c:invertIfNegative val="0"/>
            <c:bubble3D val="0"/>
            <c:spPr>
              <a:solidFill>
                <a:srgbClr val="D9681A"/>
              </a:solidFill>
              <a:effectLst/>
            </c:spPr>
          </c:dPt>
          <c:dPt>
            <c:idx val="3"/>
            <c:invertIfNegative val="0"/>
            <c:bubble3D val="0"/>
            <c:spPr>
              <a:solidFill>
                <a:srgbClr val="AEB7C0"/>
              </a:solidFill>
              <a:effectLst/>
            </c:spPr>
          </c:dPt>
          <c:dPt>
            <c:idx val="4"/>
            <c:invertIfNegative val="0"/>
            <c:bubble3D val="0"/>
            <c:spPr>
              <a:solidFill>
                <a:srgbClr val="AEB7C0"/>
              </a:solidFill>
              <a:effectLst/>
            </c:spPr>
          </c:dPt>
          <c:dPt>
            <c:idx val="5"/>
            <c:invertIfNegative val="0"/>
            <c:bubble3D val="0"/>
            <c:spPr>
              <a:solidFill>
                <a:srgbClr val="AEB7C0"/>
              </a:solidFill>
              <a:effectLst/>
            </c:spPr>
          </c:dPt>
          <c:dPt>
            <c:idx val="6"/>
            <c:invertIfNegative val="0"/>
            <c:bubble3D val="0"/>
            <c:spPr>
              <a:solidFill>
                <a:srgbClr val="AEB7C0"/>
              </a:solidFill>
              <a:effectLst/>
            </c:spPr>
          </c:dPt>
          <c:dPt>
            <c:idx val="7"/>
            <c:invertIfNegative val="0"/>
            <c:bubble3D val="0"/>
            <c:spPr>
              <a:solidFill>
                <a:srgbClr val="AEB7C0"/>
              </a:solidFill>
              <a:effectLst/>
            </c:spPr>
          </c:dPt>
          <c:dPt>
            <c:idx val="8"/>
            <c:invertIfNegative val="0"/>
            <c:bubble3D val="0"/>
            <c:spPr>
              <a:solidFill>
                <a:srgbClr val="AEB7C0"/>
              </a:solidFill>
              <a:effectLst/>
            </c:spPr>
          </c:dPt>
          <c:dPt>
            <c:idx val="9"/>
            <c:invertIfNegative val="0"/>
            <c:bubble3D val="0"/>
            <c:spPr>
              <a:solidFill>
                <a:srgbClr val="AEB7C0"/>
              </a:solidFill>
              <a:effectLst/>
            </c:spPr>
          </c:dPt>
          <c:cat>
            <c:multiLvlStrRef>
              <c:f>Sheet1!$A$2:$A$11</c:f>
              <c:multiLvlStrCache>
                <c:ptCount val="10"/>
                <c:lvl>
                  <c:pt idx="0">
                    <c:v>FeRRy F</c:v>
                  </c:pt>
                  <c:pt idx="1">
                    <c:v>FeRRy FX</c:v>
                  </c:pt>
                  <c:pt idx="2">
                    <c:v>FeRRy FQ*</c:v>
                  </c:pt>
                  <c:pt idx="3">
                    <c:v>FedEx route</c:v>
                  </c:pt>
                  <c:pt idx="4">
                    <c:v>Oort</c:v>
                  </c:pt>
                  <c:pt idx="5">
                    <c:v>FedCS</c:v>
                  </c:pt>
                  <c:pt idx="6">
                    <c:v>Whittle (Cui)</c:v>
                  </c:pt>
                  <c:pt idx="7">
                    <c:v>DQN (Chen)</c:v>
                  </c:pt>
                  <c:pt idx="8">
                    <c:v>MAX-AoI</c:v>
                  </c:pt>
                  <c:pt idx="9">
                    <c:v>H1</c:v>
                  </c:pt>
                </c:lvl>
              </c:multiLvlStrCache>
            </c:multiLvlStrRef>
          </c:cat>
          <c:val>
            <c:numRef>
              <c:f>Sheet1!$B$2:$B$11</c:f>
              <c:numCache>
                <c:formatCode>General</c:formatCode>
                <c:ptCount val="10"/>
                <c:pt idx="0">
                  <c:v>194</c:v>
                </c:pt>
                <c:pt idx="1">
                  <c:v>178</c:v>
                </c:pt>
                <c:pt idx="2">
                  <c:v>180</c:v>
                </c:pt>
                <c:pt idx="3">
                  <c:v>264</c:v>
                </c:pt>
                <c:pt idx="4">
                  <c:v>266</c:v>
                </c:pt>
                <c:pt idx="5">
                  <c:v>275</c:v>
                </c:pt>
                <c:pt idx="6">
                  <c:v>280</c:v>
                </c:pt>
                <c:pt idx="7">
                  <c:v>280</c:v>
                </c:pt>
                <c:pt idx="8">
                  <c:v>282</c:v>
                </c:pt>
                <c:pt idx="9">
                  <c:v>282</c:v>
                </c:pt>
              </c:numCache>
            </c:numRef>
          </c:val>
        </c:ser>
        <c:dLbls>
          <c:numFmt formatCode="0&quot; s&quot;"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4A5866"/>
                </a:solidFill>
                <a:latin typeface="+mn-lt"/>
              </a:defRPr>
            </a:pPr>
            <a:endParaRPr lang="en-US"/>
          </a:p>
        </c:txPr>
        <c:crossAx val="2094734552"/>
        <c:crosses val="autoZero"/>
        <c:auto val="1"/>
        <c:lblAlgn val="ctr"/>
        <c:noMultiLvlLbl val="1"/>
      </c:catAx>
      <c:valAx>
        <c:axId val="2094734552"/>
        <c:scaling>
          <c:orientation val="minMax"/>
          <c:max val="33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A58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4A5866"/>
                </a:solidFill>
                <a:latin typeface="+mn-lt"/>
              </a:defRPr>
            </a:pPr>
            <a:r>
              <a:rPr sz="1400" b="0" i="0" u="none" strike="noStrike">
                <a:solidFill>
                  <a:srgbClr val="4A5866"/>
                </a:solidFill>
                <a:latin typeface="+mn-lt"/>
              </a:rPr>
              <a:t>Mean mission time (s), 6 devices, knee budget</a:t>
            </a:r>
          </a:p>
        </c:rich>
      </c:tx>
      <c:layout/>
      <c:overlay val="0"/>
    </c:title>
    <c:autoTitleDeleted val="0"/>
    <c:plotArea>
      <c:layout/>
      <c:barChart>
        <c:barDir val="bar"/>
        <c:grouping val="stacked"/>
        <c:varyColors val="0"/>
        <c:ser>
          <c:idx val="0"/>
          <c:order val="0"/>
          <c:tx>
            <c:strRef>
              <c:f>Sheet1!$B$1</c:f>
              <c:strCache>
                <c:ptCount val="1"/>
                <c:pt idx="0">
                  <c:v>Transit between stops</c:v>
                </c:pt>
              </c:strCache>
            </c:strRef>
          </c:tx>
          <c:spPr>
            <a:solidFill>
              <a:srgbClr val="C2453D"/>
            </a:solidFill>
            <a:effectLst/>
          </c:spPr>
          <c:invertIfNegative val="0"/>
          <c:dLbls>
            <c:numFmt formatCode="[&gt;=12]0;&quot;&quot;"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F (band chosen)</c:v>
                  </c:pt>
                  <c:pt idx="1">
                    <c:v>F pinned to narrow</c:v>
                  </c:pt>
                  <c:pt idx="2">
                    <c:v>F pinned to wide</c:v>
                  </c:pt>
                  <c:pt idx="3">
                    <c:v>FedEx route</c:v>
                  </c:pt>
                  <c:pt idx="4">
                    <c:v>H1</c:v>
                  </c:pt>
                </c:lvl>
              </c:multiLvlStrCache>
            </c:multiLvlStrRef>
          </c:cat>
          <c:val>
            <c:numRef>
              <c:f>Sheet1!$B$2:$B$6</c:f>
              <c:numCache>
                <c:formatCode>General</c:formatCode>
                <c:ptCount val="5"/>
                <c:pt idx="0">
                  <c:v>15.47</c:v>
                </c:pt>
                <c:pt idx="1">
                  <c:v>14.05</c:v>
                </c:pt>
                <c:pt idx="2">
                  <c:v>138.11</c:v>
                </c:pt>
                <c:pt idx="3">
                  <c:v>137.79</c:v>
                </c:pt>
                <c:pt idx="4">
                  <c:v>140</c:v>
                </c:pt>
              </c:numCache>
            </c:numRef>
          </c:val>
        </c:ser>
        <c:ser>
          <c:idx val="1"/>
          <c:order val="1"/>
          <c:tx>
            <c:strRef>
              <c:f>Sheet1!$C$1</c:f>
              <c:strCache>
                <c:ptCount val="1"/>
                <c:pt idx="0">
                  <c:v>Dwell (transfers)</c:v>
                </c:pt>
              </c:strCache>
            </c:strRef>
          </c:tx>
          <c:spPr>
            <a:solidFill>
              <a:srgbClr val="1F7A8C"/>
            </a:solidFill>
            <a:effectLst/>
          </c:spPr>
          <c:invertIfNegative val="0"/>
          <c:dLbls>
            <c:numFmt formatCode="[&gt;=12]0;&quot;&quot;"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F (band chosen)</c:v>
                  </c:pt>
                  <c:pt idx="1">
                    <c:v>F pinned to narrow</c:v>
                  </c:pt>
                  <c:pt idx="2">
                    <c:v>F pinned to wide</c:v>
                  </c:pt>
                  <c:pt idx="3">
                    <c:v>FedEx route</c:v>
                  </c:pt>
                  <c:pt idx="4">
                    <c:v>H1</c:v>
                  </c:pt>
                </c:lvl>
              </c:multiLvlStrCache>
            </c:multiLvlStrRef>
          </c:cat>
          <c:val>
            <c:numRef>
              <c:f>Sheet1!$C$2:$C$6</c:f>
              <c:numCache>
                <c:formatCode>General</c:formatCode>
                <c:ptCount val="5"/>
                <c:pt idx="0">
                  <c:v>107.21</c:v>
                </c:pt>
                <c:pt idx="1">
                  <c:v>109.72</c:v>
                </c:pt>
                <c:pt idx="2">
                  <c:v>10.64</c:v>
                </c:pt>
                <c:pt idx="3">
                  <c:v>10.73</c:v>
                </c:pt>
                <c:pt idx="4">
                  <c:v>10.98</c:v>
                </c:pt>
              </c:numCache>
            </c:numRef>
          </c:val>
        </c:ser>
        <c:ser>
          <c:idx val="2"/>
          <c:order val="2"/>
          <c:tx>
            <c:strRef>
              <c:f>Sheet1!$D$1</c:f>
              <c:strCache>
                <c:ptCount val="1"/>
                <c:pt idx="0">
                  <c:v>Return, upload, dock</c:v>
                </c:pt>
              </c:strCache>
            </c:strRef>
          </c:tx>
          <c:spPr>
            <a:solidFill>
              <a:srgbClr val="6B7785"/>
            </a:solidFill>
            <a:effectLst/>
          </c:spPr>
          <c:invertIfNegative val="0"/>
          <c:dLbls>
            <c:numFmt formatCode="[&gt;=12]0;&quot;&quot;"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F (band chosen)</c:v>
                  </c:pt>
                  <c:pt idx="1">
                    <c:v>F pinned to narrow</c:v>
                  </c:pt>
                  <c:pt idx="2">
                    <c:v>F pinned to wide</c:v>
                  </c:pt>
                  <c:pt idx="3">
                    <c:v>FedEx route</c:v>
                  </c:pt>
                  <c:pt idx="4">
                    <c:v>H1</c:v>
                  </c:pt>
                </c:lvl>
              </c:multiLvlStrCache>
            </c:multiLvlStrRef>
          </c:cat>
          <c:val>
            <c:numRef>
              <c:f>Sheet1!$D$2:$D$6</c:f>
              <c:numCache>
                <c:formatCode>General</c:formatCode>
                <c:ptCount val="5"/>
                <c:pt idx="0">
                  <c:v>45.52</c:v>
                </c:pt>
                <c:pt idx="1">
                  <c:v>45.02</c:v>
                </c:pt>
                <c:pt idx="2">
                  <c:v>66</c:v>
                </c:pt>
                <c:pt idx="3">
                  <c:v>66.05</c:v>
                </c:pt>
                <c:pt idx="4">
                  <c:v>72.49</c:v>
                </c:pt>
              </c:numCache>
            </c:numRef>
          </c:val>
        </c:ser>
        <c:dLbls>
          <c:numFmt formatCode="[&gt;=12]0;&quot;&quot;"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4A5866"/>
                </a:solidFill>
                <a:latin typeface="+mn-lt"/>
              </a:defRPr>
            </a:pPr>
            <a:endParaRPr lang="en-US"/>
          </a:p>
        </c:txPr>
        <c:crossAx val="2094734552"/>
        <c:crosses val="autoZero"/>
        <c:auto val="1"/>
        <c:lblAlgn val="ctr"/>
        <c:noMultiLvlLbl val="1"/>
      </c:catAx>
      <c:valAx>
        <c:axId val="2094734552"/>
        <c:scaling>
          <c:orientation val="minMax"/>
          <c:max val="240"/>
          <c:min val="0"/>
        </c:scaling>
        <c:delete val="0"/>
        <c:axPos val="b"/>
        <c:majorGridlines>
          <c:spPr>
            <a:ln w="9525" cap="flat">
              <a:solidFill>
                <a:srgbClr val="E1E6EA"/>
              </a:solidFill>
              <a:prstDash val="solid"/>
              <a:round/>
            </a:ln>
          </c:spPr>
        </c:majorGridlines>
        <c:numFmt formatCode="0&quot; s&quot;" sourceLinked="0"/>
        <c:majorTickMark val="out"/>
        <c:minorTickMark val="none"/>
        <c:tickLblPos val="low"/>
        <c:spPr>
          <a:ln w="12700" cap="flat">
            <a:solidFill>
              <a:srgbClr val="888888"/>
            </a:solidFill>
            <a:prstDash val="solid"/>
            <a:round/>
          </a:ln>
        </c:spPr>
        <c:txPr>
          <a:bodyPr/>
          <a:lstStyle/>
          <a:p>
            <a:pPr>
              <a:defRPr sz="1200" b="0" i="0" u="none" strike="noStrike">
                <a:solidFill>
                  <a:srgbClr val="4A5866"/>
                </a:solidFill>
                <a:latin typeface="+mn-lt"/>
              </a:defRPr>
            </a:pPr>
            <a:endParaRPr lang="en-US"/>
          </a:p>
        </c:txPr>
        <c:crossAx val="2094734554"/>
        <c:crosses val="autoZero"/>
        <c:crossBetween val="between"/>
        <c:majorUnit val="60"/>
      </c:valAx>
      <c:spPr>
        <a:noFill/>
        <a:ln>
          <a:noFill/>
        </a:ln>
        <a:effectLst/>
      </c:spPr>
    </c:plotArea>
    <c:legend>
      <c:legendPos val="t"/>
      <c:overlay val="0"/>
      <c:txPr>
        <a:bodyPr/>
        <a:lstStyle/>
        <a:p>
          <a:pPr>
            <a:defRPr sz="1300">
              <a:solidFill>
                <a:srgbClr val="4A586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narrow (1.4 MHz)</c:v>
                </c:pt>
              </c:strCache>
            </c:strRef>
          </c:tx>
          <c:spPr>
            <a:solidFill>
              <a:srgbClr val="3B98A6"/>
            </a:solidFill>
            <a:effectLst/>
          </c:spPr>
          <c:invertIfNegative val="0"/>
          <c:dLbls>
            <c:numFmt formatCode="[&gt;=8]0&quot;%&quot;;&quot;&quot;"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6 devices · knee</c:v>
                  </c:pt>
                  <c:pt idx="1">
                    <c:v>6 devices · stress</c:v>
                  </c:pt>
                  <c:pt idx="2">
                    <c:v>12 devices · knee</c:v>
                  </c:pt>
                  <c:pt idx="3">
                    <c:v>12 devices · stress</c:v>
                  </c:pt>
                  <c:pt idx="4">
                    <c:v>24 devices · knee</c:v>
                  </c:pt>
                  <c:pt idx="5">
                    <c:v>24 devices · stress</c:v>
                  </c:pt>
                </c:lvl>
              </c:multiLvlStrCache>
            </c:multiLvlStrRef>
          </c:cat>
          <c:val>
            <c:numRef>
              <c:f>Sheet1!$B$2:$B$7</c:f>
              <c:numCache>
                <c:formatCode>General</c:formatCode>
                <c:ptCount val="6"/>
                <c:pt idx="0">
                  <c:v>89.2</c:v>
                </c:pt>
                <c:pt idx="1">
                  <c:v>67.2</c:v>
                </c:pt>
                <c:pt idx="2">
                  <c:v>48.6</c:v>
                </c:pt>
                <c:pt idx="3">
                  <c:v>12.7</c:v>
                </c:pt>
                <c:pt idx="4">
                  <c:v>0.4</c:v>
                </c:pt>
                <c:pt idx="5">
                  <c:v>2.2</c:v>
                </c:pt>
              </c:numCache>
            </c:numRef>
          </c:val>
        </c:ser>
        <c:ser>
          <c:idx val="1"/>
          <c:order val="1"/>
          <c:tx>
            <c:strRef>
              <c:f>Sheet1!$C$1</c:f>
              <c:strCache>
                <c:ptCount val="1"/>
                <c:pt idx="0">
                  <c:v>medium (5 MHz)</c:v>
                </c:pt>
              </c:strCache>
            </c:strRef>
          </c:tx>
          <c:spPr>
            <a:solidFill>
              <a:srgbClr val="1D6474"/>
            </a:solidFill>
            <a:effectLst/>
          </c:spPr>
          <c:invertIfNegative val="0"/>
          <c:dLbls>
            <c:numFmt formatCode="[&gt;=8]0&quot;%&quot;;&quot;&quot;"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6 devices · knee</c:v>
                  </c:pt>
                  <c:pt idx="1">
                    <c:v>6 devices · stress</c:v>
                  </c:pt>
                  <c:pt idx="2">
                    <c:v>12 devices · knee</c:v>
                  </c:pt>
                  <c:pt idx="3">
                    <c:v>12 devices · stress</c:v>
                  </c:pt>
                  <c:pt idx="4">
                    <c:v>24 devices · knee</c:v>
                  </c:pt>
                  <c:pt idx="5">
                    <c:v>24 devices · stress</c:v>
                  </c:pt>
                </c:lvl>
              </c:multiLvlStrCache>
            </c:multiLvlStrRef>
          </c:cat>
          <c:val>
            <c:numRef>
              <c:f>Sheet1!$C$2:$C$7</c:f>
              <c:numCache>
                <c:formatCode>General</c:formatCode>
                <c:ptCount val="6"/>
                <c:pt idx="0">
                  <c:v>10.8</c:v>
                </c:pt>
                <c:pt idx="1">
                  <c:v>30.7</c:v>
                </c:pt>
                <c:pt idx="2">
                  <c:v>51.4</c:v>
                </c:pt>
                <c:pt idx="3">
                  <c:v>68.7</c:v>
                </c:pt>
                <c:pt idx="4">
                  <c:v>60.8</c:v>
                </c:pt>
                <c:pt idx="5">
                  <c:v>30.1</c:v>
                </c:pt>
              </c:numCache>
            </c:numRef>
          </c:val>
        </c:ser>
        <c:ser>
          <c:idx val="2"/>
          <c:order val="2"/>
          <c:tx>
            <c:strRef>
              <c:f>Sheet1!$D$1</c:f>
              <c:strCache>
                <c:ptCount val="1"/>
                <c:pt idx="0">
                  <c:v>wide (20 MHz)</c:v>
                </c:pt>
              </c:strCache>
            </c:strRef>
          </c:tx>
          <c:spPr>
            <a:solidFill>
              <a:srgbClr val="0D2F3D"/>
            </a:solidFill>
            <a:effectLst/>
          </c:spPr>
          <c:invertIfNegative val="0"/>
          <c:dLbls>
            <c:numFmt formatCode="[&gt;=8]0&quot;%&quot;;&quot;&quot;"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Sheet1!$A$2:$A$7</c:f>
              <c:multiLvlStrCache>
                <c:ptCount val="6"/>
                <c:lvl>
                  <c:pt idx="0">
                    <c:v>6 devices · knee</c:v>
                  </c:pt>
                  <c:pt idx="1">
                    <c:v>6 devices · stress</c:v>
                  </c:pt>
                  <c:pt idx="2">
                    <c:v>12 devices · knee</c:v>
                  </c:pt>
                  <c:pt idx="3">
                    <c:v>12 devices · stress</c:v>
                  </c:pt>
                  <c:pt idx="4">
                    <c:v>24 devices · knee</c:v>
                  </c:pt>
                  <c:pt idx="5">
                    <c:v>24 devices · stress</c:v>
                  </c:pt>
                </c:lvl>
              </c:multiLvlStrCache>
            </c:multiLvlStrRef>
          </c:cat>
          <c:val>
            <c:numRef>
              <c:f>Sheet1!$D$2:$D$7</c:f>
              <c:numCache>
                <c:formatCode>General</c:formatCode>
                <c:ptCount val="6"/>
                <c:pt idx="0">
                  <c:v>0</c:v>
                </c:pt>
                <c:pt idx="1">
                  <c:v>2</c:v>
                </c:pt>
                <c:pt idx="2">
                  <c:v>0</c:v>
                </c:pt>
                <c:pt idx="3">
                  <c:v>18.6</c:v>
                </c:pt>
                <c:pt idx="4">
                  <c:v>38.8</c:v>
                </c:pt>
                <c:pt idx="5">
                  <c:v>67.6</c:v>
                </c:pt>
              </c:numCache>
            </c:numRef>
          </c:val>
        </c:ser>
        <c:dLbls>
          <c:numFmt formatCode="[&gt;=8]0&quot;%&quot;;&quot;&quot;"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4A5866"/>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A5866"/>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4A586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4A5866"/>
                </a:solidFill>
                <a:latin typeface="+mn-lt"/>
              </a:defRPr>
            </a:pPr>
            <a:r>
              <a:rPr sz="1400" b="0" i="0" u="none" strike="noStrike">
                <a:solidFill>
                  <a:srgbClr val="4A5866"/>
                </a:solidFill>
                <a:latin typeface="+mn-lt"/>
              </a:rPr>
              <a:t>Planner time per mission (95th percentile at 96 devices: 2.0 s)</a:t>
            </a:r>
          </a:p>
        </c:rich>
      </c:tx>
      <c:layout/>
      <c:overlay val="0"/>
    </c:title>
    <c:autoTitleDeleted val="0"/>
    <c:plotArea>
      <c:layout/>
      <c:barChart>
        <c:barDir val="col"/>
        <c:grouping val="clustered"/>
        <c:varyColors val="0"/>
        <c:ser>
          <c:idx val="0"/>
          <c:order val="0"/>
          <c:tx>
            <c:strRef>
              <c:f>Sheet1!$B$1</c:f>
              <c:strCache>
                <c:ptCount val="1"/>
                <c:pt idx="0">
                  <c:v>Plan time</c:v>
                </c:pt>
              </c:strCache>
            </c:strRef>
          </c:tx>
          <c:spPr>
            <a:solidFill>
              <a:srgbClr val="1F7A8C"/>
            </a:solidFill>
            <a:effectLst/>
          </c:spPr>
          <c:invertIfNegative val="0"/>
          <c:dLbls>
            <c:numFmt formatCode="0.00&quot; s&quot;"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cat>
            <c:multiLvlStrRef>
              <c:f>Sheet1!$A$2:$A$6</c:f>
              <c:multiLvlStrCache>
                <c:ptCount val="5"/>
                <c:lvl>
                  <c:pt idx="0">
                    <c:v>6</c:v>
                  </c:pt>
                  <c:pt idx="1">
                    <c:v>12</c:v>
                  </c:pt>
                  <c:pt idx="2">
                    <c:v>24</c:v>
                  </c:pt>
                  <c:pt idx="3">
                    <c:v>48</c:v>
                  </c:pt>
                  <c:pt idx="4">
                    <c:v>96</c:v>
                  </c:pt>
                </c:lvl>
              </c:multiLvlStrCache>
            </c:multiLvlStrRef>
          </c:cat>
          <c:val>
            <c:numRef>
              <c:f>Sheet1!$B$2:$B$6</c:f>
              <c:numCache>
                <c:formatCode>General</c:formatCode>
                <c:ptCount val="5"/>
                <c:pt idx="0">
                  <c:v>0.04</c:v>
                </c:pt>
                <c:pt idx="1">
                  <c:v>0.02</c:v>
                </c:pt>
                <c:pt idx="2">
                  <c:v>0.14</c:v>
                </c:pt>
                <c:pt idx="3">
                  <c:v>0.41</c:v>
                </c:pt>
                <c:pt idx="4">
                  <c:v>1.53</c:v>
                </c:pt>
              </c:numCache>
            </c:numRef>
          </c:val>
        </c:ser>
        <c:dLbls>
          <c:numFmt formatCode="0.00&quot; s&quot;"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title>
          <c:tx>
            <c:rich>
              <a:bodyPr/>
              <a:lstStyle/>
              <a:p>
                <a:pPr>
                  <a:defRPr sz="1300" b="0" i="0" u="none" strike="noStrike">
                    <a:solidFill>
                      <a:srgbClr val="4A5866"/>
                    </a:solidFill>
                    <a:latin typeface="+mn-lt"/>
                  </a:defRPr>
                </a:pPr>
                <a:r>
                  <a:rPr sz="1300" b="0" i="0" u="none" strike="noStrike">
                    <a:solidFill>
                      <a:srgbClr val="4A5866"/>
                    </a:solidFill>
                    <a:latin typeface="+mn-lt"/>
                  </a:rPr>
                  <a:t>devices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4A5866"/>
                </a:solidFill>
                <a:latin typeface="+mn-lt"/>
              </a:defRPr>
            </a:pPr>
            <a:endParaRPr lang="en-US"/>
          </a:p>
        </c:txPr>
        <c:crossAx val="2094734552"/>
        <c:crosses val="autoZero"/>
        <c:auto val="1"/>
        <c:lblAlgn val="ctr"/>
        <c:noMultiLvlLbl val="1"/>
      </c:catAx>
      <c:valAx>
        <c:axId val="2094734552"/>
        <c:scaling>
          <c:orientation val="minMax"/>
          <c:max val="2"/>
          <c:min val="0"/>
        </c:scaling>
        <c:delete val="0"/>
        <c:axPos val="l"/>
        <c:majorGridlines>
          <c:spPr>
            <a:ln w="9525" cap="flat">
              <a:solidFill>
                <a:srgbClr val="E1E6EA"/>
              </a:solidFill>
              <a:prstDash val="solid"/>
              <a:round/>
            </a:ln>
          </c:spPr>
        </c:majorGridlines>
        <c:numFmt formatCode="0.0&quot; s&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866"/>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Age of updates</c:v>
                </c:pt>
              </c:strCache>
            </c:strRef>
          </c:tx>
          <c:spPr>
            <a:solidFill>
              <a:srgbClr val="D9681A"/>
            </a:solidFill>
            <a:effectLst/>
          </c:spPr>
          <c:invertIfNegative val="0"/>
          <c:dLbls>
            <c:numFmt formatCode="0.00"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D9681A"/>
              </a:solidFill>
              <a:effectLst/>
            </c:spPr>
          </c:dPt>
          <c:dPt>
            <c:idx val="1"/>
            <c:invertIfNegative val="0"/>
            <c:bubble3D val="0"/>
            <c:spPr>
              <a:solidFill>
                <a:srgbClr val="AEB7C0"/>
              </a:solidFill>
              <a:effectLst/>
            </c:spPr>
          </c:dPt>
          <c:dPt>
            <c:idx val="2"/>
            <c:invertIfNegative val="0"/>
            <c:bubble3D val="0"/>
            <c:spPr>
              <a:solidFill>
                <a:srgbClr val="AEB7C0"/>
              </a:solidFill>
              <a:effectLst/>
            </c:spPr>
          </c:dPt>
          <c:dPt>
            <c:idx val="3"/>
            <c:invertIfNegative val="0"/>
            <c:bubble3D val="0"/>
            <c:spPr>
              <a:solidFill>
                <a:srgbClr val="AEB7C0"/>
              </a:solidFill>
              <a:effectLst/>
            </c:spPr>
          </c:dPt>
          <c:cat>
            <c:multiLvlStrRef>
              <c:f>Sheet1!$A$2:$A$5</c:f>
              <c:multiLvlStrCache>
                <c:ptCount val="4"/>
                <c:lvl>
                  <c:pt idx="0">
                    <c:v>FeRRy</c:v>
                  </c:pt>
                  <c:pt idx="1">
                    <c:v>MAX-AoI scheduler</c:v>
                  </c:pt>
                  <c:pt idx="2">
                    <c:v>Whittle index</c:v>
                  </c:pt>
                  <c:pt idx="3">
                    <c:v>FeRRy without coverage term</c:v>
                  </c:pt>
                </c:lvl>
              </c:multiLvlStrCache>
            </c:multiLvlStrRef>
          </c:cat>
          <c:val>
            <c:numRef>
              <c:f>Sheet1!$B$2:$B$5</c:f>
              <c:numCache>
                <c:formatCode>General</c:formatCode>
                <c:ptCount val="4"/>
                <c:pt idx="0">
                  <c:v>0.78</c:v>
                </c:pt>
                <c:pt idx="1">
                  <c:v>1.06</c:v>
                </c:pt>
                <c:pt idx="2">
                  <c:v>1.07</c:v>
                </c:pt>
                <c:pt idx="3">
                  <c:v>1.1</c:v>
                </c:pt>
              </c:numCache>
            </c:numRef>
          </c:val>
        </c:ser>
        <c:dLbls>
          <c:numFmt formatCode="0.00"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4A5866"/>
                </a:solidFill>
                <a:latin typeface="+mn-lt"/>
              </a:defRPr>
            </a:pPr>
            <a:endParaRPr lang="en-US"/>
          </a:p>
        </c:txPr>
        <c:crossAx val="2094734552"/>
        <c:crosses val="autoZero"/>
        <c:auto val="1"/>
        <c:lblAlgn val="ctr"/>
        <c:noMultiLvlLbl val="1"/>
      </c:catAx>
      <c:valAx>
        <c:axId val="2094734552"/>
        <c:scaling>
          <c:orientation val="minMax"/>
          <c:max val="1.3"/>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A58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Time to target</c:v>
                </c:pt>
              </c:strCache>
            </c:strRef>
          </c:tx>
          <c:spPr>
            <a:solidFill>
              <a:srgbClr val="D9681A"/>
            </a:solidFill>
            <a:effectLst/>
          </c:spPr>
          <c:invertIfNegative val="0"/>
          <c:dLbls>
            <c:numFmt formatCode="0&quot; s&quot;"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D9681A"/>
              </a:solidFill>
              <a:effectLst/>
            </c:spPr>
          </c:dPt>
          <c:dPt>
            <c:idx val="1"/>
            <c:invertIfNegative val="0"/>
            <c:bubble3D val="0"/>
            <c:spPr>
              <a:solidFill>
                <a:srgbClr val="D9681A"/>
              </a:solidFill>
              <a:effectLst/>
            </c:spPr>
          </c:dPt>
          <c:dPt>
            <c:idx val="2"/>
            <c:invertIfNegative val="0"/>
            <c:bubble3D val="0"/>
            <c:spPr>
              <a:solidFill>
                <a:srgbClr val="D9681A"/>
              </a:solidFill>
              <a:effectLst/>
            </c:spPr>
          </c:dPt>
          <c:dPt>
            <c:idx val="3"/>
            <c:invertIfNegative val="0"/>
            <c:bubble3D val="0"/>
            <c:spPr>
              <a:solidFill>
                <a:srgbClr val="AEB7C0"/>
              </a:solidFill>
              <a:effectLst/>
            </c:spPr>
          </c:dPt>
          <c:cat>
            <c:multiLvlStrRef>
              <c:f>Sheet1!$A$2:$A$5</c:f>
              <c:multiLvlStrCache>
                <c:ptCount val="4"/>
                <c:lvl>
                  <c:pt idx="0">
                    <c:v>F (plan only)</c:v>
                  </c:pt>
                  <c:pt idx="1">
                    <c:v>FX (fixed rule)</c:v>
                  </c:pt>
                  <c:pt idx="2">
                    <c:v>FQ (learned, in plan)</c:v>
                  </c:pt>
                  <c:pt idx="3">
                    <c:v>E3 (learned, no plan)</c:v>
                  </c:pt>
                </c:lvl>
              </c:multiLvlStrCache>
            </c:multiLvlStrRef>
          </c:cat>
          <c:val>
            <c:numRef>
              <c:f>Sheet1!$B$2:$B$5</c:f>
              <c:numCache>
                <c:formatCode>General</c:formatCode>
                <c:ptCount val="4"/>
                <c:pt idx="0">
                  <c:v>194</c:v>
                </c:pt>
                <c:pt idx="1">
                  <c:v>178</c:v>
                </c:pt>
                <c:pt idx="2">
                  <c:v>180</c:v>
                </c:pt>
                <c:pt idx="3">
                  <c:v>280</c:v>
                </c:pt>
              </c:numCache>
            </c:numRef>
          </c:val>
        </c:ser>
        <c:dLbls>
          <c:numFmt formatCode="0&quot; s&quot;"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4A5866"/>
                </a:solidFill>
                <a:latin typeface="+mn-lt"/>
              </a:defRPr>
            </a:pPr>
            <a:endParaRPr lang="en-US"/>
          </a:p>
        </c:txPr>
        <c:crossAx val="2094734552"/>
        <c:crosses val="autoZero"/>
        <c:auto val="1"/>
        <c:lblAlgn val="ctr"/>
        <c:noMultiLvlLbl val="1"/>
      </c:catAx>
      <c:valAx>
        <c:axId val="2094734552"/>
        <c:scaling>
          <c:orientation val="minMax"/>
          <c:max val="33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A58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FeRRy stands for Federated RF-aware Routing. It plans drone (UAV) missions that carry federated-learning updates to and from devices that cannot reach the server.
Plan for the talk: the problem and the idea, related work, the two methods that matter (the two decision clocks and the joint RL model), how we tested it, and then the results, including the limits we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slide, it is this one.
Headline: with six devices and one drone at a moderate budget, FeRRy reaches the target accuracy 27 to 31 percent sooner than each of seven baseline schedulers. Under tight budgets it keeps model updates about a quarter fresher than age-of-information schedulers. Planning is cheap: 1.5 seconds for 96 devices.
The reason is simple: FeRRy's plan picks a narrow radio band that reaches far, so the drone barely has to fly between stops.
We also report where it falls short. First, under tight budgets 3 in 10 missions finish late, because the plan prices the average radio signal and real signal dips make transfers take longer. Second, the plan assumes every device's update is ready when the drone arrives; when devices need time to train, the drone comes back too soon and often finds nothing ready. Slide 19 explains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 lets devices train a shared model without sending their raw data, but every device still has to reach the server.
In disaster zones, wildfires or tactical settings, that fails: connectivity is denied, disrupted, intermittent or limited. Devices out of range are skipped repeatedly, their updates are lost, and rounds stall.
We measured this directly: with no drone, FL over the degraded link merged half an update per round and ended at 68.6 percent accuracy, barely above the 66.7 percent you get by calling every network flow benign.
So the gap is not faster FL communication; it is FL that keeps going when the network is fragmented.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Drones acting as data mules can fly model updates between isolated devices and the server. But a drone has limited flight time, and its radio decides how far it reaches.
The key observation: the radio band is itself a decision. Same carrier, same transmit power. A wide 20 MHz band transfers fast but only reaches about 60 m, so the drone needs many stops and spends most of its time flying. A narrow 1.4 MHz band reaches about 232 m: one stop can cover the whole field, at the cost of longer transfers while hovering.
Rings are drawn to scale over the 200 by 200 m test field. Which band wins depends on the number of devices, their positions and the time left, so FeRRy chooses band and route together before each flight.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contributions.
One: we treat the contact band, which sets how far a drone reaches and how fast it transfers, as a decision made jointly with the route under a mission budget.
Two: a two-clock design. The same feasibility test gates the plan made at the dock and the decisions made at each stop in flight. Learning is bounded: it only ranks options the test already admits.
Three: a multi-process prototype that trains a real model, and FerrySim, a simulator built from the same code, which trains the learned parts and scales to 96 devices.
Four: a pre-registered comparison against seven complete schedulers, with paired seeds and multiplicity correction. We report where FeRRy wins, why, which parts show no effect, and where it falls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lines of prior work, each solving part of the problem.
Hierarchical and relay FL aggregate at the edge and forward updates over unreliable links, but assume some network path eventually exists.
UAV-assisted FL brings in mobility. The closest precedent is FedEx, where mobile transporters physically carry models. But FedEx uses preplanned tours and fixed radio conditions, with no deadlines or in-flight adaptation.
RF-aware trajectory learning is well studied; we do not claim it as new. What differs is that in FeRRy the radio choice changes whether and how long an FL update takes to transport.
Client selection and freshness methods such as FedCS, Oort and age-of-information scheduling rank devices, but ignore the physical cost of flying to them.
Asynchronous aggregation such as FedBuff and Async-HFL handles stale updates, but assumes they arrive over the network rather than by flight.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condenses Table 1 of the paper. Each row is a representative approach; the columns are the six capabilities a drone-carried FL system needs.
Prior work covers some columns: FedEx has physical transport and route decisions; the multi-UAV learning work has RF awareness and in-mission re-planning; client selection has deadlines and freshness.
No prior approach couples them: RF-dependent reach and service time, together with per-device deadlines and in-mission route changes, all under a finite mission budget. That coupling is FeRRy's distinction, not any single column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mission has two passes. At the dock, the drone plans: it picks a radio band and a route. In Pass 1 it flies the route, gives each device the current model and picks up the device's prepared update. It merges those updates on board, weighting stale ones down, flies home and uploads. The server merges across drones into the next global model. In Pass 2 the drone delivers that new model to every device, so each later update has a known base version, and therefore an age.
A mission budget bounds Pass 1: the plan and every in-flight check require landing and upload within the budget.
Three layers feed each decision. The RF layer prices options: range, rate and dwell time. The scheduling layer decides. The FL layer supplies value: how old an update is, how much it counts, and how overdue a device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method: two decision clocks.
On the plan clock, once per mission at the dock, the drone chooses a band class and a route together. They have to be chosen together: the band fixes the contact range, the range fixes how devices group into stops, and the stops fix the route. For each band class it clusters devices into stops at that range, searches routes (exact search up to six devices or stops, local search beyond), and commits the plan that serves the most urgency weight, with time and energy breaking ties.
On the flight clock, at each stop in Pass 1, the drone measures the actual signal on each band and can change the band and the next stop. Then it serves the devices. If the remaining route no longer fits the budget, it re-plans by trimming.
Both clocks share one feasibility test, highlighted in orange. Hard gates always run before any ranking, so a learned rule can only choose among options the test admits.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predicate decides whether a stop may be served next, and it is the only admission rule. It computes when the drone would arrive, when it would finish serving the stop given the transfer rate on the chosen band, and when it would be home with the upload done. The stop is admitted only if the devices meet their deadlines, the drone is home within the budget, and the energy fits.
Four ingredients feed it. Deadlines adapt per device: they tighten after a clean contact and loosen after a miss. A coverage weight grows roughly with the square of how many missions a device has gone unserved, so neglected devices become urgent. An age cap forces service after two skipped missions. And merges weight each update by its examples and by one over its age plus one.
One caveat: the planner prices the mean signal, not its variation, so real missions can run longer than planned. That is where the budget overruns in the results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joint RL model lives on the flight clock. At each stop the drone has a slot where it may change two things together: the band to serve on, and which stop to fly to next. That pair is the joint action.
We built three ways to fill that slot. F leaves it empty and flies the plan. FX is a fixed rule: the fastest band that still reaches the planned devices, and the nearest remaining stop that keeps the plan feasible. FQ is learned: a masked double DQN scores every band-and-next-stop pair.
Its state includes the signal on each band here and at the next stop, dwell time, deadline slack, plan ages, mission time and energy left, and the interference phase. The mask is the key safety property: a pair is allowed only if the band still reaches what the plan's band reaches, the stop belongs to the plan, and the rest of the flight passes the feasibility test. If nothing is allowed, it falls back to FX. The reward is the merge weight collected minus a time cost, with a penalty at the end for promised devices that were missed. It is trained in FerrySim.
Spoiler for the results: FQ performs like FX, so the learning itself adds nothing measurable; the gain comes from the plan it flies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runs the server, each drone and each device as separate Python processes talking over TCP, and the devices train a real model: a binary intrusion detector on the CICIoT2023 dataset. Flight time, the radio channel and energy are simulated. FerrySim, built from the same code, trains the learned parts and runs the largest problems.
The primary metric is how much simulated time it takes to reach 71 percent test accuracy. That target was fixed in advance from pilot runs; it measures how soon the model becomes useful. Each setting has two budgets: the knee, where more budget stops helping, and a stress budget at half of it.
Every comparison is paired by seed, so all schedulers see the same layout, channel and data. A result counts as a claim only if the bootstrap confidence interval excludes zero and the Holm-corrected p-value is below 0.05.
We compare against seven complete schedulers: our earlier deadline heuristic H1, MAX age-of-information, Oort, the Whittle index from Cui et al., FedEx's route, FedCS, and a DQN scheduler after Chen et al. All of them fly the wide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result. With six devices, one drone and the knee budget, F reaches 71 percent accuracy in 194 seconds; the seven baselines need 264 to 282 seconds. That is 27 to 31 percent faster, every comparison is a statistically significant claim, and F gets there first in 80 to 90 percent of paired seeds.
FX and FQ, the per-stop variants, are not different from F. FQ was flown later in an exploratory comparison, marked with an asterisk.
Two context points. With three drones every scheduler gets there in about a minute, except FedEx with its own merge rule at 101 seconds. And with no drone at all, FL over the degraded link merges half an update per round and ends at 68.6 percent accuracy, compared with F's 3.5 updates per round and 83.1 percent.
Under the tighter stress budget, only the FedEx route is significantly slower; the other baselines trail by 28 to 60 seconds but stay within budget by leaving devices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FeRRy faster? Not because it needs fewer rounds: every scheduler reaches the target in about 1.7 to 1.8 rounds with nearly the same number of updates. FeRRy's rounds are shorter.
Every baseline flies the wide band, which only reaches devices from nearby, so about 140 seconds of each mission is transit between stops, the red segment. F's plan chooses the narrow band in 89 percent of missions. Its range covers the field from about one stop, so F spends 15 seconds in transit and most of its time transferring (the teal segment). Missions end up 22 to 26 percent shorter.
The pinning test confirms the cause: force F onto the wide band and it takes about 265 seconds, the same as FedEx's route. Force it onto narrow and it takes 196 seconds, the same as letting it choose.
A caveat for questions: these pinned times are descriptive. The band-pinning study's pre-registered metric was the age of updates, which did not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band choice is not a fixed preference for narrow. It adapts.
With six devices and the knee budget, F picks narrow 89 percent of the time. As the field fills (the field size stays the same, so it gets denser) and as the budget tightens, F shifts toward medium and then wide. With 24 devices under the stress budget it flies wide in about two thirds of missions.
That is the point of treating reach as a decision: no single band is right everywhere.
The choice is also close to the best possible. In FerrySim, an exhaustive oracle that tries every plan serves the same number of devices at the knee budget, and only 4 points more under stress.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and cost.
Planning stays cheap. Alone on one host, a plan takes 0.04 seconds at six devices and 1.5 seconds at 96, with the 95th percentile at 2 seconds. (The small dip at 12 devices is real: the search switches from exhaustive to a cheaper mode as the problem grows.)
At 24 devices, F is significantly faster than H1 and the Whittle index at the knee, ties FedEx's route, and beats it under the stress budget, 661 against 752 seconds. At 12 devices no comparison reached significance.
Adding drones helps a lot: at 12 devices F's time to target falls from 486 seconds with one drone to 226 with two and 151 with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Fairness and freshness. Under the stress budget, FeRRy's network age of updates is 0.78 missions, against 1.06 for a MAX age-of-information scheduler and 1.07 for the Whittle index. Removing FeRRy's coverage term pushes it to 1.10. All of these are significant.
The coverage term also matters for closing rounds: without it, the round-close rate at 12 devices falls from 99 to 74 percent. On a time-varying backhaul, the adaptive carrier controller lowers the age from 0.88 to 0.69, though it sees the signal that decides each loss, so it is close to an oracle.
We also report what showed no measurable effect: pinning the band (on age, its effect is on time), the dwell term, the age cap over four missions, alternative merge rules (they tie because collected updates are almost always current), and the deadline forms from FedCS and Oort, which miss slightly more deadlines, but not significantly.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about the joint RL model?
The pre-registered test was flat. In FerrySim no discount factor beat a purely myopic one by the required margin, and in the full system FQ was indistinguishable from the fixed rule FX, and from F. So FX is FeRRy's per-stop rule.
We then ran an exploratory comparison, not pre-registered: FQ against E3, a DQN scheduler after Chen et al. that picks every next stop with no plan, on the same 20 seeds. At the knee, FQ reaches the target in 180 seconds against E3's 280: 100 seconds faster, or 36 percent sooner, with a confidence interval of 63 to 141 seconds. Under stress it is faster too, but not significantly.
The reason is the plan, not the learning. FQ inherits the plan's band and spends 15 seconds of a 155-second mission in transit; E3 spends 144 of 228. This supports the two-clock structure: plan at the dock, then refine per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limits matter most, and both come from something FeRRy's plan does not price.
First, tight budgets. Under the stress budget (75 seconds for collection at six devices), 30 percent of F's missions finish late. The ones that run late go over by about 28 seconds on average. (Averaged over all missions, including the 70 percent that finish on time, that is 8.5 seconds.) For comparison, FedEx's route, which never skips a device, runs late in 85 percent of missions. The other baselines almost never run late, but they stay inside the budget by leaving devices out: they merge 2.0 to 2.7 updates per round, against F's 3.2.
Why it happens: the plan prices the average signal on each band. In flight, interference and shadowing make the real signal dip below that average, the transfer rate drops, and each transfer takes longer than planned. F is especially exposed, because its narrow-band missions are mostly transfer time (85 of 155 seconds), which is exactly the part the signal controls; flying time is fixed by distance. The drone re-checks the budget when it leaves each stop, but nothing re-checks after the last stop, so the last stop's extra time, the return and the upload can push the mission past the limit. FX, which switches to a faster band in flight when the signal allows, runs late less often (24 percent). The fix is to price the signal's variation, or to keep some slack in reserve.
Second, training time. In the main experiments a device's update is always ready when the drone arrives. In the training-time study each device needs time to train (median 68 seconds), and it starts over every time it receives a new model. FeRRy's plan does not know this. Because F reaches the whole field with about 11 seconds of flying, it comes back very soon after delivering a new model, often before devices have finished retraining: 79 percent of its visits find nothing ready, and it merges 0.7 updates per round instead of 3.5. The baselines spend about 130 seconds flying their wide-band tours, which gives devices time to finish, so only 21 to 38 percent of their visits find nothing ready. F reaches the target in only 70 to 75 percent of trials, against 85 to 100 percent for H1, FedEx's route and FedCS. A caution: in that study F's time to target looks faster, but only because it is averaged over the trials that reach it. The fix is to add each device's expected training time to the plan.
Also: flight, radio and energy are simulated, and several studies flew 20 of their 40 planned trials. With strongly non-IID data, every scheduler reaches the target in about half the trials, and F stays faster than H1 and the Whittle index where both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One: treat the drone's reach as a decision. Choosing the band together with the route is what made FeRRy 27 to 31 percent faster.
Two: the gain comes from the plan. Learning inside the plan matched a fixed rule, and it reached the target 36 percent sooner than a learned scheduler with no plan.
Three: FeRRy keeps updates fresher under tight budgets and plans cheaply, 1.5 seconds for 96 devices.
Next steps follow from the limits: price the channel's variation, add training time to the plan, validate over the air on a UAV testbed, and coordinate drones that share spectrum and a dock.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309360" cy="118872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731520" y="3063240"/>
            <a:ext cx="6035040" cy="1188720"/>
          </a:xfrm>
          <a:prstGeom prst="rect">
            <a:avLst/>
          </a:prstGeom>
          <a:noFill/>
          <a:ln/>
        </p:spPr>
        <p:txBody>
          <a:bodyPr wrap="square" rtlCol="0"/>
          <a:lstStyle>
            <a:lvl1pPr indent="0" marL="0">
              <a:buNone/>
              <a:defRPr lang="en-US" sz="2400" dirty="0">
                <a:solidFill>
                  <a:schemeClr val="bg2"/>
                </a:solidFill>
              </a:defRPr>
            </a:lvl1pPr>
          </a:lstStyle>
          <a:p>
            <a:pPr indent="0" marL="0">
              <a:buNone/>
            </a:pPr>
            <a:endParaRPr lang="en-US" sz="2400" dirty="0"/>
          </a:p>
        </p:txBody>
      </p:sp>
      <p:sp>
        <p:nvSpPr>
          <p:cNvPr id="4" name="Text 0"/>
          <p:cNvSpPr/>
          <p:nvPr>
            <p:ph idx="102" type="body" hasCustomPrompt="1"/>
          </p:nvPr>
        </p:nvSpPr>
        <p:spPr>
          <a:xfrm>
            <a:off x="731520" y="5257800"/>
            <a:ext cx="6400800" cy="36576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4572000" cy="256032"/>
          </a:xfrm>
          <a:prstGeom prst="rect">
            <a:avLst/>
          </a:prstGeom>
          <a:noFill/>
          <a:ln/>
        </p:spPr>
        <p:txBody>
          <a:bodyPr wrap="square" lIns="0" tIns="0" rIns="0" bIns="0" rtlCol="0" anchor="ctr"/>
          <a:lstStyle/>
          <a:p>
            <a:pPr indent="0" marL="0">
              <a:buNone/>
            </a:pPr>
            <a:r>
              <a:rPr lang="en-US" sz="1000" dirty="0">
                <a:solidFill>
                  <a:schemeClr val="accent3"/>
                </a:solidFill>
              </a:rPr>
              <a:t>FeRRy  ·  Results overview</a:t>
            </a:r>
            <a:endParaRPr lang="en-US" sz="1000" dirty="0"/>
          </a:p>
        </p:txBody>
      </p:sp>
      <p:sp>
        <p:nvSpPr>
          <p:cNvPr id="3" name="Text 1"/>
          <p:cNvSpPr/>
          <p:nvPr>
            <p:ph idx="101" type="body" hasCustomPrompt="1"/>
          </p:nvPr>
        </p:nvSpPr>
        <p:spPr>
          <a:xfrm>
            <a:off x="548640" y="310896"/>
            <a:ext cx="9144000" cy="274320"/>
          </a:xfrm>
          <a:prstGeom prst="rect">
            <a:avLst/>
          </a:prstGeom>
          <a:noFill/>
          <a:ln/>
        </p:spPr>
        <p:txBody>
          <a:bodyPr wrap="square" rtlCol="0"/>
          <a:lstStyle>
            <a:lvl1pPr indent="0" marL="0">
              <a:buNone/>
              <a:defRPr lang="en-US" sz="1200" b="1" spc="150" kern="0" dirty="0">
                <a:solidFill>
                  <a:schemeClr val="accent2"/>
                </a:solidFill>
              </a:defRPr>
            </a:lvl1pPr>
          </a:lstStyle>
          <a:p>
            <a:pPr indent="0" marL="0">
              <a:buNone/>
            </a:pPr>
            <a:endParaRPr lang="en-US" sz="1200" dirty="0"/>
          </a:p>
        </p:txBody>
      </p:sp>
      <p:sp>
        <p:nvSpPr>
          <p:cNvPr id="4" name="Text 1"/>
          <p:cNvSpPr/>
          <p:nvPr>
            <p:ph idx="102" type="title" hasCustomPrompt="1"/>
          </p:nvPr>
        </p:nvSpPr>
        <p:spPr>
          <a:xfrm>
            <a:off x="548640" y="585216"/>
            <a:ext cx="11094415" cy="658368"/>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5" name="Text 1"/>
          <p:cNvSpPr/>
          <p:nvPr>
            <p:ph idx="103" type="body" hasCustomPrompt="1"/>
          </p:nvPr>
        </p:nvSpPr>
        <p:spPr>
          <a:xfrm>
            <a:off x="548640" y="1298448"/>
            <a:ext cx="11094415" cy="411480"/>
          </a:xfrm>
          <a:prstGeom prst="rect">
            <a:avLst/>
          </a:prstGeom>
          <a:noFill/>
          <a:ln/>
        </p:spPr>
        <p:txBody>
          <a:bodyPr wrap="square" rtlCol="0"/>
          <a:lstStyle>
            <a:lvl1pPr indent="0" marL="0">
              <a:buNone/>
              <a:defRPr lang="en-US" sz="1700" dirty="0">
                <a:solidFill>
                  <a:schemeClr val="accent3"/>
                </a:solidFill>
              </a:defRPr>
            </a:lvl1pPr>
          </a:lstStyle>
          <a:p>
            <a:pPr indent="0" marL="0">
              <a:buNone/>
            </a:pPr>
            <a:endParaRPr lang="en-US" sz="17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7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8229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3.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ange ring 1"/>
          <p:cNvSpPr/>
          <p:nvPr/>
        </p:nvSpPr>
        <p:spPr>
          <a:xfrm>
            <a:off x="6537960" y="685800"/>
            <a:ext cx="5486400" cy="5486400"/>
          </a:xfrm>
          <a:prstGeom prst="ellipse">
            <a:avLst/>
          </a:prstGeom>
          <a:solidFill>
            <a:schemeClr val="accent5">
              <a:alpha val="8000"/>
            </a:schemeClr>
          </a:solidFill>
          <a:ln w="19050">
            <a:solidFill>
              <a:schemeClr val="accent5">
                <a:alpha val="80000"/>
              </a:schemeClr>
            </a:solidFill>
            <a:prstDash val="solid"/>
          </a:ln>
        </p:spPr>
      </p:sp>
      <p:sp>
        <p:nvSpPr>
          <p:cNvPr id="3" name="range ring 2"/>
          <p:cNvSpPr/>
          <p:nvPr/>
        </p:nvSpPr>
        <p:spPr>
          <a:xfrm>
            <a:off x="7406640" y="1554480"/>
            <a:ext cx="3749040" cy="3749040"/>
          </a:xfrm>
          <a:prstGeom prst="ellipse">
            <a:avLst/>
          </a:prstGeom>
          <a:solidFill>
            <a:schemeClr val="accent5">
              <a:alpha val="8000"/>
            </a:schemeClr>
          </a:solidFill>
          <a:ln w="19050">
            <a:solidFill>
              <a:schemeClr val="accent5">
                <a:alpha val="70000"/>
              </a:schemeClr>
            </a:solidFill>
            <a:prstDash val="solid"/>
          </a:ln>
        </p:spPr>
      </p:sp>
      <p:sp>
        <p:nvSpPr>
          <p:cNvPr id="4" name="range ring 3"/>
          <p:cNvSpPr/>
          <p:nvPr/>
        </p:nvSpPr>
        <p:spPr>
          <a:xfrm>
            <a:off x="8275320" y="2423160"/>
            <a:ext cx="2011680" cy="2011680"/>
          </a:xfrm>
          <a:prstGeom prst="ellipse">
            <a:avLst/>
          </a:prstGeom>
          <a:solidFill>
            <a:schemeClr val="accent5">
              <a:alpha val="8000"/>
            </a:schemeClr>
          </a:solidFill>
          <a:ln w="19050">
            <a:solidFill>
              <a:schemeClr val="accent5">
                <a:alpha val="60000"/>
              </a:schemeClr>
            </a:solidFill>
            <a:prstDash val="solid"/>
          </a:ln>
        </p:spPr>
      </p:sp>
      <p:sp>
        <p:nvSpPr>
          <p:cNvPr id="5" name="device 1"/>
          <p:cNvSpPr/>
          <p:nvPr/>
        </p:nvSpPr>
        <p:spPr>
          <a:xfrm>
            <a:off x="7461504" y="2157984"/>
            <a:ext cx="164592" cy="164592"/>
          </a:xfrm>
          <a:prstGeom prst="ellipse">
            <a:avLst/>
          </a:prstGeom>
          <a:solidFill>
            <a:schemeClr val="bg2"/>
          </a:solidFill>
          <a:ln w="12700">
            <a:solidFill>
              <a:schemeClr val="bg2">
                <a:alpha val="0"/>
              </a:schemeClr>
            </a:solidFill>
            <a:prstDash val="solid"/>
          </a:ln>
        </p:spPr>
      </p:sp>
      <p:sp>
        <p:nvSpPr>
          <p:cNvPr id="6" name="device 2"/>
          <p:cNvSpPr/>
          <p:nvPr/>
        </p:nvSpPr>
        <p:spPr>
          <a:xfrm>
            <a:off x="10479024" y="1517904"/>
            <a:ext cx="164592" cy="164592"/>
          </a:xfrm>
          <a:prstGeom prst="ellipse">
            <a:avLst/>
          </a:prstGeom>
          <a:solidFill>
            <a:schemeClr val="bg2"/>
          </a:solidFill>
          <a:ln w="12700">
            <a:solidFill>
              <a:schemeClr val="bg2">
                <a:alpha val="0"/>
              </a:schemeClr>
            </a:solidFill>
            <a:prstDash val="solid"/>
          </a:ln>
        </p:spPr>
      </p:sp>
      <p:sp>
        <p:nvSpPr>
          <p:cNvPr id="7" name="device 3"/>
          <p:cNvSpPr/>
          <p:nvPr/>
        </p:nvSpPr>
        <p:spPr>
          <a:xfrm>
            <a:off x="11210544" y="3895344"/>
            <a:ext cx="164592" cy="164592"/>
          </a:xfrm>
          <a:prstGeom prst="ellipse">
            <a:avLst/>
          </a:prstGeom>
          <a:solidFill>
            <a:schemeClr val="bg2"/>
          </a:solidFill>
          <a:ln w="12700">
            <a:solidFill>
              <a:schemeClr val="bg2">
                <a:alpha val="0"/>
              </a:schemeClr>
            </a:solidFill>
            <a:prstDash val="solid"/>
          </a:ln>
        </p:spPr>
      </p:sp>
      <p:sp>
        <p:nvSpPr>
          <p:cNvPr id="8" name="device 4"/>
          <p:cNvSpPr/>
          <p:nvPr/>
        </p:nvSpPr>
        <p:spPr>
          <a:xfrm>
            <a:off x="8375904" y="4901184"/>
            <a:ext cx="164592" cy="164592"/>
          </a:xfrm>
          <a:prstGeom prst="ellipse">
            <a:avLst/>
          </a:prstGeom>
          <a:solidFill>
            <a:schemeClr val="bg2"/>
          </a:solidFill>
          <a:ln w="12700">
            <a:solidFill>
              <a:schemeClr val="bg2">
                <a:alpha val="0"/>
              </a:schemeClr>
            </a:solidFill>
            <a:prstDash val="solid"/>
          </a:ln>
        </p:spPr>
      </p:sp>
      <p:sp>
        <p:nvSpPr>
          <p:cNvPr id="9" name="device 5"/>
          <p:cNvSpPr/>
          <p:nvPr/>
        </p:nvSpPr>
        <p:spPr>
          <a:xfrm>
            <a:off x="9838944" y="4398264"/>
            <a:ext cx="164592" cy="164592"/>
          </a:xfrm>
          <a:prstGeom prst="ellipse">
            <a:avLst/>
          </a:prstGeom>
          <a:solidFill>
            <a:schemeClr val="bg2"/>
          </a:solidFill>
          <a:ln w="12700">
            <a:solidFill>
              <a:schemeClr val="bg2">
                <a:alpha val="0"/>
              </a:schemeClr>
            </a:solidFill>
            <a:prstDash val="solid"/>
          </a:ln>
        </p:spPr>
      </p:sp>
      <p:sp>
        <p:nvSpPr>
          <p:cNvPr id="10" name="device 6"/>
          <p:cNvSpPr/>
          <p:nvPr/>
        </p:nvSpPr>
        <p:spPr>
          <a:xfrm>
            <a:off x="6912864" y="3712464"/>
            <a:ext cx="164592" cy="164592"/>
          </a:xfrm>
          <a:prstGeom prst="ellipse">
            <a:avLst/>
          </a:prstGeom>
          <a:solidFill>
            <a:schemeClr val="bg2"/>
          </a:solidFill>
          <a:ln w="12700">
            <a:solidFill>
              <a:schemeClr val="bg2">
                <a:alpha val="0"/>
              </a:schemeClr>
            </a:solidFill>
            <a:prstDash val="solid"/>
          </a:ln>
        </p:spPr>
      </p:sp>
      <p:sp>
        <p:nvSpPr>
          <p:cNvPr id="11" name="drone circle"/>
          <p:cNvSpPr/>
          <p:nvPr/>
        </p:nvSpPr>
        <p:spPr>
          <a:xfrm>
            <a:off x="8869680" y="3017520"/>
            <a:ext cx="822960" cy="822960"/>
          </a:xfrm>
          <a:prstGeom prst="ellipse">
            <a:avLst/>
          </a:prstGeom>
          <a:solidFill>
            <a:schemeClr val="accent1"/>
          </a:solidFill>
          <a:ln w="12700">
            <a:solidFill>
              <a:schemeClr val="accent1">
                <a:alpha val="0"/>
              </a:schemeClr>
            </a:solidFill>
            <a:prstDash val="solid"/>
          </a:ln>
        </p:spPr>
      </p:sp>
      <p:pic>
        <p:nvPicPr>
          <p:cNvPr id="12" name="drone glyph" descr="preencoded.png">    </p:cNvPr>
          <p:cNvPicPr>
            <a:picLocks noChangeAspect="1"/>
          </p:cNvPicPr>
          <p:nvPr/>
        </p:nvPicPr>
        <p:blipFill>
          <a:blip r:embed="rId1"/>
          <a:stretch>
            <a:fillRect/>
          </a:stretch>
        </p:blipFill>
        <p:spPr>
          <a:xfrm>
            <a:off x="9050731" y="3198571"/>
            <a:ext cx="460858" cy="460858"/>
          </a:xfrm>
          <a:prstGeom prst="rect">
            <a:avLst/>
          </a:prstGeom>
        </p:spPr>
      </p:pic>
      <p:sp>
        <p:nvSpPr>
          <p:cNvPr id="13" name="Text 0"/>
          <p:cNvSpPr/>
          <p:nvPr>
            <p:ph idx="100" type="title" hasCustomPrompt="1"/>
          </p:nvPr>
        </p:nvSpPr>
        <p:spPr>
          <a:xfrm>
            <a:off x="731520" y="1737360"/>
            <a:ext cx="6309360" cy="1188720"/>
          </a:xfrm>
          <a:prstGeom prst="rect">
            <a:avLst/>
          </a:prstGeom>
          <a:noFill/>
          <a:ln/>
        </p:spPr>
        <p:txBody>
          <a:bodyPr wrap="square" lIns="0" tIns="0" rIns="0" bIns="0" rtlCol="0" anchor="b"/>
          <a:lstStyle/>
          <a:p>
            <a:pPr algn="l" indent="0" marL="0">
              <a:buNone/>
            </a:pPr>
            <a:r>
              <a:rPr lang="en-US" sz="6000" b="1" dirty="0">
                <a:solidFill>
                  <a:schemeClr val="bg1"/>
                </a:solidFill>
              </a:rPr>
              <a:t>FeRRy</a:t>
            </a:r>
            <a:endParaRPr lang="en-US" sz="6000" dirty="0"/>
          </a:p>
        </p:txBody>
      </p:sp>
      <p:sp>
        <p:nvSpPr>
          <p:cNvPr id="14" name="Text 0"/>
          <p:cNvSpPr/>
          <p:nvPr>
            <p:ph idx="101" type="body" hasCustomPrompt="1"/>
          </p:nvPr>
        </p:nvSpPr>
        <p:spPr>
          <a:xfrm>
            <a:off x="731520" y="3063240"/>
            <a:ext cx="6035040" cy="1188720"/>
          </a:xfrm>
          <a:prstGeom prst="rect">
            <a:avLst/>
          </a:prstGeom>
          <a:noFill/>
          <a:ln/>
        </p:spPr>
        <p:txBody>
          <a:bodyPr wrap="square" lIns="0" tIns="0" rIns="0" bIns="0" rtlCol="0" anchor="t"/>
          <a:lstStyle/>
          <a:p>
            <a:pPr indent="0" marL="0">
              <a:buNone/>
            </a:pPr>
            <a:r>
              <a:rPr lang="en-US" sz="2400" dirty="0">
                <a:solidFill>
                  <a:schemeClr val="bg2"/>
                </a:solidFill>
              </a:rPr>
              <a:t>RF-aware mission planning for federated learning with drones as data mules</a:t>
            </a:r>
            <a:endParaRPr lang="en-US" sz="2400" dirty="0"/>
          </a:p>
        </p:txBody>
      </p:sp>
      <p:sp>
        <p:nvSpPr>
          <p:cNvPr id="15" name="Text 0"/>
          <p:cNvSpPr/>
          <p:nvPr>
            <p:ph idx="102" type="body" hasCustomPrompt="1"/>
          </p:nvPr>
        </p:nvSpPr>
        <p:spPr>
          <a:xfrm>
            <a:off x="731520" y="5257800"/>
            <a:ext cx="6400800" cy="365760"/>
          </a:xfrm>
          <a:prstGeom prst="rect">
            <a:avLst/>
          </a:prstGeom>
          <a:noFill/>
          <a:ln/>
        </p:spPr>
        <p:txBody>
          <a:bodyPr wrap="square" lIns="0" tIns="0" rIns="0" bIns="0" rtlCol="0" anchor="t"/>
          <a:lstStyle/>
          <a:p>
            <a:pPr indent="0" marL="0">
              <a:buNone/>
            </a:pPr>
            <a:r>
              <a:rPr lang="en-US" sz="1400" b="1" dirty="0">
                <a:solidFill>
                  <a:schemeClr val="accent1"/>
                </a:solidFill>
              </a:rPr>
              <a:t>Results overview  ·  IPDPS 2027 submission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THE SHORT VERSION</a:t>
            </a:r>
            <a:endParaRPr lang="en-US" sz="1200" dirty="0"/>
          </a:p>
        </p:txBody>
      </p:sp>
      <p:sp>
        <p:nvSpPr>
          <p:cNvPr id="3" name="Text 1"/>
          <p:cNvSpPr/>
          <p:nvPr>
            <p:ph idx="102" type="title" hasCustomPrompt="1"/>
          </p:nvPr>
        </p:nvSpPr>
        <p:spPr>
          <a:xfrm>
            <a:off x="548640" y="585216"/>
            <a:ext cx="11094415" cy="658368"/>
          </a:xfrm>
          <a:prstGeom prst="rect">
            <a:avLst/>
          </a:prstGeom>
          <a:noFill/>
          <a:ln/>
        </p:spPr>
        <p:txBody>
          <a:bodyPr wrap="square" lIns="0" tIns="0" rIns="0" bIns="0" rtlCol="0" anchor="t"/>
          <a:lstStyle/>
          <a:p>
            <a:pPr algn="l" indent="0" marL="0">
              <a:buNone/>
            </a:pPr>
            <a:r>
              <a:rPr lang="en-US" sz="3600" b="1" dirty="0">
                <a:solidFill>
                  <a:schemeClr val="tx1"/>
                </a:solidFill>
              </a:rPr>
              <a:t>FeRRy in one slide</a:t>
            </a:r>
            <a:endParaRPr lang="en-US" sz="3600" dirty="0"/>
          </a:p>
        </p:txBody>
      </p:sp>
      <p:sp>
        <p:nvSpPr>
          <p:cNvPr id="4" name="Text 1"/>
          <p:cNvSpPr/>
          <p:nvPr>
            <p:ph idx="103" type="body" hasCustomPrompt="1"/>
          </p:nvPr>
        </p:nvSpPr>
        <p:spPr>
          <a:xfrm>
            <a:off x="548640" y="1298448"/>
            <a:ext cx="11094415" cy="411480"/>
          </a:xfrm>
          <a:prstGeom prst="rect">
            <a:avLst/>
          </a:prstGeom>
          <a:noFill/>
          <a:ln/>
        </p:spPr>
        <p:txBody>
          <a:bodyPr wrap="square" lIns="0" tIns="0" rIns="0" bIns="0" rtlCol="0" anchor="t"/>
          <a:lstStyle/>
          <a:p>
            <a:pPr indent="0" marL="0">
              <a:buNone/>
            </a:pPr>
            <a:r>
              <a:rPr lang="en-US" sz="1700" dirty="0">
                <a:solidFill>
                  <a:schemeClr val="accent3"/>
                </a:solidFill>
              </a:rPr>
              <a:t>Drones carry model updates to devices that can't reach the server. FeRRy decides how far each drone's radio reaches.</a:t>
            </a:r>
            <a:endParaRPr lang="en-US" sz="1700" dirty="0"/>
          </a:p>
        </p:txBody>
      </p:sp>
      <p:sp>
        <p:nvSpPr>
          <p:cNvPr id="5" name="stat card 1"/>
          <p:cNvSpPr/>
          <p:nvPr/>
        </p:nvSpPr>
        <p:spPr>
          <a:xfrm>
            <a:off x="548640" y="1920240"/>
            <a:ext cx="3575304" cy="2331720"/>
          </a:xfrm>
          <a:prstGeom prst="roundRect">
            <a:avLst>
              <a:gd name="adj" fmla="val 3137"/>
            </a:avLst>
          </a:prstGeom>
          <a:solidFill>
            <a:schemeClr val="bg2"/>
          </a:solidFill>
          <a:ln w="12700">
            <a:solidFill>
              <a:schemeClr val="bg2">
                <a:alpha val="0"/>
              </a:schemeClr>
            </a:solidFill>
            <a:prstDash val="solid"/>
          </a:ln>
        </p:spPr>
      </p:sp>
      <p:sp>
        <p:nvSpPr>
          <p:cNvPr id="6" name="stat 1"/>
          <p:cNvSpPr txBox="1"/>
          <p:nvPr/>
        </p:nvSpPr>
        <p:spPr>
          <a:xfrm>
            <a:off x="822960" y="2057400"/>
            <a:ext cx="3026664" cy="914400"/>
          </a:xfrm>
          <a:prstGeom prst="rect">
            <a:avLst/>
          </a:prstGeom>
          <a:noFill/>
          <a:ln/>
        </p:spPr>
        <p:txBody>
          <a:bodyPr wrap="square" lIns="0" tIns="0" rIns="0" bIns="0" rtlCol="0" anchor="ctr"/>
          <a:lstStyle/>
          <a:p>
            <a:pPr indent="0" marL="0">
              <a:buNone/>
            </a:pPr>
            <a:r>
              <a:rPr lang="en-US" sz="5400" b="1" dirty="0">
                <a:solidFill>
                  <a:schemeClr val="accent1"/>
                </a:solidFill>
              </a:rPr>
              <a:t>27–31%</a:t>
            </a:r>
            <a:endParaRPr lang="en-US" sz="5400" dirty="0"/>
          </a:p>
        </p:txBody>
      </p:sp>
      <p:sp>
        <p:nvSpPr>
          <p:cNvPr id="7" name="stat label 1"/>
          <p:cNvSpPr txBox="1"/>
          <p:nvPr/>
        </p:nvSpPr>
        <p:spPr>
          <a:xfrm>
            <a:off x="822960" y="3035808"/>
            <a:ext cx="3026664" cy="109728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sooner to target accuracy</a:t>
            </a:r>
            <a:endParaRPr lang="en-US" sz="1800" dirty="0"/>
          </a:p>
          <a:p>
            <a:pPr indent="0" marL="0">
              <a:buNone/>
            </a:pPr>
            <a:r>
              <a:rPr lang="en-US" sz="1400" dirty="0">
                <a:solidFill>
                  <a:schemeClr val="accent3"/>
                </a:solidFill>
              </a:rPr>
              <a:t>6 devices, 1 drone, against each of 7 schedulers</a:t>
            </a:r>
            <a:endParaRPr lang="en-US" sz="1800" dirty="0"/>
          </a:p>
        </p:txBody>
      </p:sp>
      <p:sp>
        <p:nvSpPr>
          <p:cNvPr id="8" name="stat card 2"/>
          <p:cNvSpPr/>
          <p:nvPr/>
        </p:nvSpPr>
        <p:spPr>
          <a:xfrm>
            <a:off x="4306824" y="1920240"/>
            <a:ext cx="3575304" cy="2331720"/>
          </a:xfrm>
          <a:prstGeom prst="roundRect">
            <a:avLst>
              <a:gd name="adj" fmla="val 3137"/>
            </a:avLst>
          </a:prstGeom>
          <a:solidFill>
            <a:schemeClr val="bg2"/>
          </a:solidFill>
          <a:ln w="12700">
            <a:solidFill>
              <a:schemeClr val="bg2">
                <a:alpha val="0"/>
              </a:schemeClr>
            </a:solidFill>
            <a:prstDash val="solid"/>
          </a:ln>
        </p:spPr>
      </p:sp>
      <p:sp>
        <p:nvSpPr>
          <p:cNvPr id="9" name="stat 2"/>
          <p:cNvSpPr txBox="1"/>
          <p:nvPr/>
        </p:nvSpPr>
        <p:spPr>
          <a:xfrm>
            <a:off x="4581144" y="2057400"/>
            <a:ext cx="3026664" cy="914400"/>
          </a:xfrm>
          <a:prstGeom prst="rect">
            <a:avLst/>
          </a:prstGeom>
          <a:noFill/>
          <a:ln/>
        </p:spPr>
        <p:txBody>
          <a:bodyPr wrap="square" lIns="0" tIns="0" rIns="0" bIns="0" rtlCol="0" anchor="ctr"/>
          <a:lstStyle/>
          <a:p>
            <a:pPr indent="0" marL="0">
              <a:buNone/>
            </a:pPr>
            <a:r>
              <a:rPr lang="en-US" sz="5400" b="1" dirty="0">
                <a:solidFill>
                  <a:schemeClr val="accent1"/>
                </a:solidFill>
              </a:rPr>
              <a:t>~26%</a:t>
            </a:r>
            <a:endParaRPr lang="en-US" sz="5400" dirty="0"/>
          </a:p>
        </p:txBody>
      </p:sp>
      <p:sp>
        <p:nvSpPr>
          <p:cNvPr id="10" name="stat label 2"/>
          <p:cNvSpPr txBox="1"/>
          <p:nvPr/>
        </p:nvSpPr>
        <p:spPr>
          <a:xfrm>
            <a:off x="4581144" y="3035808"/>
            <a:ext cx="3026664" cy="109728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fresher model updates</a:t>
            </a:r>
            <a:endParaRPr lang="en-US" sz="1800" dirty="0"/>
          </a:p>
          <a:p>
            <a:pPr indent="0" marL="0">
              <a:buNone/>
            </a:pPr>
            <a:r>
              <a:rPr lang="en-US" sz="1400" dirty="0">
                <a:solidFill>
                  <a:schemeClr val="accent3"/>
                </a:solidFill>
              </a:rPr>
              <a:t>under tight flight budgets: update age 0.78 vs 1.06–1.07 missions</a:t>
            </a:r>
            <a:endParaRPr lang="en-US" sz="1800" dirty="0"/>
          </a:p>
        </p:txBody>
      </p:sp>
      <p:sp>
        <p:nvSpPr>
          <p:cNvPr id="11" name="stat card 3"/>
          <p:cNvSpPr/>
          <p:nvPr/>
        </p:nvSpPr>
        <p:spPr>
          <a:xfrm>
            <a:off x="8065008" y="1920240"/>
            <a:ext cx="3575304" cy="2331720"/>
          </a:xfrm>
          <a:prstGeom prst="roundRect">
            <a:avLst>
              <a:gd name="adj" fmla="val 3137"/>
            </a:avLst>
          </a:prstGeom>
          <a:solidFill>
            <a:schemeClr val="bg2"/>
          </a:solidFill>
          <a:ln w="12700">
            <a:solidFill>
              <a:schemeClr val="bg2">
                <a:alpha val="0"/>
              </a:schemeClr>
            </a:solidFill>
            <a:prstDash val="solid"/>
          </a:ln>
        </p:spPr>
      </p:sp>
      <p:sp>
        <p:nvSpPr>
          <p:cNvPr id="12" name="stat 3"/>
          <p:cNvSpPr txBox="1"/>
          <p:nvPr/>
        </p:nvSpPr>
        <p:spPr>
          <a:xfrm>
            <a:off x="8339328" y="2057400"/>
            <a:ext cx="3026664" cy="914400"/>
          </a:xfrm>
          <a:prstGeom prst="rect">
            <a:avLst/>
          </a:prstGeom>
          <a:noFill/>
          <a:ln/>
        </p:spPr>
        <p:txBody>
          <a:bodyPr wrap="square" lIns="0" tIns="0" rIns="0" bIns="0" rtlCol="0" anchor="ctr"/>
          <a:lstStyle/>
          <a:p>
            <a:pPr indent="0" marL="0">
              <a:buNone/>
            </a:pPr>
            <a:r>
              <a:rPr lang="en-US" sz="5400" b="1" dirty="0">
                <a:solidFill>
                  <a:schemeClr val="accent1"/>
                </a:solidFill>
              </a:rPr>
              <a:t>1.5 s</a:t>
            </a:r>
            <a:endParaRPr lang="en-US" sz="5400" dirty="0"/>
          </a:p>
        </p:txBody>
      </p:sp>
      <p:sp>
        <p:nvSpPr>
          <p:cNvPr id="13" name="stat label 3"/>
          <p:cNvSpPr txBox="1"/>
          <p:nvPr/>
        </p:nvSpPr>
        <p:spPr>
          <a:xfrm>
            <a:off x="8339328" y="3035808"/>
            <a:ext cx="3026664" cy="109728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to plan a mission</a:t>
            </a:r>
            <a:endParaRPr lang="en-US" sz="1800" dirty="0"/>
          </a:p>
          <a:p>
            <a:pPr indent="0" marL="0">
              <a:buNone/>
            </a:pPr>
            <a:r>
              <a:rPr lang="en-US" sz="1400" dirty="0">
                <a:solidFill>
                  <a:schemeClr val="accent3"/>
                </a:solidFill>
              </a:rPr>
              <a:t>for 96 devices on one host</a:t>
            </a:r>
            <a:endParaRPr lang="en-US" sz="1800" dirty="0"/>
          </a:p>
        </p:txBody>
      </p:sp>
      <p:sp>
        <p:nvSpPr>
          <p:cNvPr id="14" name="why circle"/>
          <p:cNvSpPr/>
          <p:nvPr/>
        </p:nvSpPr>
        <p:spPr>
          <a:xfrm>
            <a:off x="548640" y="4572000"/>
            <a:ext cx="566928" cy="566928"/>
          </a:xfrm>
          <a:prstGeom prst="ellipse">
            <a:avLst/>
          </a:prstGeom>
          <a:solidFill>
            <a:schemeClr val="accent2"/>
          </a:solidFill>
          <a:ln w="12700">
            <a:solidFill>
              <a:schemeClr val="accent2">
                <a:alpha val="0"/>
              </a:schemeClr>
            </a:solidFill>
            <a:prstDash val="solid"/>
          </a:ln>
        </p:spPr>
      </p:sp>
      <p:pic>
        <p:nvPicPr>
          <p:cNvPr id="15" name="why glyph" descr="preencoded.png">    </p:cNvPr>
          <p:cNvPicPr>
            <a:picLocks noChangeAspect="1"/>
          </p:cNvPicPr>
          <p:nvPr/>
        </p:nvPicPr>
        <p:blipFill>
          <a:blip r:embed="rId1"/>
          <a:stretch>
            <a:fillRect/>
          </a:stretch>
        </p:blipFill>
        <p:spPr>
          <a:xfrm>
            <a:off x="673364" y="4696724"/>
            <a:ext cx="317480" cy="317480"/>
          </a:xfrm>
          <a:prstGeom prst="rect">
            <a:avLst/>
          </a:prstGeom>
        </p:spPr>
      </p:pic>
      <p:sp>
        <p:nvSpPr>
          <p:cNvPr id="16" name="why text"/>
          <p:cNvSpPr txBox="1"/>
          <p:nvPr/>
        </p:nvSpPr>
        <p:spPr>
          <a:xfrm>
            <a:off x="1325880" y="4572000"/>
            <a:ext cx="10317175" cy="566928"/>
          </a:xfrm>
          <a:prstGeom prst="rect">
            <a:avLst/>
          </a:prstGeom>
          <a:noFill/>
          <a:ln/>
        </p:spPr>
        <p:txBody>
          <a:bodyPr wrap="square" lIns="0" tIns="0" rIns="0" bIns="0" rtlCol="0" anchor="ctr"/>
          <a:lstStyle/>
          <a:p>
            <a:pPr indent="0" marL="0">
              <a:buNone/>
            </a:pPr>
            <a:r>
              <a:rPr lang="en-US" sz="1700" b="1" dirty="0">
                <a:solidFill>
                  <a:schemeClr val="tx1"/>
                </a:solidFill>
              </a:rPr>
              <a:t>Why it wins: </a:t>
            </a:r>
            <a:pPr indent="0" marL="0">
              <a:buNone/>
            </a:pPr>
            <a:r>
              <a:rPr lang="en-US" sz="1700" dirty="0">
                <a:solidFill>
                  <a:schemeClr val="tx1"/>
                </a:solidFill>
              </a:rPr>
              <a:t>the plan picks a long-reach narrow band, cutting flight between stops from ~140 s to 15 s.</a:t>
            </a:r>
            <a:endParaRPr lang="en-US" sz="1700" dirty="0"/>
          </a:p>
        </p:txBody>
      </p:sp>
      <p:sp>
        <p:nvSpPr>
          <p:cNvPr id="17" name="limits circle"/>
          <p:cNvSpPr/>
          <p:nvPr/>
        </p:nvSpPr>
        <p:spPr>
          <a:xfrm>
            <a:off x="548640" y="5349240"/>
            <a:ext cx="566928" cy="566928"/>
          </a:xfrm>
          <a:prstGeom prst="ellipse">
            <a:avLst/>
          </a:prstGeom>
          <a:solidFill>
            <a:schemeClr val="accent4"/>
          </a:solidFill>
          <a:ln w="12700">
            <a:solidFill>
              <a:schemeClr val="accent4">
                <a:alpha val="0"/>
              </a:schemeClr>
            </a:solidFill>
            <a:prstDash val="solid"/>
          </a:ln>
        </p:spPr>
      </p:sp>
      <p:pic>
        <p:nvPicPr>
          <p:cNvPr id="18" name="limits glyph" descr="preencoded.png">    </p:cNvPr>
          <p:cNvPicPr>
            <a:picLocks noChangeAspect="1"/>
          </p:cNvPicPr>
          <p:nvPr/>
        </p:nvPicPr>
        <p:blipFill>
          <a:blip r:embed="rId2"/>
          <a:stretch>
            <a:fillRect/>
          </a:stretch>
        </p:blipFill>
        <p:spPr>
          <a:xfrm>
            <a:off x="673364" y="5473964"/>
            <a:ext cx="317480" cy="317480"/>
          </a:xfrm>
          <a:prstGeom prst="rect">
            <a:avLst/>
          </a:prstGeom>
        </p:spPr>
      </p:pic>
      <p:sp>
        <p:nvSpPr>
          <p:cNvPr id="19" name="limits text"/>
          <p:cNvSpPr txBox="1"/>
          <p:nvPr/>
        </p:nvSpPr>
        <p:spPr>
          <a:xfrm>
            <a:off x="1325880" y="5266944"/>
            <a:ext cx="10317175" cy="731520"/>
          </a:xfrm>
          <a:prstGeom prst="rect">
            <a:avLst/>
          </a:prstGeom>
          <a:noFill/>
          <a:ln/>
        </p:spPr>
        <p:txBody>
          <a:bodyPr wrap="square" lIns="0" tIns="0" rIns="0" bIns="0" rtlCol="0" anchor="ctr"/>
          <a:lstStyle/>
          <a:p>
            <a:pPr indent="0" marL="0">
              <a:buNone/>
            </a:pPr>
            <a:r>
              <a:rPr lang="en-US" sz="1700" b="1" dirty="0">
                <a:solidFill>
                  <a:schemeClr val="tx1"/>
                </a:solidFill>
              </a:rPr>
              <a:t>Where it falls short: </a:t>
            </a:r>
            <a:pPr indent="0" marL="0">
              <a:buNone/>
            </a:pPr>
            <a:r>
              <a:rPr lang="en-US" sz="1700" dirty="0">
                <a:solidFill>
                  <a:schemeClr val="tx1"/>
                </a:solidFill>
              </a:rPr>
              <a:t>3 in 10 tight-budget missions finish late, and it plans as if every device's update is already trained and waiting.</a:t>
            </a:r>
            <a:endParaRPr lang="en-US" sz="17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INTRODUCTION</a:t>
            </a:r>
            <a:endParaRPr lang="en-US" sz="1200" dirty="0"/>
          </a:p>
        </p:txBody>
      </p:sp>
      <p:sp>
        <p:nvSpPr>
          <p:cNvPr id="3" name="Text 1"/>
          <p:cNvSpPr/>
          <p:nvPr>
            <p:ph idx="102" type="title" hasCustomPrompt="1"/>
          </p:nvPr>
        </p:nvSpPr>
        <p:spPr>
          <a:xfrm>
            <a:off x="548640" y="585216"/>
            <a:ext cx="11094415" cy="658368"/>
          </a:xfrm>
          <a:prstGeom prst="rect">
            <a:avLst/>
          </a:prstGeom>
          <a:noFill/>
          <a:ln/>
        </p:spPr>
        <p:txBody>
          <a:bodyPr wrap="square" lIns="0" tIns="0" rIns="0" bIns="0" rtlCol="0" anchor="t"/>
          <a:lstStyle/>
          <a:p>
            <a:pPr algn="l" indent="0" marL="0">
              <a:buNone/>
            </a:pPr>
            <a:r>
              <a:rPr lang="en-US" sz="3600" b="1" dirty="0">
                <a:solidFill>
                  <a:schemeClr val="tx1"/>
                </a:solidFill>
              </a:rPr>
              <a:t>When the network fails, FL stalls</a:t>
            </a:r>
            <a:endParaRPr lang="en-US" sz="3600" dirty="0"/>
          </a:p>
        </p:txBody>
      </p:sp>
      <p:sp>
        <p:nvSpPr>
          <p:cNvPr id="4" name="Text 1"/>
          <p:cNvSpPr/>
          <p:nvPr>
            <p:ph idx="103" type="body" hasCustomPrompt="1"/>
          </p:nvPr>
        </p:nvSpPr>
        <p:spPr>
          <a:xfrm>
            <a:off x="548640" y="1298448"/>
            <a:ext cx="11094415" cy="411480"/>
          </a:xfrm>
          <a:prstGeom prst="rect">
            <a:avLst/>
          </a:prstGeom>
          <a:noFill/>
          <a:ln/>
        </p:spPr>
        <p:txBody>
          <a:bodyPr wrap="square" lIns="0" tIns="0" rIns="0" bIns="0" rtlCol="0" anchor="t"/>
          <a:lstStyle/>
          <a:p>
            <a:pPr indent="0" marL="0">
              <a:buNone/>
            </a:pPr>
            <a:r>
              <a:rPr lang="en-US" sz="1700" dirty="0">
                <a:solidFill>
                  <a:schemeClr val="accent3"/>
                </a:solidFill>
              </a:rPr>
              <a:t>Federated learning (FL) keeps raw data on devices, but it assumes every device can reach the server.</a:t>
            </a:r>
            <a:endParaRPr lang="en-US" sz="1700" dirty="0"/>
          </a:p>
        </p:txBody>
      </p:sp>
      <p:sp>
        <p:nvSpPr>
          <p:cNvPr id="5" name="Where it matters circle"/>
          <p:cNvSpPr/>
          <p:nvPr/>
        </p:nvSpPr>
        <p:spPr>
          <a:xfrm>
            <a:off x="548640" y="2011680"/>
            <a:ext cx="640080" cy="640080"/>
          </a:xfrm>
          <a:prstGeom prst="ellipse">
            <a:avLst/>
          </a:prstGeom>
          <a:solidFill>
            <a:schemeClr val="accent2"/>
          </a:solidFill>
          <a:ln w="12700">
            <a:solidFill>
              <a:schemeClr val="accent2">
                <a:alpha val="0"/>
              </a:schemeClr>
            </a:solidFill>
            <a:prstDash val="solid"/>
          </a:ln>
        </p:spPr>
      </p:sp>
      <p:pic>
        <p:nvPicPr>
          <p:cNvPr id="6" name="Where it matters glyph" descr="preencoded.png">    </p:cNvPr>
          <p:cNvPicPr>
            <a:picLocks noChangeAspect="1"/>
          </p:cNvPicPr>
          <p:nvPr/>
        </p:nvPicPr>
        <p:blipFill>
          <a:blip r:embed="rId1"/>
          <a:stretch>
            <a:fillRect/>
          </a:stretch>
        </p:blipFill>
        <p:spPr>
          <a:xfrm>
            <a:off x="689458" y="2152498"/>
            <a:ext cx="358445" cy="358445"/>
          </a:xfrm>
          <a:prstGeom prst="rect">
            <a:avLst/>
          </a:prstGeom>
        </p:spPr>
      </p:pic>
      <p:sp>
        <p:nvSpPr>
          <p:cNvPr id="7" name="Where it matters"/>
          <p:cNvSpPr txBox="1"/>
          <p:nvPr/>
        </p:nvSpPr>
        <p:spPr>
          <a:xfrm>
            <a:off x="1417320" y="1965960"/>
            <a:ext cx="5120640" cy="123444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Where it matters</a:t>
            </a:r>
            <a:endParaRPr lang="en-US" sz="1900" dirty="0"/>
          </a:p>
          <a:p>
            <a:pPr indent="0" marL="0">
              <a:buNone/>
            </a:pPr>
            <a:r>
              <a:rPr lang="en-US" sz="1500" dirty="0">
                <a:solidFill>
                  <a:schemeClr val="tx1"/>
                </a:solidFill>
              </a:rPr>
              <a:t>Disaster response, wildfire monitoring, farms and tactical operations: places with sparse or damaged infrastructure.</a:t>
            </a:r>
            <a:endParaRPr lang="en-US" sz="1900" dirty="0"/>
          </a:p>
        </p:txBody>
      </p:sp>
      <p:sp>
        <p:nvSpPr>
          <p:cNvPr id="8" name="What goes wrong circle"/>
          <p:cNvSpPr/>
          <p:nvPr/>
        </p:nvSpPr>
        <p:spPr>
          <a:xfrm>
            <a:off x="548640" y="3383280"/>
            <a:ext cx="640080" cy="640080"/>
          </a:xfrm>
          <a:prstGeom prst="ellipse">
            <a:avLst/>
          </a:prstGeom>
          <a:solidFill>
            <a:schemeClr val="accent2"/>
          </a:solidFill>
          <a:ln w="12700">
            <a:solidFill>
              <a:schemeClr val="accent2">
                <a:alpha val="0"/>
              </a:schemeClr>
            </a:solidFill>
            <a:prstDash val="solid"/>
          </a:ln>
        </p:spPr>
      </p:sp>
      <p:pic>
        <p:nvPicPr>
          <p:cNvPr id="9" name="What goes wrong glyph" descr="preencoded.png">    </p:cNvPr>
          <p:cNvPicPr>
            <a:picLocks noChangeAspect="1"/>
          </p:cNvPicPr>
          <p:nvPr/>
        </p:nvPicPr>
        <p:blipFill>
          <a:blip r:embed="rId2"/>
          <a:stretch>
            <a:fillRect/>
          </a:stretch>
        </p:blipFill>
        <p:spPr>
          <a:xfrm>
            <a:off x="689458" y="3524098"/>
            <a:ext cx="358445" cy="358445"/>
          </a:xfrm>
          <a:prstGeom prst="rect">
            <a:avLst/>
          </a:prstGeom>
        </p:spPr>
      </p:pic>
      <p:sp>
        <p:nvSpPr>
          <p:cNvPr id="10" name="What goes wrong"/>
          <p:cNvSpPr txBox="1"/>
          <p:nvPr/>
        </p:nvSpPr>
        <p:spPr>
          <a:xfrm>
            <a:off x="1417320" y="3337560"/>
            <a:ext cx="5120640" cy="123444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What goes wrong</a:t>
            </a:r>
            <a:endParaRPr lang="en-US" sz="1900" dirty="0"/>
          </a:p>
          <a:p>
            <a:pPr indent="0" marL="0">
              <a:buNone/>
            </a:pPr>
            <a:r>
              <a:rPr lang="en-US" sz="1500" dirty="0">
                <a:solidFill>
                  <a:schemeClr val="tx1"/>
                </a:solidFill>
              </a:rPr>
              <a:t>Links are denied, disrupted, intermittent or limited (DDIL). Devices out of range are skipped again and again.</a:t>
            </a:r>
            <a:endParaRPr lang="en-US" sz="1900" dirty="0"/>
          </a:p>
        </p:txBody>
      </p:sp>
      <p:sp>
        <p:nvSpPr>
          <p:cNvPr id="11" name="The result circle"/>
          <p:cNvSpPr/>
          <p:nvPr/>
        </p:nvSpPr>
        <p:spPr>
          <a:xfrm>
            <a:off x="548640" y="4754880"/>
            <a:ext cx="640080" cy="640080"/>
          </a:xfrm>
          <a:prstGeom prst="ellipse">
            <a:avLst/>
          </a:prstGeom>
          <a:solidFill>
            <a:schemeClr val="accent2"/>
          </a:solidFill>
          <a:ln w="12700">
            <a:solidFill>
              <a:schemeClr val="accent2">
                <a:alpha val="0"/>
              </a:schemeClr>
            </a:solidFill>
            <a:prstDash val="solid"/>
          </a:ln>
        </p:spPr>
      </p:sp>
      <p:pic>
        <p:nvPicPr>
          <p:cNvPr id="12" name="The result glyph" descr="preencoded.png">    </p:cNvPr>
          <p:cNvPicPr>
            <a:picLocks noChangeAspect="1"/>
          </p:cNvPicPr>
          <p:nvPr/>
        </p:nvPicPr>
        <p:blipFill>
          <a:blip r:embed="rId3"/>
          <a:stretch>
            <a:fillRect/>
          </a:stretch>
        </p:blipFill>
        <p:spPr>
          <a:xfrm>
            <a:off x="689458" y="4895698"/>
            <a:ext cx="358445" cy="358445"/>
          </a:xfrm>
          <a:prstGeom prst="rect">
            <a:avLst/>
          </a:prstGeom>
        </p:spPr>
      </p:pic>
      <p:sp>
        <p:nvSpPr>
          <p:cNvPr id="13" name="The result"/>
          <p:cNvSpPr txBox="1"/>
          <p:nvPr/>
        </p:nvSpPr>
        <p:spPr>
          <a:xfrm>
            <a:off x="1417320" y="4709160"/>
            <a:ext cx="5120640" cy="123444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The result</a:t>
            </a:r>
            <a:endParaRPr lang="en-US" sz="1900" dirty="0"/>
          </a:p>
          <a:p>
            <a:pPr indent="0" marL="0">
              <a:buNone/>
            </a:pPr>
            <a:r>
              <a:rPr lang="en-US" sz="1500" dirty="0">
                <a:solidFill>
                  <a:schemeClr val="tx1"/>
                </a:solidFill>
              </a:rPr>
              <a:t>Updates are lost and rounds stall. In our tests, FL over the degraded link merged 0.5 updates per round and stalled at 68.6% accuracy.</a:t>
            </a:r>
            <a:endParaRPr lang="en-US" sz="1900" dirty="0"/>
          </a:p>
        </p:txBody>
      </p:sp>
      <p:sp>
        <p:nvSpPr>
          <p:cNvPr id="14" name="broken link 1"/>
          <p:cNvSpPr/>
          <p:nvPr/>
        </p:nvSpPr>
        <p:spPr>
          <a:xfrm flipH="1">
            <a:off x="7223760" y="2514600"/>
            <a:ext cx="1965960" cy="2148840"/>
          </a:xfrm>
          <a:prstGeom prst="line">
            <a:avLst/>
          </a:prstGeom>
          <a:noFill/>
          <a:ln w="22225">
            <a:solidFill>
              <a:schemeClr val="accent3"/>
            </a:solidFill>
            <a:prstDash val="dash"/>
          </a:ln>
        </p:spPr>
      </p:sp>
      <p:sp>
        <p:nvSpPr>
          <p:cNvPr id="15" name="broken link 2"/>
          <p:cNvSpPr/>
          <p:nvPr/>
        </p:nvSpPr>
        <p:spPr>
          <a:xfrm flipH="1">
            <a:off x="8275320" y="2514600"/>
            <a:ext cx="914400" cy="3063240"/>
          </a:xfrm>
          <a:prstGeom prst="line">
            <a:avLst/>
          </a:prstGeom>
          <a:noFill/>
          <a:ln w="22225">
            <a:solidFill>
              <a:schemeClr val="accent3"/>
            </a:solidFill>
            <a:prstDash val="dash"/>
          </a:ln>
        </p:spPr>
      </p:sp>
      <p:sp>
        <p:nvSpPr>
          <p:cNvPr id="16" name="link 3"/>
          <p:cNvSpPr/>
          <p:nvPr/>
        </p:nvSpPr>
        <p:spPr>
          <a:xfrm>
            <a:off x="9189720" y="2514600"/>
            <a:ext cx="365760" cy="2468880"/>
          </a:xfrm>
          <a:prstGeom prst="line">
            <a:avLst/>
          </a:prstGeom>
          <a:noFill/>
          <a:ln w="28575">
            <a:solidFill>
              <a:schemeClr val="accent2"/>
            </a:solidFill>
            <a:prstDash val="solid"/>
          </a:ln>
        </p:spPr>
      </p:sp>
      <p:sp>
        <p:nvSpPr>
          <p:cNvPr id="17" name="broken link 4"/>
          <p:cNvSpPr/>
          <p:nvPr/>
        </p:nvSpPr>
        <p:spPr>
          <a:xfrm>
            <a:off x="9189720" y="2514600"/>
            <a:ext cx="1554480" cy="3063240"/>
          </a:xfrm>
          <a:prstGeom prst="line">
            <a:avLst/>
          </a:prstGeom>
          <a:noFill/>
          <a:ln w="22225">
            <a:solidFill>
              <a:schemeClr val="accent3"/>
            </a:solidFill>
            <a:prstDash val="dash"/>
          </a:ln>
        </p:spPr>
      </p:sp>
      <p:sp>
        <p:nvSpPr>
          <p:cNvPr id="18" name="link 5"/>
          <p:cNvSpPr/>
          <p:nvPr/>
        </p:nvSpPr>
        <p:spPr>
          <a:xfrm>
            <a:off x="9189720" y="2514600"/>
            <a:ext cx="1965960" cy="1645920"/>
          </a:xfrm>
          <a:prstGeom prst="line">
            <a:avLst/>
          </a:prstGeom>
          <a:noFill/>
          <a:ln w="28575">
            <a:solidFill>
              <a:schemeClr val="accent2"/>
            </a:solidFill>
            <a:prstDash val="solid"/>
          </a:ln>
        </p:spPr>
      </p:sp>
      <p:sp>
        <p:nvSpPr>
          <p:cNvPr id="19" name="break 1"/>
          <p:cNvSpPr/>
          <p:nvPr/>
        </p:nvSpPr>
        <p:spPr>
          <a:xfrm>
            <a:off x="8051292" y="3433572"/>
            <a:ext cx="310896" cy="310896"/>
          </a:xfrm>
          <a:prstGeom prst="ellipse">
            <a:avLst/>
          </a:prstGeom>
          <a:solidFill>
            <a:schemeClr val="accent4"/>
          </a:solidFill>
          <a:ln w="19050">
            <a:solidFill>
              <a:schemeClr val="bg1"/>
            </a:solidFill>
            <a:prstDash val="solid"/>
          </a:ln>
        </p:spPr>
      </p:sp>
      <p:sp>
        <p:nvSpPr>
          <p:cNvPr id="20" name="break mark 1"/>
          <p:cNvSpPr txBox="1"/>
          <p:nvPr/>
        </p:nvSpPr>
        <p:spPr>
          <a:xfrm>
            <a:off x="8051292" y="343357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21" name="break 2"/>
          <p:cNvSpPr/>
          <p:nvPr/>
        </p:nvSpPr>
        <p:spPr>
          <a:xfrm>
            <a:off x="8577072" y="3890772"/>
            <a:ext cx="310896" cy="310896"/>
          </a:xfrm>
          <a:prstGeom prst="ellipse">
            <a:avLst/>
          </a:prstGeom>
          <a:solidFill>
            <a:schemeClr val="accent4"/>
          </a:solidFill>
          <a:ln w="19050">
            <a:solidFill>
              <a:schemeClr val="bg1"/>
            </a:solidFill>
            <a:prstDash val="solid"/>
          </a:ln>
        </p:spPr>
      </p:sp>
      <p:sp>
        <p:nvSpPr>
          <p:cNvPr id="22" name="break mark 2"/>
          <p:cNvSpPr txBox="1"/>
          <p:nvPr/>
        </p:nvSpPr>
        <p:spPr>
          <a:xfrm>
            <a:off x="8577072" y="389077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23" name="break 4"/>
          <p:cNvSpPr/>
          <p:nvPr/>
        </p:nvSpPr>
        <p:spPr>
          <a:xfrm>
            <a:off x="9811512" y="3890772"/>
            <a:ext cx="310896" cy="310896"/>
          </a:xfrm>
          <a:prstGeom prst="ellipse">
            <a:avLst/>
          </a:prstGeom>
          <a:solidFill>
            <a:schemeClr val="accent4"/>
          </a:solidFill>
          <a:ln w="19050">
            <a:solidFill>
              <a:schemeClr val="bg1"/>
            </a:solidFill>
            <a:prstDash val="solid"/>
          </a:ln>
        </p:spPr>
      </p:sp>
      <p:sp>
        <p:nvSpPr>
          <p:cNvPr id="24" name="break mark 4"/>
          <p:cNvSpPr txBox="1"/>
          <p:nvPr/>
        </p:nvSpPr>
        <p:spPr>
          <a:xfrm>
            <a:off x="9811512" y="389077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a:t>
            </a:r>
            <a:endParaRPr lang="en-US" sz="1200" dirty="0"/>
          </a:p>
        </p:txBody>
      </p:sp>
      <p:sp>
        <p:nvSpPr>
          <p:cNvPr id="25" name="server circle"/>
          <p:cNvSpPr/>
          <p:nvPr/>
        </p:nvSpPr>
        <p:spPr>
          <a:xfrm>
            <a:off x="8778240" y="2103120"/>
            <a:ext cx="822960" cy="822960"/>
          </a:xfrm>
          <a:prstGeom prst="ellipse">
            <a:avLst/>
          </a:prstGeom>
          <a:solidFill>
            <a:schemeClr val="tx2"/>
          </a:solidFill>
          <a:ln w="12700">
            <a:solidFill>
              <a:schemeClr val="tx2">
                <a:alpha val="0"/>
              </a:schemeClr>
            </a:solidFill>
            <a:prstDash val="solid"/>
          </a:ln>
        </p:spPr>
      </p:sp>
      <p:pic>
        <p:nvPicPr>
          <p:cNvPr id="26" name="server glyph" descr="preencoded.png">    </p:cNvPr>
          <p:cNvPicPr>
            <a:picLocks noChangeAspect="1"/>
          </p:cNvPicPr>
          <p:nvPr/>
        </p:nvPicPr>
        <p:blipFill>
          <a:blip r:embed="rId4"/>
          <a:stretch>
            <a:fillRect/>
          </a:stretch>
        </p:blipFill>
        <p:spPr>
          <a:xfrm>
            <a:off x="8959291" y="2284171"/>
            <a:ext cx="460858" cy="460858"/>
          </a:xfrm>
          <a:prstGeom prst="rect">
            <a:avLst/>
          </a:prstGeom>
        </p:spPr>
      </p:pic>
      <p:sp>
        <p:nvSpPr>
          <p:cNvPr id="27" name="server label"/>
          <p:cNvSpPr txBox="1"/>
          <p:nvPr/>
        </p:nvSpPr>
        <p:spPr>
          <a:xfrm>
            <a:off x="9692640" y="2350008"/>
            <a:ext cx="1463040" cy="329184"/>
          </a:xfrm>
          <a:prstGeom prst="rect">
            <a:avLst/>
          </a:prstGeom>
          <a:noFill/>
          <a:ln/>
        </p:spPr>
        <p:txBody>
          <a:bodyPr wrap="square" lIns="0" tIns="0" rIns="0" bIns="0" rtlCol="0" anchor="ctr"/>
          <a:lstStyle/>
          <a:p>
            <a:pPr indent="0" marL="0">
              <a:buNone/>
            </a:pPr>
            <a:r>
              <a:rPr lang="en-US" sz="1400" b="1" dirty="0">
                <a:solidFill>
                  <a:schemeClr val="tx1"/>
                </a:solidFill>
              </a:rPr>
              <a:t>edge server</a:t>
            </a:r>
            <a:endParaRPr lang="en-US" sz="1400" dirty="0"/>
          </a:p>
        </p:txBody>
      </p:sp>
      <p:sp>
        <p:nvSpPr>
          <p:cNvPr id="28" name="device 1 circle"/>
          <p:cNvSpPr/>
          <p:nvPr/>
        </p:nvSpPr>
        <p:spPr>
          <a:xfrm>
            <a:off x="6949440" y="4389120"/>
            <a:ext cx="548640" cy="548640"/>
          </a:xfrm>
          <a:prstGeom prst="ellipse">
            <a:avLst/>
          </a:prstGeom>
          <a:solidFill>
            <a:schemeClr val="accent3"/>
          </a:solidFill>
          <a:ln w="12700">
            <a:solidFill>
              <a:schemeClr val="accent3">
                <a:alpha val="0"/>
              </a:schemeClr>
            </a:solidFill>
            <a:prstDash val="solid"/>
          </a:ln>
        </p:spPr>
      </p:sp>
      <p:pic>
        <p:nvPicPr>
          <p:cNvPr id="29" name="device 1 glyph" descr="preencoded.png">    </p:cNvPr>
          <p:cNvPicPr>
            <a:picLocks noChangeAspect="1"/>
          </p:cNvPicPr>
          <p:nvPr/>
        </p:nvPicPr>
        <p:blipFill>
          <a:blip r:embed="rId5"/>
          <a:stretch>
            <a:fillRect/>
          </a:stretch>
        </p:blipFill>
        <p:spPr>
          <a:xfrm>
            <a:off x="7070141" y="4509821"/>
            <a:ext cx="307238" cy="307238"/>
          </a:xfrm>
          <a:prstGeom prst="rect">
            <a:avLst/>
          </a:prstGeom>
        </p:spPr>
      </p:pic>
      <p:sp>
        <p:nvSpPr>
          <p:cNvPr id="30" name="device 2 circle"/>
          <p:cNvSpPr/>
          <p:nvPr/>
        </p:nvSpPr>
        <p:spPr>
          <a:xfrm>
            <a:off x="8001000" y="5303520"/>
            <a:ext cx="548640" cy="548640"/>
          </a:xfrm>
          <a:prstGeom prst="ellipse">
            <a:avLst/>
          </a:prstGeom>
          <a:solidFill>
            <a:schemeClr val="accent3"/>
          </a:solidFill>
          <a:ln w="12700">
            <a:solidFill>
              <a:schemeClr val="accent3">
                <a:alpha val="0"/>
              </a:schemeClr>
            </a:solidFill>
            <a:prstDash val="solid"/>
          </a:ln>
        </p:spPr>
      </p:sp>
      <p:pic>
        <p:nvPicPr>
          <p:cNvPr id="31" name="device 2 glyph" descr="preencoded.png">    </p:cNvPr>
          <p:cNvPicPr>
            <a:picLocks noChangeAspect="1"/>
          </p:cNvPicPr>
          <p:nvPr/>
        </p:nvPicPr>
        <p:blipFill>
          <a:blip r:embed="rId6"/>
          <a:stretch>
            <a:fillRect/>
          </a:stretch>
        </p:blipFill>
        <p:spPr>
          <a:xfrm>
            <a:off x="8121701" y="5424221"/>
            <a:ext cx="307238" cy="307238"/>
          </a:xfrm>
          <a:prstGeom prst="rect">
            <a:avLst/>
          </a:prstGeom>
        </p:spPr>
      </p:pic>
      <p:sp>
        <p:nvSpPr>
          <p:cNvPr id="32" name="device 3 circle"/>
          <p:cNvSpPr/>
          <p:nvPr/>
        </p:nvSpPr>
        <p:spPr>
          <a:xfrm>
            <a:off x="9281160" y="4709160"/>
            <a:ext cx="548640" cy="548640"/>
          </a:xfrm>
          <a:prstGeom prst="ellipse">
            <a:avLst/>
          </a:prstGeom>
          <a:solidFill>
            <a:schemeClr val="accent2"/>
          </a:solidFill>
          <a:ln w="12700">
            <a:solidFill>
              <a:schemeClr val="accent2">
                <a:alpha val="0"/>
              </a:schemeClr>
            </a:solidFill>
            <a:prstDash val="solid"/>
          </a:ln>
        </p:spPr>
      </p:sp>
      <p:pic>
        <p:nvPicPr>
          <p:cNvPr id="33" name="device 3 glyph" descr="preencoded.png">    </p:cNvPr>
          <p:cNvPicPr>
            <a:picLocks noChangeAspect="1"/>
          </p:cNvPicPr>
          <p:nvPr/>
        </p:nvPicPr>
        <p:blipFill>
          <a:blip r:embed="rId7"/>
          <a:stretch>
            <a:fillRect/>
          </a:stretch>
        </p:blipFill>
        <p:spPr>
          <a:xfrm>
            <a:off x="9401861" y="4829861"/>
            <a:ext cx="307238" cy="307238"/>
          </a:xfrm>
          <a:prstGeom prst="rect">
            <a:avLst/>
          </a:prstGeom>
        </p:spPr>
      </p:pic>
      <p:sp>
        <p:nvSpPr>
          <p:cNvPr id="34" name="device 4 circle"/>
          <p:cNvSpPr/>
          <p:nvPr/>
        </p:nvSpPr>
        <p:spPr>
          <a:xfrm>
            <a:off x="10469880" y="5303520"/>
            <a:ext cx="548640" cy="548640"/>
          </a:xfrm>
          <a:prstGeom prst="ellipse">
            <a:avLst/>
          </a:prstGeom>
          <a:solidFill>
            <a:schemeClr val="accent3"/>
          </a:solidFill>
          <a:ln w="12700">
            <a:solidFill>
              <a:schemeClr val="accent3">
                <a:alpha val="0"/>
              </a:schemeClr>
            </a:solidFill>
            <a:prstDash val="solid"/>
          </a:ln>
        </p:spPr>
      </p:sp>
      <p:pic>
        <p:nvPicPr>
          <p:cNvPr id="35" name="device 4 glyph" descr="preencoded.png">    </p:cNvPr>
          <p:cNvPicPr>
            <a:picLocks noChangeAspect="1"/>
          </p:cNvPicPr>
          <p:nvPr/>
        </p:nvPicPr>
        <p:blipFill>
          <a:blip r:embed="rId8"/>
          <a:stretch>
            <a:fillRect/>
          </a:stretch>
        </p:blipFill>
        <p:spPr>
          <a:xfrm>
            <a:off x="10590581" y="5424221"/>
            <a:ext cx="307238" cy="307238"/>
          </a:xfrm>
          <a:prstGeom prst="rect">
            <a:avLst/>
          </a:prstGeom>
        </p:spPr>
      </p:pic>
      <p:sp>
        <p:nvSpPr>
          <p:cNvPr id="36" name="device 5 circle"/>
          <p:cNvSpPr/>
          <p:nvPr/>
        </p:nvSpPr>
        <p:spPr>
          <a:xfrm>
            <a:off x="10881360" y="3886200"/>
            <a:ext cx="548640" cy="548640"/>
          </a:xfrm>
          <a:prstGeom prst="ellipse">
            <a:avLst/>
          </a:prstGeom>
          <a:solidFill>
            <a:schemeClr val="accent2"/>
          </a:solidFill>
          <a:ln w="12700">
            <a:solidFill>
              <a:schemeClr val="accent2">
                <a:alpha val="0"/>
              </a:schemeClr>
            </a:solidFill>
            <a:prstDash val="solid"/>
          </a:ln>
        </p:spPr>
      </p:sp>
      <p:pic>
        <p:nvPicPr>
          <p:cNvPr id="37" name="device 5 glyph" descr="preencoded.png">    </p:cNvPr>
          <p:cNvPicPr>
            <a:picLocks noChangeAspect="1"/>
          </p:cNvPicPr>
          <p:nvPr/>
        </p:nvPicPr>
        <p:blipFill>
          <a:blip r:embed="rId9"/>
          <a:stretch>
            <a:fillRect/>
          </a:stretch>
        </p:blipFill>
        <p:spPr>
          <a:xfrm>
            <a:off x="11002061" y="4006901"/>
            <a:ext cx="307238" cy="307238"/>
          </a:xfrm>
          <a:prstGeom prst="rect">
            <a:avLst/>
          </a:prstGeom>
        </p:spPr>
      </p:pic>
      <p:sp>
        <p:nvSpPr>
          <p:cNvPr id="38" name="out of range label"/>
          <p:cNvSpPr txBox="1"/>
          <p:nvPr/>
        </p:nvSpPr>
        <p:spPr>
          <a:xfrm>
            <a:off x="6720840" y="3337560"/>
            <a:ext cx="1463040" cy="292608"/>
          </a:xfrm>
          <a:prstGeom prst="rect">
            <a:avLst/>
          </a:prstGeom>
          <a:noFill/>
          <a:ln/>
        </p:spPr>
        <p:txBody>
          <a:bodyPr wrap="square" lIns="0" tIns="0" rIns="0" bIns="0" rtlCol="0" anchor="ctr"/>
          <a:lstStyle/>
          <a:p>
            <a:pPr indent="0" marL="0">
              <a:buNone/>
            </a:pPr>
            <a:r>
              <a:rPr lang="en-US" sz="1300" i="1" dirty="0">
                <a:solidFill>
                  <a:schemeClr val="accent4"/>
                </a:solidFill>
              </a:rPr>
              <a:t>out of range</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INTRODUCTION</a:t>
            </a:r>
            <a:endParaRPr lang="en-US" sz="1200" dirty="0"/>
          </a:p>
        </p:txBody>
      </p:sp>
      <p:sp>
        <p:nvSpPr>
          <p:cNvPr id="3" name="Text 1"/>
          <p:cNvSpPr/>
          <p:nvPr>
            <p:ph idx="102" type="title" hasCustomPrompt="1"/>
          </p:nvPr>
        </p:nvSpPr>
        <p:spPr>
          <a:xfrm>
            <a:off x="548640" y="585216"/>
            <a:ext cx="11094415" cy="658368"/>
          </a:xfrm>
          <a:prstGeom prst="rect">
            <a:avLst/>
          </a:prstGeom>
          <a:noFill/>
          <a:ln/>
        </p:spPr>
        <p:txBody>
          <a:bodyPr wrap="square" lIns="0" tIns="0" rIns="0" bIns="0" rtlCol="0" anchor="t"/>
          <a:lstStyle/>
          <a:p>
            <a:pPr algn="l" indent="0" marL="0">
              <a:buNone/>
            </a:pPr>
            <a:r>
              <a:rPr lang="en-US" sz="3600" b="1" dirty="0">
                <a:solidFill>
                  <a:schemeClr val="tx1"/>
                </a:solidFill>
              </a:rPr>
              <a:t>Drones carry updates; reach is a choice</a:t>
            </a:r>
            <a:endParaRPr lang="en-US" sz="3600" dirty="0"/>
          </a:p>
        </p:txBody>
      </p:sp>
      <p:sp>
        <p:nvSpPr>
          <p:cNvPr id="4" name="Text 1"/>
          <p:cNvSpPr/>
          <p:nvPr>
            <p:ph idx="103" type="body" hasCustomPrompt="1"/>
          </p:nvPr>
        </p:nvSpPr>
        <p:spPr>
          <a:xfrm>
            <a:off x="548640" y="1298448"/>
            <a:ext cx="11094415" cy="411480"/>
          </a:xfrm>
          <a:prstGeom prst="rect">
            <a:avLst/>
          </a:prstGeom>
          <a:noFill/>
          <a:ln/>
        </p:spPr>
        <p:txBody>
          <a:bodyPr wrap="square" lIns="0" tIns="0" rIns="0" bIns="0" rtlCol="0" anchor="t"/>
          <a:lstStyle/>
          <a:p>
            <a:pPr indent="0" marL="0">
              <a:buNone/>
            </a:pPr>
            <a:r>
              <a:rPr lang="en-US" sz="1700" dirty="0">
                <a:solidFill>
                  <a:schemeClr val="accent3"/>
                </a:solidFill>
              </a:rPr>
              <a:t>A drone acting as a data mule flies updates between devices and the server, on a limited flight budget.</a:t>
            </a:r>
            <a:endParaRPr lang="en-US" sz="1700" dirty="0"/>
          </a:p>
        </p:txBody>
      </p:sp>
      <p:sp>
        <p:nvSpPr>
          <p:cNvPr id="5" name="wide card"/>
          <p:cNvSpPr/>
          <p:nvPr/>
        </p:nvSpPr>
        <p:spPr>
          <a:xfrm>
            <a:off x="548640" y="1920240"/>
            <a:ext cx="5120640" cy="1325880"/>
          </a:xfrm>
          <a:prstGeom prst="roundRect">
            <a:avLst>
              <a:gd name="adj" fmla="val 5517"/>
            </a:avLst>
          </a:prstGeom>
          <a:solidFill>
            <a:schemeClr val="bg2"/>
          </a:solidFill>
          <a:ln w="12700">
            <a:solidFill>
              <a:schemeClr val="bg2">
                <a:alpha val="0"/>
              </a:schemeClr>
            </a:solidFill>
            <a:prstDash val="solid"/>
          </a:ln>
        </p:spPr>
      </p:sp>
      <p:sp>
        <p:nvSpPr>
          <p:cNvPr id="6" name="Wide band (20 MHz): fast, short reach"/>
          <p:cNvSpPr txBox="1"/>
          <p:nvPr/>
        </p:nvSpPr>
        <p:spPr>
          <a:xfrm>
            <a:off x="822960" y="2057400"/>
            <a:ext cx="4572000" cy="109728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Wide band (20 MHz): fast, short reach</a:t>
            </a:r>
            <a:endParaRPr lang="en-US" sz="1800" dirty="0"/>
          </a:p>
          <a:p>
            <a:pPr indent="0" marL="0">
              <a:buNone/>
            </a:pPr>
            <a:r>
              <a:rPr lang="en-US" sz="1500" dirty="0">
                <a:solidFill>
                  <a:schemeClr val="tx1"/>
                </a:solidFill>
              </a:rPr>
              <a:t>Reaches 60 m and transfers quickly. Many stops, so most of the mission is spent flying between them.</a:t>
            </a:r>
            <a:endParaRPr lang="en-US" sz="1800" dirty="0"/>
          </a:p>
        </p:txBody>
      </p:sp>
      <p:sp>
        <p:nvSpPr>
          <p:cNvPr id="7" name="narrow card"/>
          <p:cNvSpPr/>
          <p:nvPr/>
        </p:nvSpPr>
        <p:spPr>
          <a:xfrm>
            <a:off x="548640" y="3383280"/>
            <a:ext cx="5120640" cy="1325880"/>
          </a:xfrm>
          <a:prstGeom prst="roundRect">
            <a:avLst>
              <a:gd name="adj" fmla="val 5517"/>
            </a:avLst>
          </a:prstGeom>
          <a:solidFill>
            <a:schemeClr val="bg2"/>
          </a:solidFill>
          <a:ln w="12700">
            <a:solidFill>
              <a:schemeClr val="bg2">
                <a:alpha val="0"/>
              </a:schemeClr>
            </a:solidFill>
            <a:prstDash val="solid"/>
          </a:ln>
        </p:spPr>
      </p:sp>
      <p:sp>
        <p:nvSpPr>
          <p:cNvPr id="8" name="Narrow band (1.4 MHz): slow, long reach"/>
          <p:cNvSpPr txBox="1"/>
          <p:nvPr/>
        </p:nvSpPr>
        <p:spPr>
          <a:xfrm>
            <a:off x="822960" y="3520440"/>
            <a:ext cx="4572000" cy="109728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Narrow band (1.4 MHz): slow, long reach</a:t>
            </a:r>
            <a:endParaRPr lang="en-US" sz="1800" dirty="0"/>
          </a:p>
          <a:p>
            <a:pPr indent="0" marL="0">
              <a:buNone/>
            </a:pPr>
            <a:r>
              <a:rPr lang="en-US" sz="1500" dirty="0">
                <a:solidFill>
                  <a:schemeClr val="tx1"/>
                </a:solidFill>
              </a:rPr>
              <a:t>Reaches 232 m but transfers slowly. One stop can cover the field, so the drone hovers longer but flies far less.</a:t>
            </a:r>
            <a:endParaRPr lang="en-US" sz="1800" dirty="0"/>
          </a:p>
        </p:txBody>
      </p:sp>
      <p:sp>
        <p:nvSpPr>
          <p:cNvPr id="9" name="takeaway card"/>
          <p:cNvSpPr/>
          <p:nvPr/>
        </p:nvSpPr>
        <p:spPr>
          <a:xfrm>
            <a:off x="548640" y="4846320"/>
            <a:ext cx="5120640" cy="1280160"/>
          </a:xfrm>
          <a:prstGeom prst="roundRect">
            <a:avLst>
              <a:gd name="adj" fmla="val 5714"/>
            </a:avLst>
          </a:prstGeom>
          <a:solidFill>
            <a:schemeClr val="accent1">
              <a:alpha val="14000"/>
            </a:schemeClr>
          </a:solidFill>
          <a:ln w="12700">
            <a:solidFill>
              <a:schemeClr val="accent1">
                <a:alpha val="0"/>
              </a:schemeClr>
            </a:solidFill>
            <a:prstDash val="solid"/>
          </a:ln>
        </p:spPr>
      </p:sp>
      <p:sp>
        <p:nvSpPr>
          <p:cNvPr id="10" name="takeaway"/>
          <p:cNvSpPr txBox="1"/>
          <p:nvPr/>
        </p:nvSpPr>
        <p:spPr>
          <a:xfrm>
            <a:off x="822960" y="4937760"/>
            <a:ext cx="4572000" cy="1097280"/>
          </a:xfrm>
          <a:prstGeom prst="rect">
            <a:avLst/>
          </a:prstGeom>
          <a:noFill/>
          <a:ln/>
        </p:spPr>
        <p:txBody>
          <a:bodyPr wrap="square" lIns="0" tIns="0" rIns="0" bIns="0" rtlCol="0" anchor="ctr"/>
          <a:lstStyle/>
          <a:p>
            <a:pPr indent="0" marL="0">
              <a:buNone/>
            </a:pPr>
            <a:r>
              <a:rPr lang="en-US" sz="1500" dirty="0">
                <a:solidFill>
                  <a:schemeClr val="tx1"/>
                </a:solidFill>
              </a:rPr>
              <a:t>Which one wins depends on how many devices there are, where they are and how much time is left. </a:t>
            </a:r>
            <a:pPr indent="0" marL="0">
              <a:buNone/>
            </a:pPr>
            <a:r>
              <a:rPr lang="en-US" sz="1500" b="1" dirty="0">
                <a:solidFill>
                  <a:schemeClr val="tx1"/>
                </a:solidFill>
              </a:rPr>
              <a:t>So FeRRy picks the band and the route together, before every flight.</a:t>
            </a:r>
            <a:endParaRPr lang="en-US" sz="1500" dirty="0"/>
          </a:p>
        </p:txBody>
      </p:sp>
      <p:sp>
        <p:nvSpPr>
          <p:cNvPr id="11" name="ring 1"/>
          <p:cNvSpPr/>
          <p:nvPr/>
        </p:nvSpPr>
        <p:spPr>
          <a:xfrm>
            <a:off x="6080760" y="2258568"/>
            <a:ext cx="3566160" cy="3566160"/>
          </a:xfrm>
          <a:prstGeom prst="ellipse">
            <a:avLst/>
          </a:prstGeom>
          <a:solidFill>
            <a:schemeClr val="accent5">
              <a:alpha val="10000"/>
            </a:schemeClr>
          </a:solidFill>
          <a:ln w="25400">
            <a:solidFill>
              <a:schemeClr val="accent5"/>
            </a:solidFill>
            <a:prstDash val="solid"/>
          </a:ln>
        </p:spPr>
      </p:sp>
      <p:sp>
        <p:nvSpPr>
          <p:cNvPr id="12" name="ring 2"/>
          <p:cNvSpPr/>
          <p:nvPr/>
        </p:nvSpPr>
        <p:spPr>
          <a:xfrm>
            <a:off x="6941557" y="3119365"/>
            <a:ext cx="1844566" cy="1844566"/>
          </a:xfrm>
          <a:prstGeom prst="ellipse">
            <a:avLst/>
          </a:prstGeom>
          <a:solidFill>
            <a:schemeClr val="accent2">
              <a:alpha val="12000"/>
            </a:schemeClr>
          </a:solidFill>
          <a:ln w="25400">
            <a:solidFill>
              <a:schemeClr val="accent2"/>
            </a:solidFill>
            <a:prstDash val="solid"/>
          </a:ln>
        </p:spPr>
      </p:sp>
      <p:sp>
        <p:nvSpPr>
          <p:cNvPr id="13" name="ring 3"/>
          <p:cNvSpPr/>
          <p:nvPr/>
        </p:nvSpPr>
        <p:spPr>
          <a:xfrm>
            <a:off x="7402699" y="3580507"/>
            <a:ext cx="922283" cy="922283"/>
          </a:xfrm>
          <a:prstGeom prst="ellipse">
            <a:avLst/>
          </a:prstGeom>
          <a:solidFill>
            <a:schemeClr val="accent6">
              <a:alpha val="20000"/>
            </a:schemeClr>
          </a:solidFill>
          <a:ln w="25400">
            <a:solidFill>
              <a:schemeClr val="accent6"/>
            </a:solidFill>
            <a:prstDash val="solid"/>
          </a:ln>
        </p:spPr>
      </p:sp>
      <p:sp>
        <p:nvSpPr>
          <p:cNvPr id="14" name="field square"/>
          <p:cNvSpPr/>
          <p:nvPr/>
        </p:nvSpPr>
        <p:spPr>
          <a:xfrm>
            <a:off x="7095271" y="3273079"/>
            <a:ext cx="1537138" cy="1537138"/>
          </a:xfrm>
          <a:prstGeom prst="rect">
            <a:avLst/>
          </a:prstGeom>
          <a:solidFill>
            <a:schemeClr val="bg1">
              <a:alpha val="0"/>
            </a:schemeClr>
          </a:solidFill>
          <a:ln w="12700">
            <a:solidFill>
              <a:schemeClr val="accent3"/>
            </a:solidFill>
            <a:prstDash val="dash"/>
          </a:ln>
        </p:spPr>
      </p:sp>
      <p:sp>
        <p:nvSpPr>
          <p:cNvPr id="15" name="device 1"/>
          <p:cNvSpPr/>
          <p:nvPr/>
        </p:nvSpPr>
        <p:spPr>
          <a:xfrm>
            <a:off x="7237318" y="3522726"/>
            <a:ext cx="146304" cy="146304"/>
          </a:xfrm>
          <a:prstGeom prst="ellipse">
            <a:avLst/>
          </a:prstGeom>
          <a:solidFill>
            <a:schemeClr val="tx1"/>
          </a:solidFill>
          <a:ln w="9525">
            <a:solidFill>
              <a:schemeClr val="bg1"/>
            </a:solidFill>
            <a:prstDash val="solid"/>
          </a:ln>
        </p:spPr>
      </p:sp>
      <p:sp>
        <p:nvSpPr>
          <p:cNvPr id="16" name="device 2"/>
          <p:cNvSpPr/>
          <p:nvPr/>
        </p:nvSpPr>
        <p:spPr>
          <a:xfrm>
            <a:off x="8213401" y="3430498"/>
            <a:ext cx="146304" cy="146304"/>
          </a:xfrm>
          <a:prstGeom prst="ellipse">
            <a:avLst/>
          </a:prstGeom>
          <a:solidFill>
            <a:schemeClr val="tx1"/>
          </a:solidFill>
          <a:ln w="9525">
            <a:solidFill>
              <a:schemeClr val="bg1"/>
            </a:solidFill>
            <a:prstDash val="solid"/>
          </a:ln>
        </p:spPr>
      </p:sp>
      <p:sp>
        <p:nvSpPr>
          <p:cNvPr id="17" name="device 3"/>
          <p:cNvSpPr/>
          <p:nvPr/>
        </p:nvSpPr>
        <p:spPr>
          <a:xfrm>
            <a:off x="8436286" y="4183695"/>
            <a:ext cx="146304" cy="146304"/>
          </a:xfrm>
          <a:prstGeom prst="ellipse">
            <a:avLst/>
          </a:prstGeom>
          <a:solidFill>
            <a:schemeClr val="tx1"/>
          </a:solidFill>
          <a:ln w="9525">
            <a:solidFill>
              <a:schemeClr val="bg1"/>
            </a:solidFill>
            <a:prstDash val="solid"/>
          </a:ln>
        </p:spPr>
      </p:sp>
      <p:sp>
        <p:nvSpPr>
          <p:cNvPr id="18" name="device 4"/>
          <p:cNvSpPr/>
          <p:nvPr/>
        </p:nvSpPr>
        <p:spPr>
          <a:xfrm>
            <a:off x="7529375" y="4506494"/>
            <a:ext cx="146304" cy="146304"/>
          </a:xfrm>
          <a:prstGeom prst="ellipse">
            <a:avLst/>
          </a:prstGeom>
          <a:solidFill>
            <a:schemeClr val="tx1"/>
          </a:solidFill>
          <a:ln w="9525">
            <a:solidFill>
              <a:schemeClr val="bg1"/>
            </a:solidFill>
            <a:prstDash val="solid"/>
          </a:ln>
        </p:spPr>
      </p:sp>
      <p:sp>
        <p:nvSpPr>
          <p:cNvPr id="19" name="device 5"/>
          <p:cNvSpPr/>
          <p:nvPr/>
        </p:nvSpPr>
        <p:spPr>
          <a:xfrm>
            <a:off x="8059687" y="4160638"/>
            <a:ext cx="146304" cy="146304"/>
          </a:xfrm>
          <a:prstGeom prst="ellipse">
            <a:avLst/>
          </a:prstGeom>
          <a:solidFill>
            <a:schemeClr val="tx1"/>
          </a:solidFill>
          <a:ln w="9525">
            <a:solidFill>
              <a:schemeClr val="bg1"/>
            </a:solidFill>
            <a:prstDash val="solid"/>
          </a:ln>
        </p:spPr>
      </p:sp>
      <p:sp>
        <p:nvSpPr>
          <p:cNvPr id="20" name="device 6"/>
          <p:cNvSpPr/>
          <p:nvPr/>
        </p:nvSpPr>
        <p:spPr>
          <a:xfrm>
            <a:off x="7098976" y="4060724"/>
            <a:ext cx="146304" cy="146304"/>
          </a:xfrm>
          <a:prstGeom prst="ellipse">
            <a:avLst/>
          </a:prstGeom>
          <a:solidFill>
            <a:schemeClr val="tx1"/>
          </a:solidFill>
          <a:ln w="9525">
            <a:solidFill>
              <a:schemeClr val="bg1"/>
            </a:solidFill>
            <a:prstDash val="solid"/>
          </a:ln>
        </p:spPr>
      </p:sp>
      <p:sp>
        <p:nvSpPr>
          <p:cNvPr id="21" name="drone circle"/>
          <p:cNvSpPr/>
          <p:nvPr/>
        </p:nvSpPr>
        <p:spPr>
          <a:xfrm>
            <a:off x="7653528" y="3831336"/>
            <a:ext cx="420624" cy="420624"/>
          </a:xfrm>
          <a:prstGeom prst="ellipse">
            <a:avLst/>
          </a:prstGeom>
          <a:solidFill>
            <a:schemeClr val="accent1"/>
          </a:solidFill>
          <a:ln w="12700">
            <a:solidFill>
              <a:schemeClr val="accent1">
                <a:alpha val="0"/>
              </a:schemeClr>
            </a:solidFill>
            <a:prstDash val="solid"/>
          </a:ln>
        </p:spPr>
      </p:sp>
      <p:pic>
        <p:nvPicPr>
          <p:cNvPr id="22" name="drone glyph" descr="preencoded.png">    </p:cNvPr>
          <p:cNvPicPr>
            <a:picLocks noChangeAspect="1"/>
          </p:cNvPicPr>
          <p:nvPr/>
        </p:nvPicPr>
        <p:blipFill>
          <a:blip r:embed="rId1"/>
          <a:stretch>
            <a:fillRect/>
          </a:stretch>
        </p:blipFill>
        <p:spPr>
          <a:xfrm>
            <a:off x="7746065" y="3923873"/>
            <a:ext cx="235549" cy="235549"/>
          </a:xfrm>
          <a:prstGeom prst="rect">
            <a:avLst/>
          </a:prstGeom>
        </p:spPr>
      </p:pic>
      <p:sp>
        <p:nvSpPr>
          <p:cNvPr id="23" name="legend ring 1"/>
          <p:cNvSpPr/>
          <p:nvPr/>
        </p:nvSpPr>
        <p:spPr>
          <a:xfrm>
            <a:off x="10012680" y="2432304"/>
            <a:ext cx="329184" cy="329184"/>
          </a:xfrm>
          <a:prstGeom prst="ellipse">
            <a:avLst/>
          </a:prstGeom>
          <a:solidFill>
            <a:schemeClr val="accent5">
              <a:alpha val="10000"/>
            </a:schemeClr>
          </a:solidFill>
          <a:ln w="25400">
            <a:solidFill>
              <a:schemeClr val="accent5"/>
            </a:solidFill>
            <a:prstDash val="solid"/>
          </a:ln>
        </p:spPr>
      </p:sp>
      <p:sp>
        <p:nvSpPr>
          <p:cNvPr id="24" name="legend Narrow band"/>
          <p:cNvSpPr txBox="1"/>
          <p:nvPr/>
        </p:nvSpPr>
        <p:spPr>
          <a:xfrm>
            <a:off x="10469880" y="2377440"/>
            <a:ext cx="1188720" cy="548640"/>
          </a:xfrm>
          <a:prstGeom prst="rect">
            <a:avLst/>
          </a:prstGeom>
          <a:noFill/>
          <a:ln/>
        </p:spPr>
        <p:txBody>
          <a:bodyPr wrap="square" lIns="0" tIns="0" rIns="0" bIns="0" rtlCol="0" anchor="t"/>
          <a:lstStyle/>
          <a:p>
            <a:pPr indent="0" marL="0">
              <a:buNone/>
            </a:pPr>
            <a:r>
              <a:rPr lang="en-US" sz="1300" b="1" dirty="0">
                <a:solidFill>
                  <a:schemeClr val="tx1"/>
                </a:solidFill>
              </a:rPr>
              <a:t>Narrow band</a:t>
            </a:r>
            <a:endParaRPr lang="en-US" sz="1300" dirty="0"/>
          </a:p>
          <a:p>
            <a:pPr indent="0" marL="0">
              <a:buNone/>
            </a:pPr>
            <a:r>
              <a:rPr lang="en-US" sz="1200" dirty="0">
                <a:solidFill>
                  <a:schemeClr val="accent3"/>
                </a:solidFill>
              </a:rPr>
              <a:t>1.4 MHz · 232 m</a:t>
            </a:r>
            <a:endParaRPr lang="en-US" sz="1300" dirty="0"/>
          </a:p>
        </p:txBody>
      </p:sp>
      <p:sp>
        <p:nvSpPr>
          <p:cNvPr id="25" name="legend ring 2"/>
          <p:cNvSpPr/>
          <p:nvPr/>
        </p:nvSpPr>
        <p:spPr>
          <a:xfrm>
            <a:off x="10012680" y="3145536"/>
            <a:ext cx="329184" cy="329184"/>
          </a:xfrm>
          <a:prstGeom prst="ellipse">
            <a:avLst/>
          </a:prstGeom>
          <a:solidFill>
            <a:schemeClr val="accent2">
              <a:alpha val="12000"/>
            </a:schemeClr>
          </a:solidFill>
          <a:ln w="25400">
            <a:solidFill>
              <a:schemeClr val="accent2"/>
            </a:solidFill>
            <a:prstDash val="solid"/>
          </a:ln>
        </p:spPr>
      </p:sp>
      <p:sp>
        <p:nvSpPr>
          <p:cNvPr id="26" name="legend Medium band"/>
          <p:cNvSpPr txBox="1"/>
          <p:nvPr/>
        </p:nvSpPr>
        <p:spPr>
          <a:xfrm>
            <a:off x="10469880" y="3090672"/>
            <a:ext cx="1188720" cy="548640"/>
          </a:xfrm>
          <a:prstGeom prst="rect">
            <a:avLst/>
          </a:prstGeom>
          <a:noFill/>
          <a:ln/>
        </p:spPr>
        <p:txBody>
          <a:bodyPr wrap="square" lIns="0" tIns="0" rIns="0" bIns="0" rtlCol="0" anchor="t"/>
          <a:lstStyle/>
          <a:p>
            <a:pPr indent="0" marL="0">
              <a:buNone/>
            </a:pPr>
            <a:r>
              <a:rPr lang="en-US" sz="1300" b="1" dirty="0">
                <a:solidFill>
                  <a:schemeClr val="tx1"/>
                </a:solidFill>
              </a:rPr>
              <a:t>Medium band</a:t>
            </a:r>
            <a:endParaRPr lang="en-US" sz="1300" dirty="0"/>
          </a:p>
          <a:p>
            <a:pPr indent="0" marL="0">
              <a:buNone/>
            </a:pPr>
            <a:r>
              <a:rPr lang="en-US" sz="1200" dirty="0">
                <a:solidFill>
                  <a:schemeClr val="accent3"/>
                </a:solidFill>
              </a:rPr>
              <a:t>5 MHz · 120 m</a:t>
            </a:r>
            <a:endParaRPr lang="en-US" sz="1300" dirty="0"/>
          </a:p>
        </p:txBody>
      </p:sp>
      <p:sp>
        <p:nvSpPr>
          <p:cNvPr id="27" name="legend ring 3"/>
          <p:cNvSpPr/>
          <p:nvPr/>
        </p:nvSpPr>
        <p:spPr>
          <a:xfrm>
            <a:off x="10012680" y="3858768"/>
            <a:ext cx="329184" cy="329184"/>
          </a:xfrm>
          <a:prstGeom prst="ellipse">
            <a:avLst/>
          </a:prstGeom>
          <a:solidFill>
            <a:schemeClr val="accent6">
              <a:alpha val="20000"/>
            </a:schemeClr>
          </a:solidFill>
          <a:ln w="25400">
            <a:solidFill>
              <a:schemeClr val="accent6"/>
            </a:solidFill>
            <a:prstDash val="solid"/>
          </a:ln>
        </p:spPr>
      </p:sp>
      <p:sp>
        <p:nvSpPr>
          <p:cNvPr id="28" name="legend Wide band"/>
          <p:cNvSpPr txBox="1"/>
          <p:nvPr/>
        </p:nvSpPr>
        <p:spPr>
          <a:xfrm>
            <a:off x="10469880" y="3803904"/>
            <a:ext cx="1188720" cy="548640"/>
          </a:xfrm>
          <a:prstGeom prst="rect">
            <a:avLst/>
          </a:prstGeom>
          <a:noFill/>
          <a:ln/>
        </p:spPr>
        <p:txBody>
          <a:bodyPr wrap="square" lIns="0" tIns="0" rIns="0" bIns="0" rtlCol="0" anchor="t"/>
          <a:lstStyle/>
          <a:p>
            <a:pPr indent="0" marL="0">
              <a:buNone/>
            </a:pPr>
            <a:r>
              <a:rPr lang="en-US" sz="1300" b="1" dirty="0">
                <a:solidFill>
                  <a:schemeClr val="tx1"/>
                </a:solidFill>
              </a:rPr>
              <a:t>Wide band</a:t>
            </a:r>
            <a:endParaRPr lang="en-US" sz="1300" dirty="0"/>
          </a:p>
          <a:p>
            <a:pPr indent="0" marL="0">
              <a:buNone/>
            </a:pPr>
            <a:r>
              <a:rPr lang="en-US" sz="1200" dirty="0">
                <a:solidFill>
                  <a:schemeClr val="accent3"/>
                </a:solidFill>
              </a:rPr>
              <a:t>20 MHz · 60 m</a:t>
            </a:r>
            <a:endParaRPr lang="en-US" sz="1300" dirty="0"/>
          </a:p>
        </p:txBody>
      </p:sp>
      <p:sp>
        <p:nvSpPr>
          <p:cNvPr id="29" name="legend field"/>
          <p:cNvSpPr/>
          <p:nvPr/>
        </p:nvSpPr>
        <p:spPr>
          <a:xfrm>
            <a:off x="10030968" y="4590288"/>
            <a:ext cx="292608" cy="292608"/>
          </a:xfrm>
          <a:prstGeom prst="rect">
            <a:avLst/>
          </a:prstGeom>
          <a:solidFill>
            <a:schemeClr val="bg1">
              <a:alpha val="0"/>
            </a:schemeClr>
          </a:solidFill>
          <a:ln w="12700">
            <a:solidFill>
              <a:schemeClr val="accent3"/>
            </a:solidFill>
            <a:prstDash val="dash"/>
          </a:ln>
        </p:spPr>
      </p:sp>
      <p:sp>
        <p:nvSpPr>
          <p:cNvPr id="30" name="legend field text"/>
          <p:cNvSpPr txBox="1"/>
          <p:nvPr/>
        </p:nvSpPr>
        <p:spPr>
          <a:xfrm>
            <a:off x="10469880" y="4517136"/>
            <a:ext cx="1188720" cy="548640"/>
          </a:xfrm>
          <a:prstGeom prst="rect">
            <a:avLst/>
          </a:prstGeom>
          <a:noFill/>
          <a:ln/>
        </p:spPr>
        <p:txBody>
          <a:bodyPr wrap="square" lIns="0" tIns="0" rIns="0" bIns="0" rtlCol="0" anchor="t"/>
          <a:lstStyle/>
          <a:p>
            <a:pPr indent="0" marL="0">
              <a:buNone/>
            </a:pPr>
            <a:r>
              <a:rPr lang="en-US" sz="1300" b="1" dirty="0">
                <a:solidFill>
                  <a:schemeClr val="tx1"/>
                </a:solidFill>
              </a:rPr>
              <a:t>Test field</a:t>
            </a:r>
            <a:endParaRPr lang="en-US" sz="1300" dirty="0"/>
          </a:p>
          <a:p>
            <a:pPr indent="0" marL="0">
              <a:buNone/>
            </a:pPr>
            <a:r>
              <a:rPr lang="en-US" sz="1200" dirty="0">
                <a:solidFill>
                  <a:schemeClr val="accent3"/>
                </a:solidFill>
              </a:rPr>
              <a:t>200 × 200 m</a:t>
            </a:r>
            <a:endParaRPr lang="en-US" sz="1300" dirty="0"/>
          </a:p>
        </p:txBody>
      </p:sp>
      <p:sp>
        <p:nvSpPr>
          <p:cNvPr id="31" name="legend device"/>
          <p:cNvSpPr/>
          <p:nvPr/>
        </p:nvSpPr>
        <p:spPr>
          <a:xfrm>
            <a:off x="10104120" y="5376672"/>
            <a:ext cx="146304" cy="146304"/>
          </a:xfrm>
          <a:prstGeom prst="ellipse">
            <a:avLst/>
          </a:prstGeom>
          <a:solidFill>
            <a:schemeClr val="tx1"/>
          </a:solidFill>
          <a:ln w="9525">
            <a:solidFill>
              <a:schemeClr val="bg1"/>
            </a:solidFill>
            <a:prstDash val="solid"/>
          </a:ln>
        </p:spPr>
      </p:sp>
      <p:sp>
        <p:nvSpPr>
          <p:cNvPr id="32" name="legend device text"/>
          <p:cNvSpPr txBox="1"/>
          <p:nvPr/>
        </p:nvSpPr>
        <p:spPr>
          <a:xfrm>
            <a:off x="10469880" y="5230368"/>
            <a:ext cx="1188720" cy="548640"/>
          </a:xfrm>
          <a:prstGeom prst="rect">
            <a:avLst/>
          </a:prstGeom>
          <a:noFill/>
          <a:ln/>
        </p:spPr>
        <p:txBody>
          <a:bodyPr wrap="square" lIns="0" tIns="0" rIns="0" bIns="0" rtlCol="0" anchor="t"/>
          <a:lstStyle/>
          <a:p>
            <a:pPr indent="0" marL="0">
              <a:buNone/>
            </a:pPr>
            <a:r>
              <a:rPr lang="en-US" sz="1300" b="1" dirty="0">
                <a:solidFill>
                  <a:schemeClr val="tx1"/>
                </a:solidFill>
              </a:rPr>
              <a:t>Device</a:t>
            </a:r>
            <a:endParaRPr lang="en-US" sz="1300" dirty="0"/>
          </a:p>
          <a:p>
            <a:pPr indent="0" marL="0">
              <a:buNone/>
            </a:pPr>
            <a:r>
              <a:rPr lang="en-US" sz="1200" dirty="0">
                <a:solidFill>
                  <a:schemeClr val="accent3"/>
                </a:solidFill>
              </a:rPr>
              <a:t>6 per field here</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INTRODUCTION</a:t>
            </a:r>
            <a:endParaRPr lang="en-US" sz="1200" dirty="0"/>
          </a:p>
        </p:txBody>
      </p:sp>
      <p:sp>
        <p:nvSpPr>
          <p:cNvPr id="3" name="Text 1"/>
          <p:cNvSpPr/>
          <p:nvPr>
            <p:ph idx="102" type="title" hasCustomPrompt="1"/>
          </p:nvPr>
        </p:nvSpPr>
        <p:spPr>
          <a:xfrm>
            <a:off x="548640" y="585216"/>
            <a:ext cx="11094415" cy="658368"/>
          </a:xfrm>
          <a:prstGeom prst="rect">
            <a:avLst/>
          </a:prstGeom>
          <a:noFill/>
          <a:ln/>
        </p:spPr>
        <p:txBody>
          <a:bodyPr wrap="square" lIns="0" tIns="0" rIns="0" bIns="0" rtlCol="0" anchor="t"/>
          <a:lstStyle/>
          <a:p>
            <a:pPr algn="l" indent="0" marL="0">
              <a:buNone/>
            </a:pPr>
            <a:r>
              <a:rPr lang="en-US" sz="3600" b="1" dirty="0">
                <a:solidFill>
                  <a:schemeClr val="tx1"/>
                </a:solidFill>
              </a:rPr>
              <a:t>What the paper contributes</a:t>
            </a:r>
            <a:endParaRPr lang="en-US" sz="3600" dirty="0"/>
          </a:p>
        </p:txBody>
      </p:sp>
      <p:sp>
        <p:nvSpPr>
          <p:cNvPr id="4" name="Text 1"/>
          <p:cNvSpPr/>
          <p:nvPr>
            <p:ph idx="103" type="body" hasCustomPrompt="1"/>
          </p:nvPr>
        </p:nvSpPr>
        <p:spPr>
          <a:xfrm>
            <a:off x="548640" y="1298448"/>
            <a:ext cx="11094415" cy="411480"/>
          </a:xfrm>
          <a:prstGeom prst="rect">
            <a:avLst/>
          </a:prstGeom>
          <a:noFill/>
          <a:ln/>
        </p:spPr>
        <p:txBody>
          <a:bodyPr wrap="square" lIns="0" tIns="0" rIns="0" bIns="0" rtlCol="0" anchor="t"/>
          <a:lstStyle/>
          <a:p>
            <a:pPr indent="0" marL="0">
              <a:buNone/>
            </a:pPr>
            <a:r>
              <a:rPr lang="en-US" sz="1700" dirty="0">
                <a:solidFill>
                  <a:schemeClr val="accent3"/>
                </a:solidFill>
              </a:rPr>
              <a:t>Four contributions, from the core idea to how we evaluated it.</a:t>
            </a:r>
            <a:endParaRPr lang="en-US" sz="1700" dirty="0"/>
          </a:p>
        </p:txBody>
      </p:sp>
      <p:sp>
        <p:nvSpPr>
          <p:cNvPr id="5" name="contribution 1"/>
          <p:cNvSpPr/>
          <p:nvPr/>
        </p:nvSpPr>
        <p:spPr>
          <a:xfrm>
            <a:off x="548640" y="1920240"/>
            <a:ext cx="5454396" cy="1783080"/>
          </a:xfrm>
          <a:prstGeom prst="roundRect">
            <a:avLst>
              <a:gd name="adj" fmla="val 4103"/>
            </a:avLst>
          </a:prstGeom>
          <a:solidFill>
            <a:schemeClr val="bg2"/>
          </a:solidFill>
          <a:ln w="12700">
            <a:solidFill>
              <a:schemeClr val="bg2">
                <a:alpha val="0"/>
              </a:schemeClr>
            </a:solidFill>
            <a:prstDash val="solid"/>
          </a:ln>
        </p:spPr>
      </p:sp>
      <p:sp>
        <p:nvSpPr>
          <p:cNvPr id="6" name="Reach as a mission decision circle"/>
          <p:cNvSpPr/>
          <p:nvPr/>
        </p:nvSpPr>
        <p:spPr>
          <a:xfrm>
            <a:off x="822960" y="2194560"/>
            <a:ext cx="731520" cy="731520"/>
          </a:xfrm>
          <a:prstGeom prst="ellipse">
            <a:avLst/>
          </a:prstGeom>
          <a:solidFill>
            <a:schemeClr val="accent1"/>
          </a:solidFill>
          <a:ln w="12700">
            <a:solidFill>
              <a:schemeClr val="accent1">
                <a:alpha val="0"/>
              </a:schemeClr>
            </a:solidFill>
            <a:prstDash val="solid"/>
          </a:ln>
        </p:spPr>
      </p:sp>
      <p:pic>
        <p:nvPicPr>
          <p:cNvPr id="7" name="Reach as a mission decision glyph" descr="preencoded.png">    </p:cNvPr>
          <p:cNvPicPr>
            <a:picLocks noChangeAspect="1"/>
          </p:cNvPicPr>
          <p:nvPr/>
        </p:nvPicPr>
        <p:blipFill>
          <a:blip r:embed="rId1"/>
          <a:stretch>
            <a:fillRect/>
          </a:stretch>
        </p:blipFill>
        <p:spPr>
          <a:xfrm>
            <a:off x="983894" y="2355494"/>
            <a:ext cx="409651" cy="409651"/>
          </a:xfrm>
          <a:prstGeom prst="rect">
            <a:avLst/>
          </a:prstGeom>
        </p:spPr>
      </p:pic>
      <p:sp>
        <p:nvSpPr>
          <p:cNvPr id="8" name="number 1"/>
          <p:cNvSpPr txBox="1"/>
          <p:nvPr/>
        </p:nvSpPr>
        <p:spPr>
          <a:xfrm>
            <a:off x="5317236" y="2121408"/>
            <a:ext cx="457200" cy="457200"/>
          </a:xfrm>
          <a:prstGeom prst="rect">
            <a:avLst/>
          </a:prstGeom>
          <a:noFill/>
          <a:ln/>
        </p:spPr>
        <p:txBody>
          <a:bodyPr wrap="square" lIns="0" tIns="0" rIns="0" bIns="0" rtlCol="0" anchor="ctr"/>
          <a:lstStyle/>
          <a:p>
            <a:pPr algn="r" indent="0" marL="0">
              <a:buNone/>
            </a:pPr>
            <a:r>
              <a:rPr lang="en-US" sz="2800" b="1" dirty="0">
                <a:solidFill>
                  <a:schemeClr val="accent3"/>
                </a:solidFill>
              </a:rPr>
              <a:t>1</a:t>
            </a:r>
            <a:endParaRPr lang="en-US" sz="2800" dirty="0"/>
          </a:p>
        </p:txBody>
      </p:sp>
      <p:sp>
        <p:nvSpPr>
          <p:cNvPr id="9" name="Reach as a mission decision"/>
          <p:cNvSpPr txBox="1"/>
          <p:nvPr/>
        </p:nvSpPr>
        <p:spPr>
          <a:xfrm>
            <a:off x="1783080" y="2212848"/>
            <a:ext cx="3625596" cy="132588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Reach as a mission decision</a:t>
            </a:r>
            <a:endParaRPr lang="en-US" sz="1900" dirty="0"/>
          </a:p>
          <a:p>
            <a:pPr indent="0" marL="0">
              <a:buNone/>
            </a:pPr>
            <a:r>
              <a:rPr lang="en-US" sz="1500" dirty="0">
                <a:solidFill>
                  <a:schemeClr val="tx1"/>
                </a:solidFill>
              </a:rPr>
              <a:t>The radio band (how far, how fast) is chosen jointly with the route under the flight budget.</a:t>
            </a:r>
            <a:endParaRPr lang="en-US" sz="1900" dirty="0"/>
          </a:p>
        </p:txBody>
      </p:sp>
      <p:sp>
        <p:nvSpPr>
          <p:cNvPr id="10" name="contribution 2"/>
          <p:cNvSpPr/>
          <p:nvPr/>
        </p:nvSpPr>
        <p:spPr>
          <a:xfrm>
            <a:off x="6185916" y="1920240"/>
            <a:ext cx="5454396" cy="1783080"/>
          </a:xfrm>
          <a:prstGeom prst="roundRect">
            <a:avLst>
              <a:gd name="adj" fmla="val 4103"/>
            </a:avLst>
          </a:prstGeom>
          <a:solidFill>
            <a:schemeClr val="bg2"/>
          </a:solidFill>
          <a:ln w="12700">
            <a:solidFill>
              <a:schemeClr val="bg2">
                <a:alpha val="0"/>
              </a:schemeClr>
            </a:solidFill>
            <a:prstDash val="solid"/>
          </a:ln>
        </p:spPr>
      </p:sp>
      <p:sp>
        <p:nvSpPr>
          <p:cNvPr id="11" name="Two clocks, bounded learning circle"/>
          <p:cNvSpPr/>
          <p:nvPr/>
        </p:nvSpPr>
        <p:spPr>
          <a:xfrm>
            <a:off x="6460236" y="2194560"/>
            <a:ext cx="731520" cy="731520"/>
          </a:xfrm>
          <a:prstGeom prst="ellipse">
            <a:avLst/>
          </a:prstGeom>
          <a:solidFill>
            <a:schemeClr val="accent2"/>
          </a:solidFill>
          <a:ln w="12700">
            <a:solidFill>
              <a:schemeClr val="accent2">
                <a:alpha val="0"/>
              </a:schemeClr>
            </a:solidFill>
            <a:prstDash val="solid"/>
          </a:ln>
        </p:spPr>
      </p:sp>
      <p:pic>
        <p:nvPicPr>
          <p:cNvPr id="12" name="Two clocks, bounded learning glyph" descr="preencoded.png">    </p:cNvPr>
          <p:cNvPicPr>
            <a:picLocks noChangeAspect="1"/>
          </p:cNvPicPr>
          <p:nvPr/>
        </p:nvPicPr>
        <p:blipFill>
          <a:blip r:embed="rId2"/>
          <a:stretch>
            <a:fillRect/>
          </a:stretch>
        </p:blipFill>
        <p:spPr>
          <a:xfrm>
            <a:off x="6621170" y="2355494"/>
            <a:ext cx="409651" cy="409651"/>
          </a:xfrm>
          <a:prstGeom prst="rect">
            <a:avLst/>
          </a:prstGeom>
        </p:spPr>
      </p:pic>
      <p:sp>
        <p:nvSpPr>
          <p:cNvPr id="13" name="number 2"/>
          <p:cNvSpPr txBox="1"/>
          <p:nvPr/>
        </p:nvSpPr>
        <p:spPr>
          <a:xfrm>
            <a:off x="10954512" y="2121408"/>
            <a:ext cx="457200" cy="457200"/>
          </a:xfrm>
          <a:prstGeom prst="rect">
            <a:avLst/>
          </a:prstGeom>
          <a:noFill/>
          <a:ln/>
        </p:spPr>
        <p:txBody>
          <a:bodyPr wrap="square" lIns="0" tIns="0" rIns="0" bIns="0" rtlCol="0" anchor="ctr"/>
          <a:lstStyle/>
          <a:p>
            <a:pPr algn="r" indent="0" marL="0">
              <a:buNone/>
            </a:pPr>
            <a:r>
              <a:rPr lang="en-US" sz="2800" b="1" dirty="0">
                <a:solidFill>
                  <a:schemeClr val="accent3"/>
                </a:solidFill>
              </a:rPr>
              <a:t>2</a:t>
            </a:r>
            <a:endParaRPr lang="en-US" sz="2800" dirty="0"/>
          </a:p>
        </p:txBody>
      </p:sp>
      <p:sp>
        <p:nvSpPr>
          <p:cNvPr id="14" name="Two clocks, bounded learning"/>
          <p:cNvSpPr txBox="1"/>
          <p:nvPr/>
        </p:nvSpPr>
        <p:spPr>
          <a:xfrm>
            <a:off x="7420356" y="2212848"/>
            <a:ext cx="3625596" cy="132588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Two clocks, bounded learning</a:t>
            </a:r>
            <a:endParaRPr lang="en-US" sz="1900" dirty="0"/>
          </a:p>
          <a:p>
            <a:pPr indent="0" marL="0">
              <a:buNone/>
            </a:pPr>
            <a:r>
              <a:rPr lang="en-US" sz="1500" dirty="0">
                <a:solidFill>
                  <a:schemeClr val="tx1"/>
                </a:solidFill>
              </a:rPr>
              <a:t>One feasibility test gates a plan at the dock and the decisions at each stop; learning only ranks what the test admits.</a:t>
            </a:r>
            <a:endParaRPr lang="en-US" sz="1900" dirty="0"/>
          </a:p>
        </p:txBody>
      </p:sp>
      <p:sp>
        <p:nvSpPr>
          <p:cNvPr id="15" name="contribution 3"/>
          <p:cNvSpPr/>
          <p:nvPr/>
        </p:nvSpPr>
        <p:spPr>
          <a:xfrm>
            <a:off x="548640" y="3977640"/>
            <a:ext cx="5454396" cy="1783080"/>
          </a:xfrm>
          <a:prstGeom prst="roundRect">
            <a:avLst>
              <a:gd name="adj" fmla="val 4103"/>
            </a:avLst>
          </a:prstGeom>
          <a:solidFill>
            <a:schemeClr val="bg2"/>
          </a:solidFill>
          <a:ln w="12700">
            <a:solidFill>
              <a:schemeClr val="bg2">
                <a:alpha val="0"/>
              </a:schemeClr>
            </a:solidFill>
            <a:prstDash val="solid"/>
          </a:ln>
        </p:spPr>
      </p:sp>
      <p:sp>
        <p:nvSpPr>
          <p:cNvPr id="16" name="Prototype and simulator circle"/>
          <p:cNvSpPr/>
          <p:nvPr/>
        </p:nvSpPr>
        <p:spPr>
          <a:xfrm>
            <a:off x="822960" y="4251960"/>
            <a:ext cx="731520" cy="731520"/>
          </a:xfrm>
          <a:prstGeom prst="ellipse">
            <a:avLst/>
          </a:prstGeom>
          <a:solidFill>
            <a:schemeClr val="accent2"/>
          </a:solidFill>
          <a:ln w="12700">
            <a:solidFill>
              <a:schemeClr val="accent2">
                <a:alpha val="0"/>
              </a:schemeClr>
            </a:solidFill>
            <a:prstDash val="solid"/>
          </a:ln>
        </p:spPr>
      </p:sp>
      <p:pic>
        <p:nvPicPr>
          <p:cNvPr id="17" name="Prototype and simulator glyph" descr="preencoded.png">    </p:cNvPr>
          <p:cNvPicPr>
            <a:picLocks noChangeAspect="1"/>
          </p:cNvPicPr>
          <p:nvPr/>
        </p:nvPicPr>
        <p:blipFill>
          <a:blip r:embed="rId3"/>
          <a:stretch>
            <a:fillRect/>
          </a:stretch>
        </p:blipFill>
        <p:spPr>
          <a:xfrm>
            <a:off x="983894" y="4412894"/>
            <a:ext cx="409651" cy="409651"/>
          </a:xfrm>
          <a:prstGeom prst="rect">
            <a:avLst/>
          </a:prstGeom>
        </p:spPr>
      </p:pic>
      <p:sp>
        <p:nvSpPr>
          <p:cNvPr id="18" name="number 3"/>
          <p:cNvSpPr txBox="1"/>
          <p:nvPr/>
        </p:nvSpPr>
        <p:spPr>
          <a:xfrm>
            <a:off x="5317236" y="4178808"/>
            <a:ext cx="457200" cy="457200"/>
          </a:xfrm>
          <a:prstGeom prst="rect">
            <a:avLst/>
          </a:prstGeom>
          <a:noFill/>
          <a:ln/>
        </p:spPr>
        <p:txBody>
          <a:bodyPr wrap="square" lIns="0" tIns="0" rIns="0" bIns="0" rtlCol="0" anchor="ctr"/>
          <a:lstStyle/>
          <a:p>
            <a:pPr algn="r" indent="0" marL="0">
              <a:buNone/>
            </a:pPr>
            <a:r>
              <a:rPr lang="en-US" sz="2800" b="1" dirty="0">
                <a:solidFill>
                  <a:schemeClr val="accent3"/>
                </a:solidFill>
              </a:rPr>
              <a:t>3</a:t>
            </a:r>
            <a:endParaRPr lang="en-US" sz="2800" dirty="0"/>
          </a:p>
        </p:txBody>
      </p:sp>
      <p:sp>
        <p:nvSpPr>
          <p:cNvPr id="19" name="Prototype and simulator"/>
          <p:cNvSpPr txBox="1"/>
          <p:nvPr/>
        </p:nvSpPr>
        <p:spPr>
          <a:xfrm>
            <a:off x="1783080" y="4270248"/>
            <a:ext cx="3625596" cy="132588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Prototype and simulator</a:t>
            </a:r>
            <a:endParaRPr lang="en-US" sz="1900" dirty="0"/>
          </a:p>
          <a:p>
            <a:pPr indent="0" marL="0">
              <a:buNone/>
            </a:pPr>
            <a:r>
              <a:rPr lang="en-US" sz="1500" dirty="0">
                <a:solidFill>
                  <a:schemeClr val="tx1"/>
                </a:solidFill>
              </a:rPr>
              <a:t>Separate processes over TCP train a real model; FerrySim, built from the same code, trains the learned parts and plans for up to 96 devices.</a:t>
            </a:r>
            <a:endParaRPr lang="en-US" sz="1900" dirty="0"/>
          </a:p>
        </p:txBody>
      </p:sp>
      <p:sp>
        <p:nvSpPr>
          <p:cNvPr id="20" name="contribution 4"/>
          <p:cNvSpPr/>
          <p:nvPr/>
        </p:nvSpPr>
        <p:spPr>
          <a:xfrm>
            <a:off x="6185916" y="3977640"/>
            <a:ext cx="5454396" cy="1783080"/>
          </a:xfrm>
          <a:prstGeom prst="roundRect">
            <a:avLst>
              <a:gd name="adj" fmla="val 4103"/>
            </a:avLst>
          </a:prstGeom>
          <a:solidFill>
            <a:schemeClr val="bg2"/>
          </a:solidFill>
          <a:ln w="12700">
            <a:solidFill>
              <a:schemeClr val="bg2">
                <a:alpha val="0"/>
              </a:schemeClr>
            </a:solidFill>
            <a:prstDash val="solid"/>
          </a:ln>
        </p:spPr>
      </p:sp>
      <p:sp>
        <p:nvSpPr>
          <p:cNvPr id="21" name="A pre-registered comparison circle"/>
          <p:cNvSpPr/>
          <p:nvPr/>
        </p:nvSpPr>
        <p:spPr>
          <a:xfrm>
            <a:off x="6460236" y="4251960"/>
            <a:ext cx="731520" cy="731520"/>
          </a:xfrm>
          <a:prstGeom prst="ellipse">
            <a:avLst/>
          </a:prstGeom>
          <a:solidFill>
            <a:schemeClr val="accent2"/>
          </a:solidFill>
          <a:ln w="12700">
            <a:solidFill>
              <a:schemeClr val="accent2">
                <a:alpha val="0"/>
              </a:schemeClr>
            </a:solidFill>
            <a:prstDash val="solid"/>
          </a:ln>
        </p:spPr>
      </p:sp>
      <p:pic>
        <p:nvPicPr>
          <p:cNvPr id="22" name="A pre-registered comparison glyph" descr="preencoded.png">    </p:cNvPr>
          <p:cNvPicPr>
            <a:picLocks noChangeAspect="1"/>
          </p:cNvPicPr>
          <p:nvPr/>
        </p:nvPicPr>
        <p:blipFill>
          <a:blip r:embed="rId4"/>
          <a:stretch>
            <a:fillRect/>
          </a:stretch>
        </p:blipFill>
        <p:spPr>
          <a:xfrm>
            <a:off x="6621170" y="4412894"/>
            <a:ext cx="409651" cy="409651"/>
          </a:xfrm>
          <a:prstGeom prst="rect">
            <a:avLst/>
          </a:prstGeom>
        </p:spPr>
      </p:pic>
      <p:sp>
        <p:nvSpPr>
          <p:cNvPr id="23" name="number 4"/>
          <p:cNvSpPr txBox="1"/>
          <p:nvPr/>
        </p:nvSpPr>
        <p:spPr>
          <a:xfrm>
            <a:off x="10954512" y="4178808"/>
            <a:ext cx="457200" cy="457200"/>
          </a:xfrm>
          <a:prstGeom prst="rect">
            <a:avLst/>
          </a:prstGeom>
          <a:noFill/>
          <a:ln/>
        </p:spPr>
        <p:txBody>
          <a:bodyPr wrap="square" lIns="0" tIns="0" rIns="0" bIns="0" rtlCol="0" anchor="ctr"/>
          <a:lstStyle/>
          <a:p>
            <a:pPr algn="r" indent="0" marL="0">
              <a:buNone/>
            </a:pPr>
            <a:r>
              <a:rPr lang="en-US" sz="2800" b="1" dirty="0">
                <a:solidFill>
                  <a:schemeClr val="accent3"/>
                </a:solidFill>
              </a:rPr>
              <a:t>4</a:t>
            </a:r>
            <a:endParaRPr lang="en-US" sz="2800" dirty="0"/>
          </a:p>
        </p:txBody>
      </p:sp>
      <p:sp>
        <p:nvSpPr>
          <p:cNvPr id="24" name="A pre-registered comparison"/>
          <p:cNvSpPr txBox="1"/>
          <p:nvPr/>
        </p:nvSpPr>
        <p:spPr>
          <a:xfrm>
            <a:off x="7420356" y="4270248"/>
            <a:ext cx="3625596" cy="132588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A pre-registered comparison</a:t>
            </a:r>
            <a:endParaRPr lang="en-US" sz="1900" dirty="0"/>
          </a:p>
          <a:p>
            <a:pPr indent="0" marL="0">
              <a:buNone/>
            </a:pPr>
            <a:r>
              <a:rPr lang="en-US" sz="1500" dirty="0">
                <a:solidFill>
                  <a:schemeClr val="tx1"/>
                </a:solidFill>
              </a:rPr>
              <a:t>Seven whole schedulers, paired seeds, multiplicity correction; we report wins, null results and limits.</a:t>
            </a:r>
            <a:endParaRPr lang="en-US"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RELATED WORK</a:t>
            </a:r>
            <a:endParaRPr lang="en-US" sz="1200" dirty="0"/>
          </a:p>
        </p:txBody>
      </p:sp>
      <p:sp>
        <p:nvSpPr>
          <p:cNvPr id="3" name="Text 1"/>
          <p:cNvSpPr/>
          <p:nvPr>
            <p:ph idx="102" type="title" hasCustomPrompt="1"/>
          </p:nvPr>
        </p:nvSpPr>
        <p:spPr>
          <a:xfrm>
            <a:off x="548640" y="585216"/>
            <a:ext cx="11094415" cy="658368"/>
          </a:xfrm>
          <a:prstGeom prst="rect">
            <a:avLst/>
          </a:prstGeom>
          <a:noFill/>
          <a:ln/>
        </p:spPr>
        <p:txBody>
          <a:bodyPr wrap="square" lIns="0" tIns="0" rIns="0" bIns="0" rtlCol="0" anchor="t"/>
          <a:lstStyle/>
          <a:p>
            <a:pPr algn="l" indent="0" marL="0">
              <a:buNone/>
            </a:pPr>
            <a:r>
              <a:rPr lang="en-US" sz="3600" b="1" dirty="0">
                <a:solidFill>
                  <a:schemeClr val="tx1"/>
                </a:solidFill>
              </a:rPr>
              <a:t>Prior work solves pieces of the problem</a:t>
            </a:r>
            <a:endParaRPr lang="en-US" sz="3600" dirty="0"/>
          </a:p>
        </p:txBody>
      </p:sp>
      <p:sp>
        <p:nvSpPr>
          <p:cNvPr id="4" name="Text 1"/>
          <p:cNvSpPr/>
          <p:nvPr>
            <p:ph idx="103" type="body" hasCustomPrompt="1"/>
          </p:nvPr>
        </p:nvSpPr>
        <p:spPr>
          <a:xfrm>
            <a:off x="548640" y="1298448"/>
            <a:ext cx="11094415" cy="411480"/>
          </a:xfrm>
          <a:prstGeom prst="rect">
            <a:avLst/>
          </a:prstGeom>
          <a:noFill/>
          <a:ln/>
        </p:spPr>
        <p:txBody>
          <a:bodyPr wrap="square" lIns="0" tIns="0" rIns="0" bIns="0" rtlCol="0" anchor="t"/>
          <a:lstStyle/>
          <a:p>
            <a:pPr indent="0" marL="0">
              <a:buNone/>
            </a:pPr>
            <a:r>
              <a:rPr lang="en-US" sz="1700" dirty="0">
                <a:solidFill>
                  <a:schemeClr val="accent3"/>
                </a:solidFill>
              </a:rPr>
              <a:t>Five lines of research each cover part of what a drone-carried FL system needs.</a:t>
            </a:r>
            <a:endParaRPr lang="en-US" sz="1700" dirty="0"/>
          </a:p>
        </p:txBody>
      </p:sp>
      <p:graphicFrame>
        <p:nvGraphicFramePr>
          <p:cNvPr id="7" name="related work table"/>
          <p:cNvGraphicFramePr>
            <a:graphicFrameLocks noGrp="1"/>
          </p:cNvGraphicFramePr>
          <p:nvPr>
            <p:extLst>
              <p:ext uri="{D42A27DB-BD31-4B8C-83A1-F6EECF244321}">
                <p14:modId xmlns:p14="http://schemas.microsoft.com/office/powerpoint/2010/main" val="1579011935"/>
              </p:ext>
            </p:extLst>
          </p:nvPr>
        </p:nvGraphicFramePr>
        <p:xfrm>
          <a:off x="548640" y="1920240"/>
          <a:ext cx="11094415" cy="914400"/>
        </p:xfrm>
        <a:graphic>
          <a:graphicData uri="http://schemas.openxmlformats.org/drawingml/2006/table">
            <a:tbl>
              <a:tblPr/>
              <a:tblGrid>
                <a:gridCol w="2743200"/>
                <a:gridCol w="4873752"/>
                <a:gridCol w="3474720"/>
              </a:tblGrid>
              <a:tr h="457200">
                <a:tc>
                  <a:txBody>
                    <a:bodyPr/>
                    <a:lstStyle/>
                    <a:p>
                      <a:pPr indent="0" marL="0">
                        <a:buNone/>
                      </a:pPr>
                      <a:r>
                        <a:rPr lang="en-US" sz="1500" b="1" dirty="0">
                          <a:solidFill>
                            <a:schemeClr val="bg1"/>
                          </a:solidFill>
                        </a:rPr>
                        <a:t>Line of work</a:t>
                      </a:r>
                      <a:endParaRPr lang="en-US" sz="1500" dirty="0"/>
                    </a:p>
                  </a:txBody>
                  <a:tcPr marL="109728" marR="109728" marT="54864" marB="54864" anchor="ctr">
                    <a:lnL w="9525" cap="flat" cmpd="sng" algn="ctr">
                      <a:solidFill>
                        <a:srgbClr val="EEF2F5"/>
                      </a:solidFill>
                      <a:prstDash val="solid"/>
                      <a:round/>
                      <a:headEnd type="none" w="med" len="med"/>
                      <a:tailEnd type="none" w="med" len="med"/>
                    </a:lnL>
                    <a:lnR w="9525" cap="flat" cmpd="sng" algn="ctr">
                      <a:solidFill>
                        <a:srgbClr val="EEF2F5"/>
                      </a:solidFill>
                      <a:prstDash val="solid"/>
                      <a:round/>
                      <a:headEnd type="none" w="med" len="med"/>
                      <a:tailEnd type="none" w="med" len="med"/>
                    </a:lnR>
                    <a:lnT w="9525" cap="flat" cmpd="sng" algn="ctr">
                      <a:solidFill>
                        <a:srgbClr val="EEF2F5"/>
                      </a:solidFill>
                      <a:prstDash val="solid"/>
                      <a:round/>
                      <a:headEnd type="none" w="med" len="med"/>
                      <a:tailEnd type="none" w="med" len="med"/>
                    </a:lnT>
                    <a:lnB w="9525" cap="flat" cmpd="sng" algn="ctr">
                      <a:solidFill>
                        <a:srgbClr val="EEF2F5"/>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What it does</a:t>
                      </a:r>
                      <a:endParaRPr lang="en-US" sz="1500" dirty="0"/>
                    </a:p>
                  </a:txBody>
                  <a:tcPr marL="109728" marR="109728" marT="54864" marB="54864" anchor="ctr">
                    <a:lnL w="9525" cap="flat" cmpd="sng" algn="ctr">
                      <a:solidFill>
                        <a:srgbClr val="EEF2F5"/>
                      </a:solidFill>
                      <a:prstDash val="solid"/>
                      <a:round/>
                      <a:headEnd type="none" w="med" len="med"/>
                      <a:tailEnd type="none" w="med" len="med"/>
                    </a:lnL>
                    <a:lnR w="9525" cap="flat" cmpd="sng" algn="ctr">
                      <a:solidFill>
                        <a:srgbClr val="EEF2F5"/>
                      </a:solidFill>
                      <a:prstDash val="solid"/>
                      <a:round/>
                      <a:headEnd type="none" w="med" len="med"/>
                      <a:tailEnd type="none" w="med" len="med"/>
                    </a:lnR>
                    <a:lnT w="9525" cap="flat" cmpd="sng" algn="ctr">
                      <a:solidFill>
                        <a:srgbClr val="EEF2F5"/>
                      </a:solidFill>
                      <a:prstDash val="solid"/>
                      <a:round/>
                      <a:headEnd type="none" w="med" len="med"/>
                      <a:tailEnd type="none" w="med" len="med"/>
                    </a:lnT>
                    <a:lnB w="9525" cap="flat" cmpd="sng" algn="ctr">
                      <a:solidFill>
                        <a:srgbClr val="EEF2F5"/>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What it leaves out</a:t>
                      </a:r>
                      <a:endParaRPr lang="en-US" sz="1500" dirty="0"/>
                    </a:p>
                  </a:txBody>
                  <a:tcPr marL="109728" marR="109728" marT="54864" marB="54864" anchor="ctr">
                    <a:lnL w="9525" cap="flat" cmpd="sng" algn="ctr">
                      <a:solidFill>
                        <a:srgbClr val="EEF2F5"/>
                      </a:solidFill>
                      <a:prstDash val="solid"/>
                      <a:round/>
                      <a:headEnd type="none" w="med" len="med"/>
                      <a:tailEnd type="none" w="med" len="med"/>
                    </a:lnL>
                    <a:lnR w="9525" cap="flat" cmpd="sng" algn="ctr">
                      <a:solidFill>
                        <a:srgbClr val="EEF2F5"/>
                      </a:solidFill>
                      <a:prstDash val="solid"/>
                      <a:round/>
                      <a:headEnd type="none" w="med" len="med"/>
                      <a:tailEnd type="none" w="med" len="med"/>
                    </a:lnR>
                    <a:lnT w="9525" cap="flat" cmpd="sng" algn="ctr">
                      <a:solidFill>
                        <a:srgbClr val="EEF2F5"/>
                      </a:solidFill>
                      <a:prstDash val="solid"/>
                      <a:round/>
                      <a:headEnd type="none" w="med" len="med"/>
                      <a:tailEnd type="none" w="med" len="med"/>
                    </a:lnT>
                    <a:lnB w="9525" cap="flat" cmpd="sng" algn="ctr">
                      <a:solidFill>
                        <a:srgbClr val="EEF2F5"/>
                      </a:solidFill>
                      <a:prstDash val="solid"/>
                      <a:round/>
                      <a:headEnd type="none" w="med" len="med"/>
                      <a:tailEnd type="none" w="med" len="med"/>
                    </a:lnB>
                    <a:solidFill>
                      <a:schemeClr val="tx2"/>
                    </a:solidFill>
                  </a:tcPr>
                </a:tc>
              </a:tr>
              <a:tr h="749808">
                <a:tc>
                  <a:txBody>
                    <a:bodyPr/>
                    <a:lstStyle/>
                    <a:p>
                      <a:pPr indent="0" marL="0">
                        <a:buNone/>
                      </a:pPr>
                      <a:r>
                        <a:rPr lang="en-US" sz="1400" b="1" dirty="0">
                          <a:solidFill>
                            <a:schemeClr val="tx1"/>
                          </a:solidFill>
                        </a:rPr>
                        <a:t>Hierarchical and relay FL</a:t>
                      </a:r>
                      <a:endParaRPr lang="en-US" sz="1400" dirty="0"/>
                    </a:p>
                  </a:txBody>
                  <a:tcPr marL="109728" marR="109728" marT="54864" marB="54864" anchor="ctr">
                    <a:lnL w="9525" cap="flat" cmpd="sng" algn="ctr">
                      <a:solidFill>
                        <a:srgbClr val="EEF2F5"/>
                      </a:solidFill>
                      <a:prstDash val="solid"/>
                      <a:round/>
                      <a:headEnd type="none" w="med" len="med"/>
                      <a:tailEnd type="none" w="med" len="med"/>
                    </a:lnL>
                    <a:lnR w="9525" cap="flat" cmpd="sng" algn="ctr">
                      <a:solidFill>
                        <a:srgbClr val="EEF2F5"/>
                      </a:solidFill>
                      <a:prstDash val="solid"/>
                      <a:round/>
                      <a:headEnd type="none" w="med" len="med"/>
                      <a:tailEnd type="none" w="med" len="med"/>
                    </a:lnR>
                    <a:lnT w="9525" cap="flat" cmpd="sng" algn="ctr">
                      <a:solidFill>
                        <a:srgbClr val="EEF2F5"/>
                      </a:solidFill>
                      <a:prstDash val="solid"/>
                      <a:round/>
                      <a:headEnd type="none" w="med" len="med"/>
                      <a:tailEnd type="none" w="med" len="med"/>
                    </a:lnT>
                    <a:lnB w="9525" cap="flat" cmpd="sng" algn="ctr">
                      <a:solidFill>
                        <a:srgbClr val="EEF2F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Aggregates at edge servers; relays updates over unreliable links (HFL, delay-aware HFL, collaborative relaying)</a:t>
                      </a:r>
                      <a:endParaRPr lang="en-US" sz="1400" dirty="0"/>
                    </a:p>
                  </a:txBody>
                  <a:tcPr marL="109728" marR="109728" marT="54864" marB="54864" anchor="ctr">
                    <a:lnL w="9525" cap="flat" cmpd="sng" algn="ctr">
                      <a:solidFill>
                        <a:srgbClr val="EEF2F5"/>
                      </a:solidFill>
                      <a:prstDash val="solid"/>
                      <a:round/>
                      <a:headEnd type="none" w="med" len="med"/>
                      <a:tailEnd type="none" w="med" len="med"/>
                    </a:lnL>
                    <a:lnR w="9525" cap="flat" cmpd="sng" algn="ctr">
                      <a:solidFill>
                        <a:srgbClr val="EEF2F5"/>
                      </a:solidFill>
                      <a:prstDash val="solid"/>
                      <a:round/>
                      <a:headEnd type="none" w="med" len="med"/>
                      <a:tailEnd type="none" w="med" len="med"/>
                    </a:lnR>
                    <a:lnT w="9525" cap="flat" cmpd="sng" algn="ctr">
                      <a:solidFill>
                        <a:srgbClr val="EEF2F5"/>
                      </a:solidFill>
                      <a:prstDash val="solid"/>
                      <a:round/>
                      <a:headEnd type="none" w="med" len="med"/>
                      <a:tailEnd type="none" w="med" len="med"/>
                    </a:lnT>
                    <a:lnB w="9525" cap="flat" cmpd="sng" algn="ctr">
                      <a:solidFill>
                        <a:srgbClr val="EEF2F5"/>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4"/>
                          </a:solidFill>
                        </a:rPr>
                        <a:t>Assumes a network path eventually exists</a:t>
                      </a:r>
                      <a:endParaRPr lang="en-US" sz="1400" dirty="0"/>
                    </a:p>
                  </a:txBody>
                  <a:tcPr marL="109728" marR="109728" marT="54864" marB="54864" anchor="ctr">
                    <a:lnL w="9525" cap="flat" cmpd="sng" algn="ctr">
                      <a:solidFill>
                        <a:srgbClr val="EEF2F5"/>
                      </a:solidFill>
                      <a:prstDash val="solid"/>
                      <a:round/>
                      <a:headEnd type="none" w="med" len="med"/>
                      <a:tailEnd type="none" w="med" len="med"/>
                    </a:lnL>
                    <a:lnR w="9525" cap="flat" cmpd="sng" algn="ctr">
                      <a:solidFill>
                        <a:srgbClr val="EEF2F5"/>
                      </a:solidFill>
                      <a:prstDash val="solid"/>
                      <a:round/>
                      <a:headEnd type="none" w="med" len="med"/>
                      <a:tailEnd type="none" w="med" len="med"/>
                    </a:lnR>
                    <a:lnT w="9525" cap="flat" cmpd="sng" algn="ctr">
                      <a:solidFill>
                        <a:srgbClr val="EEF2F5"/>
                      </a:solidFill>
                      <a:prstDash val="solid"/>
                      <a:round/>
                      <a:headEnd type="none" w="med" len="med"/>
                      <a:tailEnd type="none" w="med" len="med"/>
                    </a:lnT>
                    <a:lnB w="9525" cap="flat" cmpd="sng" algn="ctr">
                      <a:solidFill>
                        <a:srgbClr val="EEF2F5"/>
                      </a:solidFill>
                      <a:prstDash val="solid"/>
                      <a:round/>
                      <a:headEnd type="none" w="med" len="med"/>
                      <a:tailEnd type="none" w="med" len="med"/>
                    </a:lnB>
                    <a:solidFill>
                      <a:schemeClr val="bg2"/>
                    </a:solidFill>
                  </a:tcPr>
                </a:tc>
              </a:tr>
              <a:tr h="749808">
                <a:tc>
                  <a:txBody>
                    <a:bodyPr/>
                    <a:lstStyle/>
                    <a:p>
                      <a:pPr indent="0" marL="0">
                        <a:buNone/>
                      </a:pPr>
                      <a:r>
                        <a:rPr lang="en-US" sz="1400" b="1" dirty="0">
                          <a:solidFill>
                            <a:schemeClr val="tx1"/>
                          </a:solidFill>
                        </a:rPr>
                        <a:t>UAV-assisted FL</a:t>
                      </a:r>
                      <a:endParaRPr lang="en-US" sz="1400" dirty="0"/>
                    </a:p>
                  </a:txBody>
                  <a:tcPr marL="109728" marR="109728" marT="54864" marB="54864" anchor="ctr">
                    <a:lnL w="9525" cap="flat" cmpd="sng" algn="ctr">
                      <a:solidFill>
                        <a:srgbClr val="EEF2F5"/>
                      </a:solidFill>
                      <a:prstDash val="solid"/>
                      <a:round/>
                      <a:headEnd type="none" w="med" len="med"/>
                      <a:tailEnd type="none" w="med" len="med"/>
                    </a:lnL>
                    <a:lnR w="9525" cap="flat" cmpd="sng" algn="ctr">
                      <a:solidFill>
                        <a:srgbClr val="EEF2F5"/>
                      </a:solidFill>
                      <a:prstDash val="solid"/>
                      <a:round/>
                      <a:headEnd type="none" w="med" len="med"/>
                      <a:tailEnd type="none" w="med" len="med"/>
                    </a:lnR>
                    <a:lnT w="9525" cap="flat" cmpd="sng" algn="ctr">
                      <a:solidFill>
                        <a:srgbClr val="EEF2F5"/>
                      </a:solidFill>
                      <a:prstDash val="solid"/>
                      <a:round/>
                      <a:headEnd type="none" w="med" len="med"/>
                      <a:tailEnd type="none" w="med" len="med"/>
                    </a:lnT>
                    <a:lnB w="9525" cap="flat" cmpd="sng" algn="ctr">
                      <a:solidFill>
                        <a:srgbClr val="EEF2F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 UAV acts as a mobile server or orchestrator; FedEx physically carries models (closest precedent)</a:t>
                      </a:r>
                      <a:endParaRPr lang="en-US" sz="1400" dirty="0"/>
                    </a:p>
                  </a:txBody>
                  <a:tcPr marL="109728" marR="109728" marT="54864" marB="54864" anchor="ctr">
                    <a:lnL w="9525" cap="flat" cmpd="sng" algn="ctr">
                      <a:solidFill>
                        <a:srgbClr val="EEF2F5"/>
                      </a:solidFill>
                      <a:prstDash val="solid"/>
                      <a:round/>
                      <a:headEnd type="none" w="med" len="med"/>
                      <a:tailEnd type="none" w="med" len="med"/>
                    </a:lnL>
                    <a:lnR w="9525" cap="flat" cmpd="sng" algn="ctr">
                      <a:solidFill>
                        <a:srgbClr val="EEF2F5"/>
                      </a:solidFill>
                      <a:prstDash val="solid"/>
                      <a:round/>
                      <a:headEnd type="none" w="med" len="med"/>
                      <a:tailEnd type="none" w="med" len="med"/>
                    </a:lnR>
                    <a:lnT w="9525" cap="flat" cmpd="sng" algn="ctr">
                      <a:solidFill>
                        <a:srgbClr val="EEF2F5"/>
                      </a:solidFill>
                      <a:prstDash val="solid"/>
                      <a:round/>
                      <a:headEnd type="none" w="med" len="med"/>
                      <a:tailEnd type="none" w="med" len="med"/>
                    </a:lnT>
                    <a:lnB w="9525" cap="flat" cmpd="sng" algn="ctr">
                      <a:solidFill>
                        <a:srgbClr val="EEF2F5"/>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Fixed tours and a fixed radio; no deadlines or in-flight changes</a:t>
                      </a:r>
                      <a:endParaRPr lang="en-US" sz="1400" dirty="0"/>
                    </a:p>
                  </a:txBody>
                  <a:tcPr marL="109728" marR="109728" marT="54864" marB="54864" anchor="ctr">
                    <a:lnL w="9525" cap="flat" cmpd="sng" algn="ctr">
                      <a:solidFill>
                        <a:srgbClr val="EEF2F5"/>
                      </a:solidFill>
                      <a:prstDash val="solid"/>
                      <a:round/>
                      <a:headEnd type="none" w="med" len="med"/>
                      <a:tailEnd type="none" w="med" len="med"/>
                    </a:lnL>
                    <a:lnR w="9525" cap="flat" cmpd="sng" algn="ctr">
                      <a:solidFill>
                        <a:srgbClr val="EEF2F5"/>
                      </a:solidFill>
                      <a:prstDash val="solid"/>
                      <a:round/>
                      <a:headEnd type="none" w="med" len="med"/>
                      <a:tailEnd type="none" w="med" len="med"/>
                    </a:lnR>
                    <a:lnT w="9525" cap="flat" cmpd="sng" algn="ctr">
                      <a:solidFill>
                        <a:srgbClr val="EEF2F5"/>
                      </a:solidFill>
                      <a:prstDash val="solid"/>
                      <a:round/>
                      <a:headEnd type="none" w="med" len="med"/>
                      <a:tailEnd type="none" w="med" len="med"/>
                    </a:lnT>
                    <a:lnB w="9525" cap="flat" cmpd="sng" algn="ctr">
                      <a:solidFill>
                        <a:srgbClr val="EEF2F5"/>
                      </a:solidFill>
                      <a:prstDash val="solid"/>
                      <a:round/>
                      <a:headEnd type="none" w="med" len="med"/>
                      <a:tailEnd type="none" w="med" len="med"/>
                    </a:lnB>
                    <a:solidFill>
                      <a:schemeClr val="bg1"/>
                    </a:solidFill>
                  </a:tcPr>
                </a:tc>
              </a:tr>
              <a:tr h="749808">
                <a:tc>
                  <a:txBody>
                    <a:bodyPr/>
                    <a:lstStyle/>
                    <a:p>
                      <a:pPr indent="0" marL="0">
                        <a:buNone/>
                      </a:pPr>
                      <a:r>
                        <a:rPr lang="en-US" sz="1400" b="1" dirty="0">
                          <a:solidFill>
                            <a:schemeClr val="tx1"/>
                          </a:solidFill>
                        </a:rPr>
                        <a:t>RF-aware UAV trajectories</a:t>
                      </a:r>
                      <a:endParaRPr lang="en-US" sz="1400" dirty="0"/>
                    </a:p>
                  </a:txBody>
                  <a:tcPr marL="109728" marR="109728" marT="54864" marB="54864" anchor="ctr">
                    <a:lnL w="9525" cap="flat" cmpd="sng" algn="ctr">
                      <a:solidFill>
                        <a:srgbClr val="EEF2F5"/>
                      </a:solidFill>
                      <a:prstDash val="solid"/>
                      <a:round/>
                      <a:headEnd type="none" w="med" len="med"/>
                      <a:tailEnd type="none" w="med" len="med"/>
                    </a:lnL>
                    <a:lnR w="9525" cap="flat" cmpd="sng" algn="ctr">
                      <a:solidFill>
                        <a:srgbClr val="EEF2F5"/>
                      </a:solidFill>
                      <a:prstDash val="solid"/>
                      <a:round/>
                      <a:headEnd type="none" w="med" len="med"/>
                      <a:tailEnd type="none" w="med" len="med"/>
                    </a:lnR>
                    <a:lnT w="9525" cap="flat" cmpd="sng" algn="ctr">
                      <a:solidFill>
                        <a:srgbClr val="EEF2F5"/>
                      </a:solidFill>
                      <a:prstDash val="solid"/>
                      <a:round/>
                      <a:headEnd type="none" w="med" len="med"/>
                      <a:tailEnd type="none" w="med" len="med"/>
                    </a:lnT>
                    <a:lnB w="9525" cap="flat" cmpd="sng" algn="ctr">
                      <a:solidFill>
                        <a:srgbClr val="EEF2F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Learns routes, channels and power from signal, energy and deadlines (multi-UAV DRL, MAPPO)</a:t>
                      </a:r>
                      <a:endParaRPr lang="en-US" sz="1400" dirty="0"/>
                    </a:p>
                  </a:txBody>
                  <a:tcPr marL="109728" marR="109728" marT="54864" marB="54864" anchor="ctr">
                    <a:lnL w="9525" cap="flat" cmpd="sng" algn="ctr">
                      <a:solidFill>
                        <a:srgbClr val="EEF2F5"/>
                      </a:solidFill>
                      <a:prstDash val="solid"/>
                      <a:round/>
                      <a:headEnd type="none" w="med" len="med"/>
                      <a:tailEnd type="none" w="med" len="med"/>
                    </a:lnL>
                    <a:lnR w="9525" cap="flat" cmpd="sng" algn="ctr">
                      <a:solidFill>
                        <a:srgbClr val="EEF2F5"/>
                      </a:solidFill>
                      <a:prstDash val="solid"/>
                      <a:round/>
                      <a:headEnd type="none" w="med" len="med"/>
                      <a:tailEnd type="none" w="med" len="med"/>
                    </a:lnR>
                    <a:lnT w="9525" cap="flat" cmpd="sng" algn="ctr">
                      <a:solidFill>
                        <a:srgbClr val="EEF2F5"/>
                      </a:solidFill>
                      <a:prstDash val="solid"/>
                      <a:round/>
                      <a:headEnd type="none" w="med" len="med"/>
                      <a:tailEnd type="none" w="med" len="med"/>
                    </a:lnT>
                    <a:lnB w="9525" cap="flat" cmpd="sng" algn="ctr">
                      <a:solidFill>
                        <a:srgbClr val="EEF2F5"/>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4"/>
                          </a:solidFill>
                        </a:rPr>
                        <a:t>Not tied to the value of FL updates</a:t>
                      </a:r>
                      <a:endParaRPr lang="en-US" sz="1400" dirty="0"/>
                    </a:p>
                  </a:txBody>
                  <a:tcPr marL="109728" marR="109728" marT="54864" marB="54864" anchor="ctr">
                    <a:lnL w="9525" cap="flat" cmpd="sng" algn="ctr">
                      <a:solidFill>
                        <a:srgbClr val="EEF2F5"/>
                      </a:solidFill>
                      <a:prstDash val="solid"/>
                      <a:round/>
                      <a:headEnd type="none" w="med" len="med"/>
                      <a:tailEnd type="none" w="med" len="med"/>
                    </a:lnL>
                    <a:lnR w="9525" cap="flat" cmpd="sng" algn="ctr">
                      <a:solidFill>
                        <a:srgbClr val="EEF2F5"/>
                      </a:solidFill>
                      <a:prstDash val="solid"/>
                      <a:round/>
                      <a:headEnd type="none" w="med" len="med"/>
                      <a:tailEnd type="none" w="med" len="med"/>
                    </a:lnR>
                    <a:lnT w="9525" cap="flat" cmpd="sng" algn="ctr">
                      <a:solidFill>
                        <a:srgbClr val="EEF2F5"/>
                      </a:solidFill>
                      <a:prstDash val="solid"/>
                      <a:round/>
                      <a:headEnd type="none" w="med" len="med"/>
                      <a:tailEnd type="none" w="med" len="med"/>
                    </a:lnT>
                    <a:lnB w="9525" cap="flat" cmpd="sng" algn="ctr">
                      <a:solidFill>
                        <a:srgbClr val="EEF2F5"/>
                      </a:solidFill>
                      <a:prstDash val="solid"/>
                      <a:round/>
                      <a:headEnd type="none" w="med" len="med"/>
                      <a:tailEnd type="none" w="med" len="med"/>
                    </a:lnB>
                    <a:solidFill>
                      <a:schemeClr val="bg2"/>
                    </a:solidFill>
                  </a:tcPr>
                </a:tc>
              </a:tr>
              <a:tr h="749808">
                <a:tc>
                  <a:txBody>
                    <a:bodyPr/>
                    <a:lstStyle/>
                    <a:p>
                      <a:pPr indent="0" marL="0">
                        <a:buNone/>
                      </a:pPr>
                      <a:r>
                        <a:rPr lang="en-US" sz="1400" b="1" dirty="0">
                          <a:solidFill>
                            <a:schemeClr val="tx1"/>
                          </a:solidFill>
                        </a:rPr>
                        <a:t>Client selection and freshness</a:t>
                      </a:r>
                      <a:endParaRPr lang="en-US" sz="1400" dirty="0"/>
                    </a:p>
                  </a:txBody>
                  <a:tcPr marL="109728" marR="109728" marT="54864" marB="54864" anchor="ctr">
                    <a:lnL w="9525" cap="flat" cmpd="sng" algn="ctr">
                      <a:solidFill>
                        <a:srgbClr val="EEF2F5"/>
                      </a:solidFill>
                      <a:prstDash val="solid"/>
                      <a:round/>
                      <a:headEnd type="none" w="med" len="med"/>
                      <a:tailEnd type="none" w="med" len="med"/>
                    </a:lnL>
                    <a:lnR w="9525" cap="flat" cmpd="sng" algn="ctr">
                      <a:solidFill>
                        <a:srgbClr val="EEF2F5"/>
                      </a:solidFill>
                      <a:prstDash val="solid"/>
                      <a:round/>
                      <a:headEnd type="none" w="med" len="med"/>
                      <a:tailEnd type="none" w="med" len="med"/>
                    </a:lnR>
                    <a:lnT w="9525" cap="flat" cmpd="sng" algn="ctr">
                      <a:solidFill>
                        <a:srgbClr val="EEF2F5"/>
                      </a:solidFill>
                      <a:prstDash val="solid"/>
                      <a:round/>
                      <a:headEnd type="none" w="med" len="med"/>
                      <a:tailEnd type="none" w="med" len="med"/>
                    </a:lnT>
                    <a:lnB w="9525" cap="flat" cmpd="sng" algn="ctr">
                      <a:solidFill>
                        <a:srgbClr val="EEF2F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Chooses participants by deadline, utility or age (FedCS, Oort, age-of-information, Whittle index)</a:t>
                      </a:r>
                      <a:endParaRPr lang="en-US" sz="1400" dirty="0"/>
                    </a:p>
                  </a:txBody>
                  <a:tcPr marL="109728" marR="109728" marT="54864" marB="54864" anchor="ctr">
                    <a:lnL w="9525" cap="flat" cmpd="sng" algn="ctr">
                      <a:solidFill>
                        <a:srgbClr val="EEF2F5"/>
                      </a:solidFill>
                      <a:prstDash val="solid"/>
                      <a:round/>
                      <a:headEnd type="none" w="med" len="med"/>
                      <a:tailEnd type="none" w="med" len="med"/>
                    </a:lnL>
                    <a:lnR w="9525" cap="flat" cmpd="sng" algn="ctr">
                      <a:solidFill>
                        <a:srgbClr val="EEF2F5"/>
                      </a:solidFill>
                      <a:prstDash val="solid"/>
                      <a:round/>
                      <a:headEnd type="none" w="med" len="med"/>
                      <a:tailEnd type="none" w="med" len="med"/>
                    </a:lnR>
                    <a:lnT w="9525" cap="flat" cmpd="sng" algn="ctr">
                      <a:solidFill>
                        <a:srgbClr val="EEF2F5"/>
                      </a:solidFill>
                      <a:prstDash val="solid"/>
                      <a:round/>
                      <a:headEnd type="none" w="med" len="med"/>
                      <a:tailEnd type="none" w="med" len="med"/>
                    </a:lnT>
                    <a:lnB w="9525" cap="flat" cmpd="sng" algn="ctr">
                      <a:solidFill>
                        <a:srgbClr val="EEF2F5"/>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Ignores the flight and radio cost of reaching a device</a:t>
                      </a:r>
                      <a:endParaRPr lang="en-US" sz="1400" dirty="0"/>
                    </a:p>
                  </a:txBody>
                  <a:tcPr marL="109728" marR="109728" marT="54864" marB="54864" anchor="ctr">
                    <a:lnL w="9525" cap="flat" cmpd="sng" algn="ctr">
                      <a:solidFill>
                        <a:srgbClr val="EEF2F5"/>
                      </a:solidFill>
                      <a:prstDash val="solid"/>
                      <a:round/>
                      <a:headEnd type="none" w="med" len="med"/>
                      <a:tailEnd type="none" w="med" len="med"/>
                    </a:lnL>
                    <a:lnR w="9525" cap="flat" cmpd="sng" algn="ctr">
                      <a:solidFill>
                        <a:srgbClr val="EEF2F5"/>
                      </a:solidFill>
                      <a:prstDash val="solid"/>
                      <a:round/>
                      <a:headEnd type="none" w="med" len="med"/>
                      <a:tailEnd type="none" w="med" len="med"/>
                    </a:lnR>
                    <a:lnT w="9525" cap="flat" cmpd="sng" algn="ctr">
                      <a:solidFill>
                        <a:srgbClr val="EEF2F5"/>
                      </a:solidFill>
                      <a:prstDash val="solid"/>
                      <a:round/>
                      <a:headEnd type="none" w="med" len="med"/>
                      <a:tailEnd type="none" w="med" len="med"/>
                    </a:lnT>
                    <a:lnB w="9525" cap="flat" cmpd="sng" algn="ctr">
                      <a:solidFill>
                        <a:srgbClr val="EEF2F5"/>
                      </a:solidFill>
                      <a:prstDash val="solid"/>
                      <a:round/>
                      <a:headEnd type="none" w="med" len="med"/>
                      <a:tailEnd type="none" w="med" len="med"/>
                    </a:lnB>
                    <a:solidFill>
                      <a:schemeClr val="bg1"/>
                    </a:solidFill>
                  </a:tcPr>
                </a:tc>
              </a:tr>
              <a:tr h="749808">
                <a:tc>
                  <a:txBody>
                    <a:bodyPr/>
                    <a:lstStyle/>
                    <a:p>
                      <a:pPr indent="0" marL="0">
                        <a:buNone/>
                      </a:pPr>
                      <a:r>
                        <a:rPr lang="en-US" sz="1400" b="1" dirty="0">
                          <a:solidFill>
                            <a:schemeClr val="tx1"/>
                          </a:solidFill>
                        </a:rPr>
                        <a:t>Async and hierarchical aggregation</a:t>
                      </a:r>
                      <a:endParaRPr lang="en-US" sz="1400" dirty="0"/>
                    </a:p>
                  </a:txBody>
                  <a:tcPr marL="109728" marR="109728" marT="54864" marB="54864" anchor="ctr">
                    <a:lnL w="9525" cap="flat" cmpd="sng" algn="ctr">
                      <a:solidFill>
                        <a:srgbClr val="EEF2F5"/>
                      </a:solidFill>
                      <a:prstDash val="solid"/>
                      <a:round/>
                      <a:headEnd type="none" w="med" len="med"/>
                      <a:tailEnd type="none" w="med" len="med"/>
                    </a:lnL>
                    <a:lnR w="9525" cap="flat" cmpd="sng" algn="ctr">
                      <a:solidFill>
                        <a:srgbClr val="EEF2F5"/>
                      </a:solidFill>
                      <a:prstDash val="solid"/>
                      <a:round/>
                      <a:headEnd type="none" w="med" len="med"/>
                      <a:tailEnd type="none" w="med" len="med"/>
                    </a:lnR>
                    <a:lnT w="9525" cap="flat" cmpd="sng" algn="ctr">
                      <a:solidFill>
                        <a:srgbClr val="EEF2F5"/>
                      </a:solidFill>
                      <a:prstDash val="solid"/>
                      <a:round/>
                      <a:headEnd type="none" w="med" len="med"/>
                      <a:tailEnd type="none" w="med" len="med"/>
                    </a:lnT>
                    <a:lnB w="9525" cap="flat" cmpd="sng" algn="ctr">
                      <a:solidFill>
                        <a:srgbClr val="EEF2F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Down-weights late, stale updates (FedBuff, Async‑HFL)</a:t>
                      </a:r>
                      <a:endParaRPr lang="en-US" sz="1400" dirty="0"/>
                    </a:p>
                  </a:txBody>
                  <a:tcPr marL="109728" marR="109728" marT="54864" marB="54864" anchor="ctr">
                    <a:lnL w="9525" cap="flat" cmpd="sng" algn="ctr">
                      <a:solidFill>
                        <a:srgbClr val="EEF2F5"/>
                      </a:solidFill>
                      <a:prstDash val="solid"/>
                      <a:round/>
                      <a:headEnd type="none" w="med" len="med"/>
                      <a:tailEnd type="none" w="med" len="med"/>
                    </a:lnL>
                    <a:lnR w="9525" cap="flat" cmpd="sng" algn="ctr">
                      <a:solidFill>
                        <a:srgbClr val="EEF2F5"/>
                      </a:solidFill>
                      <a:prstDash val="solid"/>
                      <a:round/>
                      <a:headEnd type="none" w="med" len="med"/>
                      <a:tailEnd type="none" w="med" len="med"/>
                    </a:lnR>
                    <a:lnT w="9525" cap="flat" cmpd="sng" algn="ctr">
                      <a:solidFill>
                        <a:srgbClr val="EEF2F5"/>
                      </a:solidFill>
                      <a:prstDash val="solid"/>
                      <a:round/>
                      <a:headEnd type="none" w="med" len="med"/>
                      <a:tailEnd type="none" w="med" len="med"/>
                    </a:lnT>
                    <a:lnB w="9525" cap="flat" cmpd="sng" algn="ctr">
                      <a:solidFill>
                        <a:srgbClr val="EEF2F5"/>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4"/>
                          </a:solidFill>
                        </a:rPr>
                        <a:t>Updates arrive over the network, not by flight</a:t>
                      </a:r>
                      <a:endParaRPr lang="en-US" sz="1400" dirty="0"/>
                    </a:p>
                  </a:txBody>
                  <a:tcPr marL="109728" marR="109728" marT="54864" marB="54864" anchor="ctr">
                    <a:lnL w="9525" cap="flat" cmpd="sng" algn="ctr">
                      <a:solidFill>
                        <a:srgbClr val="EEF2F5"/>
                      </a:solidFill>
                      <a:prstDash val="solid"/>
                      <a:round/>
                      <a:headEnd type="none" w="med" len="med"/>
                      <a:tailEnd type="none" w="med" len="med"/>
                    </a:lnL>
                    <a:lnR w="9525" cap="flat" cmpd="sng" algn="ctr">
                      <a:solidFill>
                        <a:srgbClr val="EEF2F5"/>
                      </a:solidFill>
                      <a:prstDash val="solid"/>
                      <a:round/>
                      <a:headEnd type="none" w="med" len="med"/>
                      <a:tailEnd type="none" w="med" len="med"/>
                    </a:lnR>
                    <a:lnT w="9525" cap="flat" cmpd="sng" algn="ctr">
                      <a:solidFill>
                        <a:srgbClr val="EEF2F5"/>
                      </a:solidFill>
                      <a:prstDash val="solid"/>
                      <a:round/>
                      <a:headEnd type="none" w="med" len="med"/>
                      <a:tailEnd type="none" w="med" len="med"/>
                    </a:lnT>
                    <a:lnB w="9525" cap="flat" cmpd="sng" algn="ctr">
                      <a:solidFill>
                        <a:srgbClr val="EEF2F5"/>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RELATED WORK</a:t>
            </a:r>
            <a:endParaRPr lang="en-US" sz="1200" dirty="0"/>
          </a:p>
        </p:txBody>
      </p:sp>
      <p:sp>
        <p:nvSpPr>
          <p:cNvPr id="3" name="Text 1"/>
          <p:cNvSpPr/>
          <p:nvPr>
            <p:ph idx="102" type="title" hasCustomPrompt="1"/>
          </p:nvPr>
        </p:nvSpPr>
        <p:spPr>
          <a:xfrm>
            <a:off x="548640" y="585216"/>
            <a:ext cx="11094415" cy="658368"/>
          </a:xfrm>
          <a:prstGeom prst="rect">
            <a:avLst/>
          </a:prstGeom>
          <a:noFill/>
          <a:ln/>
        </p:spPr>
        <p:txBody>
          <a:bodyPr wrap="square" lIns="0" tIns="0" rIns="0" bIns="0" rtlCol="0" anchor="t"/>
          <a:lstStyle/>
          <a:p>
            <a:pPr algn="l" indent="0" marL="0">
              <a:buNone/>
            </a:pPr>
            <a:r>
              <a:rPr lang="en-US" sz="3600" b="1" dirty="0">
                <a:solidFill>
                  <a:schemeClr val="tx1"/>
                </a:solidFill>
              </a:rPr>
              <a:t>The gap no prior work closes</a:t>
            </a:r>
            <a:endParaRPr lang="en-US" sz="3600" dirty="0"/>
          </a:p>
        </p:txBody>
      </p:sp>
      <p:sp>
        <p:nvSpPr>
          <p:cNvPr id="4" name="Text 1"/>
          <p:cNvSpPr/>
          <p:nvPr>
            <p:ph idx="103" type="body" hasCustomPrompt="1"/>
          </p:nvPr>
        </p:nvSpPr>
        <p:spPr>
          <a:xfrm>
            <a:off x="548640" y="1298448"/>
            <a:ext cx="11094415" cy="411480"/>
          </a:xfrm>
          <a:prstGeom prst="rect">
            <a:avLst/>
          </a:prstGeom>
          <a:noFill/>
          <a:ln/>
        </p:spPr>
        <p:txBody>
          <a:bodyPr wrap="square" lIns="0" tIns="0" rIns="0" bIns="0" rtlCol="0" anchor="t"/>
          <a:lstStyle/>
          <a:p>
            <a:pPr indent="0" marL="0">
              <a:buNone/>
            </a:pPr>
            <a:r>
              <a:rPr lang="en-US" sz="1700" dirty="0">
                <a:solidFill>
                  <a:schemeClr val="accent3"/>
                </a:solidFill>
              </a:rPr>
              <a:t>Even FedEx, the closest precedent, does not tie radio reach and deadlines to in-flight route changes.</a:t>
            </a:r>
            <a:endParaRPr lang="en-US" sz="1700" dirty="0"/>
          </a:p>
        </p:txBody>
      </p:sp>
      <p:graphicFrame>
        <p:nvGraphicFramePr>
          <p:cNvPr id="8" name="gap matrix"/>
          <p:cNvGraphicFramePr>
            <a:graphicFrameLocks noGrp="1"/>
          </p:cNvGraphicFramePr>
          <p:nvPr>
            <p:extLst>
              <p:ext uri="{D42A27DB-BD31-4B8C-83A1-F6EECF244321}">
                <p14:modId xmlns:p14="http://schemas.microsoft.com/office/powerpoint/2010/main" val="1579011935"/>
              </p:ext>
            </p:extLst>
          </p:nvPr>
        </p:nvGraphicFramePr>
        <p:xfrm>
          <a:off x="548640" y="1874520"/>
          <a:ext cx="11094415" cy="914400"/>
        </p:xfrm>
        <a:graphic>
          <a:graphicData uri="http://schemas.openxmlformats.org/drawingml/2006/table">
            <a:tbl>
              <a:tblPr/>
              <a:tblGrid>
                <a:gridCol w="3136392"/>
                <a:gridCol w="1325880"/>
                <a:gridCol w="1325880"/>
                <a:gridCol w="1325880"/>
                <a:gridCol w="1325880"/>
                <a:gridCol w="1325880"/>
                <a:gridCol w="1325880"/>
              </a:tblGrid>
              <a:tr h="658368">
                <a:tc>
                  <a:txBody>
                    <a:bodyPr/>
                    <a:lstStyle/>
                    <a:p>
                      <a:pPr algn="l" indent="0" marL="0">
                        <a:buNone/>
                      </a:pPr>
                      <a:r>
                        <a:rPr lang="en-US" sz="1400" b="1" dirty="0">
                          <a:solidFill>
                            <a:schemeClr val="bg1"/>
                          </a:solidFill>
                        </a:rPr>
                        <a:t>Approach</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Physical model transport</a:t>
                      </a:r>
                      <a:endParaRPr lang="en-US" sz="13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Explicit RF decision</a:t>
                      </a:r>
                      <a:endParaRPr lang="en-US" sz="13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Route decision</a:t>
                      </a:r>
                      <a:endParaRPr lang="en-US" sz="13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Deadline / freshness aware</a:t>
                      </a:r>
                      <a:endParaRPr lang="en-US" sz="13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In-mission replanning</a:t>
                      </a:r>
                      <a:endParaRPr lang="en-US" sz="13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Joint FL + mobility / RF</a:t>
                      </a:r>
                      <a:endParaRPr lang="en-US" sz="13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tx2"/>
                    </a:solidFill>
                  </a:tcPr>
                </a:tc>
              </a:tr>
              <a:tr h="438912">
                <a:tc>
                  <a:txBody>
                    <a:bodyPr/>
                    <a:lstStyle/>
                    <a:p>
                      <a:pPr algn="l" indent="0" marL="0">
                        <a:buNone/>
                      </a:pPr>
                      <a:r>
                        <a:rPr lang="en-US" sz="1400" dirty="0">
                          <a:solidFill>
                            <a:schemeClr val="tx1"/>
                          </a:solidFill>
                        </a:rPr>
                        <a:t>Hierarchical FL</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accent3"/>
                          </a:solidFill>
                        </a:rPr>
                        <a:t>—</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accent3"/>
                          </a:solidFill>
                        </a:rPr>
                        <a:t>—</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accent3"/>
                          </a:solidFill>
                        </a:rPr>
                        <a:t>—</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accent3"/>
                          </a:solidFill>
                        </a:rPr>
                        <a:t>—</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accent3"/>
                          </a:solidFill>
                        </a:rPr>
                        <a:t>—</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accent3"/>
                          </a:solidFill>
                        </a:rPr>
                        <a:t>—</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38912">
                <a:tc>
                  <a:txBody>
                    <a:bodyPr/>
                    <a:lstStyle/>
                    <a:p>
                      <a:pPr algn="l" indent="0" marL="0">
                        <a:buNone/>
                      </a:pPr>
                      <a:r>
                        <a:rPr lang="en-US" sz="1400" dirty="0">
                          <a:solidFill>
                            <a:schemeClr val="tx1"/>
                          </a:solidFill>
                        </a:rPr>
                        <a:t>FedCS / Oort</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accent3"/>
                          </a:solidFill>
                        </a:rPr>
                        <a:t>—</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accent3"/>
                          </a:solidFill>
                        </a:rPr>
                        <a:t>—</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accent3"/>
                          </a:solidFill>
                        </a:rPr>
                        <a:t>—</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latin typeface="Segoe UI Symbol" charset="0"/>
                        <a:ea typeface="Segoe UI Symbol" charset="0"/>
                        <a:cs typeface="Segoe UI Symbol" charset="0"/>
                      </a:endParaRPr>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400" dirty="0">
                          <a:solidFill>
                            <a:schemeClr val="accent3"/>
                          </a:solidFill>
                        </a:rPr>
                        <a:t>—</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accent3"/>
                          </a:solidFill>
                        </a:rPr>
                        <a:t>—</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38912">
                <a:tc>
                  <a:txBody>
                    <a:bodyPr/>
                    <a:lstStyle/>
                    <a:p>
                      <a:pPr algn="l" indent="0" marL="0">
                        <a:buNone/>
                      </a:pPr>
                      <a:r>
                        <a:rPr lang="en-US" sz="1400" dirty="0">
                          <a:solidFill>
                            <a:schemeClr val="tx1"/>
                          </a:solidFill>
                        </a:rPr>
                        <a:t>UAV multi-community FL</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accent3"/>
                          </a:solidFill>
                        </a:rPr>
                        <a:t>—</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accent3"/>
                          </a:solidFill>
                        </a:rPr>
                        <a:t>—</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latin typeface="Segoe UI Symbol" charset="0"/>
                        <a:ea typeface="Segoe UI Symbol" charset="0"/>
                        <a:cs typeface="Segoe UI Symbol" charset="0"/>
                      </a:endParaRPr>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200" i="1" dirty="0">
                          <a:solidFill>
                            <a:schemeClr val="tx1"/>
                          </a:solidFill>
                        </a:rPr>
                        <a:t>partial</a:t>
                      </a:r>
                      <a:endParaRPr lang="en-US" sz="12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5">
                        <a:alpha val="30000"/>
                      </a:schemeClr>
                    </a:solidFill>
                  </a:tcPr>
                </a:tc>
                <a:tc>
                  <a:txBody>
                    <a:bodyPr/>
                    <a:lstStyle/>
                    <a:p>
                      <a:pPr algn="ctr" indent="0" marL="0">
                        <a:buNone/>
                      </a:pPr>
                      <a:r>
                        <a:rPr lang="en-US" sz="1400" dirty="0">
                          <a:solidFill>
                            <a:schemeClr val="accent3"/>
                          </a:solidFill>
                        </a:rPr>
                        <a:t>—</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latin typeface="Segoe UI Symbol" charset="0"/>
                        <a:ea typeface="Segoe UI Symbol" charset="0"/>
                        <a:cs typeface="Segoe UI Symbol" charset="0"/>
                      </a:endParaRPr>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r>
              <a:tr h="438912">
                <a:tc>
                  <a:txBody>
                    <a:bodyPr/>
                    <a:lstStyle/>
                    <a:p>
                      <a:pPr algn="l" indent="0" marL="0">
                        <a:buNone/>
                      </a:pPr>
                      <a:r>
                        <a:rPr lang="en-US" sz="1400" dirty="0">
                          <a:solidFill>
                            <a:schemeClr val="tx1"/>
                          </a:solidFill>
                        </a:rPr>
                        <a:t>FedEx (transporters)</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latin typeface="Segoe UI Symbol" charset="0"/>
                        <a:ea typeface="Segoe UI Symbol" charset="0"/>
                        <a:cs typeface="Segoe UI Symbol" charset="0"/>
                      </a:endParaRPr>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400" dirty="0">
                          <a:solidFill>
                            <a:schemeClr val="accent3"/>
                          </a:solidFill>
                        </a:rPr>
                        <a:t>—</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latin typeface="Segoe UI Symbol" charset="0"/>
                        <a:ea typeface="Segoe UI Symbol" charset="0"/>
                        <a:cs typeface="Segoe UI Symbol" charset="0"/>
                      </a:endParaRPr>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200" i="1" dirty="0">
                          <a:solidFill>
                            <a:schemeClr val="tx1"/>
                          </a:solidFill>
                        </a:rPr>
                        <a:t>partial</a:t>
                      </a:r>
                      <a:endParaRPr lang="en-US" sz="12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5">
                        <a:alpha val="30000"/>
                      </a:schemeClr>
                    </a:solidFill>
                  </a:tcPr>
                </a:tc>
                <a:tc>
                  <a:txBody>
                    <a:bodyPr/>
                    <a:lstStyle/>
                    <a:p>
                      <a:pPr algn="ctr" indent="0" marL="0">
                        <a:buNone/>
                      </a:pPr>
                      <a:r>
                        <a:rPr lang="en-US" sz="1400" dirty="0">
                          <a:solidFill>
                            <a:schemeClr val="accent3"/>
                          </a:solidFill>
                        </a:rPr>
                        <a:t>—</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latin typeface="Segoe UI Symbol" charset="0"/>
                        <a:ea typeface="Segoe UI Symbol" charset="0"/>
                        <a:cs typeface="Segoe UI Symbol" charset="0"/>
                      </a:endParaRPr>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r>
              <a:tr h="438912">
                <a:tc>
                  <a:txBody>
                    <a:bodyPr/>
                    <a:lstStyle/>
                    <a:p>
                      <a:pPr algn="l" indent="0" marL="0">
                        <a:buNone/>
                      </a:pPr>
                      <a:r>
                        <a:rPr lang="en-US" sz="1400" dirty="0">
                          <a:solidFill>
                            <a:schemeClr val="tx1"/>
                          </a:solidFill>
                        </a:rPr>
                        <a:t>Model-aided multi-UAV RL</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accent3"/>
                          </a:solidFill>
                        </a:rPr>
                        <a:t>—</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i="1" dirty="0">
                          <a:solidFill>
                            <a:schemeClr val="tx1"/>
                          </a:solidFill>
                        </a:rPr>
                        <a:t>partial</a:t>
                      </a:r>
                      <a:endParaRPr lang="en-US" sz="12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5">
                        <a:alpha val="30000"/>
                      </a:schemeClr>
                    </a:solidFill>
                  </a:tcPr>
                </a:tc>
                <a:tc>
                  <a:txBody>
                    <a:bodyP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latin typeface="Segoe UI Symbol" charset="0"/>
                        <a:ea typeface="Segoe UI Symbol" charset="0"/>
                        <a:cs typeface="Segoe UI Symbol" charset="0"/>
                      </a:endParaRPr>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400" dirty="0">
                          <a:solidFill>
                            <a:schemeClr val="accent3"/>
                          </a:solidFill>
                        </a:rPr>
                        <a:t>—</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latin typeface="Segoe UI Symbol" charset="0"/>
                        <a:ea typeface="Segoe UI Symbol" charset="0"/>
                        <a:cs typeface="Segoe UI Symbol" charset="0"/>
                      </a:endParaRPr>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400" dirty="0">
                          <a:solidFill>
                            <a:schemeClr val="accent3"/>
                          </a:solidFill>
                        </a:rPr>
                        <a:t>—</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38912">
                <a:tc>
                  <a:txBody>
                    <a:bodyPr/>
                    <a:lstStyle/>
                    <a:p>
                      <a:pPr algn="l" indent="0" marL="0">
                        <a:buNone/>
                      </a:pPr>
                      <a:r>
                        <a:rPr lang="en-US" sz="1400" dirty="0">
                          <a:solidFill>
                            <a:schemeClr val="tx1"/>
                          </a:solidFill>
                        </a:rPr>
                        <a:t>Deadline-aware multi-UAV</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accent3"/>
                          </a:solidFill>
                        </a:rPr>
                        <a:t>—</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i="1" dirty="0">
                          <a:solidFill>
                            <a:schemeClr val="tx1"/>
                          </a:solidFill>
                        </a:rPr>
                        <a:t>partial</a:t>
                      </a:r>
                      <a:endParaRPr lang="en-US" sz="12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5">
                        <a:alpha val="30000"/>
                      </a:schemeClr>
                    </a:solidFill>
                  </a:tcPr>
                </a:tc>
                <a:tc>
                  <a:txBody>
                    <a:bodyP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latin typeface="Segoe UI Symbol" charset="0"/>
                        <a:ea typeface="Segoe UI Symbol" charset="0"/>
                        <a:cs typeface="Segoe UI Symbol" charset="0"/>
                      </a:endParaRPr>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latin typeface="Segoe UI Symbol" charset="0"/>
                        <a:ea typeface="Segoe UI Symbol" charset="0"/>
                        <a:cs typeface="Segoe UI Symbol" charset="0"/>
                      </a:endParaRPr>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latin typeface="Segoe UI Symbol" charset="0"/>
                        <a:ea typeface="Segoe UI Symbol" charset="0"/>
                        <a:cs typeface="Segoe UI Symbol" charset="0"/>
                      </a:endParaRPr>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400" dirty="0">
                          <a:solidFill>
                            <a:schemeClr val="accent3"/>
                          </a:solidFill>
                        </a:rPr>
                        <a:t>—</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r>
              <a:tr h="438912">
                <a:tc>
                  <a:txBody>
                    <a:bodyPr/>
                    <a:lstStyle/>
                    <a:p>
                      <a:pPr algn="l" indent="0" marL="0">
                        <a:buNone/>
                      </a:pPr>
                      <a:r>
                        <a:rPr lang="en-US" sz="1400" dirty="0">
                          <a:solidFill>
                            <a:schemeClr val="tx1"/>
                          </a:solidFill>
                        </a:rPr>
                        <a:t>UAV asynchronous FL</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accent3"/>
                          </a:solidFill>
                        </a:rPr>
                        <a:t>—</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i="1" dirty="0">
                          <a:solidFill>
                            <a:schemeClr val="tx1"/>
                          </a:solidFill>
                        </a:rPr>
                        <a:t>partial</a:t>
                      </a:r>
                      <a:endParaRPr lang="en-US" sz="12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5">
                        <a:alpha val="30000"/>
                      </a:schemeClr>
                    </a:solidFill>
                  </a:tcPr>
                </a:tc>
                <a:tc>
                  <a:txBody>
                    <a:bodyP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latin typeface="Segoe UI Symbol" charset="0"/>
                        <a:ea typeface="Segoe UI Symbol" charset="0"/>
                        <a:cs typeface="Segoe UI Symbol" charset="0"/>
                      </a:endParaRPr>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latin typeface="Segoe UI Symbol" charset="0"/>
                        <a:ea typeface="Segoe UI Symbol" charset="0"/>
                        <a:cs typeface="Segoe UI Symbol" charset="0"/>
                      </a:endParaRPr>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400" dirty="0">
                          <a:solidFill>
                            <a:schemeClr val="accent3"/>
                          </a:solidFill>
                        </a:rPr>
                        <a:t>—</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latin typeface="Segoe UI Symbol" charset="0"/>
                        <a:ea typeface="Segoe UI Symbol" charset="0"/>
                        <a:cs typeface="Segoe UI Symbol" charset="0"/>
                      </a:endParaRPr>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2"/>
                    </a:solidFill>
                  </a:tcPr>
                </a:tc>
              </a:tr>
              <a:tr h="438912">
                <a:tc>
                  <a:txBody>
                    <a:bodyPr/>
                    <a:lstStyle/>
                    <a:p>
                      <a:pPr algn="l" indent="0" marL="0">
                        <a:buNone/>
                      </a:pPr>
                      <a:r>
                        <a:rPr lang="en-US" sz="1400" b="1" dirty="0">
                          <a:solidFill>
                            <a:schemeClr val="accent1"/>
                          </a:solidFill>
                        </a:rPr>
                        <a:t>FeRRy (ours)</a:t>
                      </a:r>
                      <a:endParaRPr lang="en-US" sz="1400" dirty="0"/>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latin typeface="Segoe UI Symbol" charset="0"/>
                        <a:ea typeface="Segoe UI Symbol" charset="0"/>
                        <a:cs typeface="Segoe UI Symbol" charset="0"/>
                      </a:endParaRPr>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latin typeface="Segoe UI Symbol" charset="0"/>
                        <a:ea typeface="Segoe UI Symbol" charset="0"/>
                        <a:cs typeface="Segoe UI Symbol" charset="0"/>
                      </a:endParaRPr>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latin typeface="Segoe UI Symbol" charset="0"/>
                        <a:ea typeface="Segoe UI Symbol" charset="0"/>
                        <a:cs typeface="Segoe UI Symbol" charset="0"/>
                      </a:endParaRPr>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latin typeface="Segoe UI Symbol" charset="0"/>
                        <a:ea typeface="Segoe UI Symbol" charset="0"/>
                        <a:cs typeface="Segoe UI Symbol" charset="0"/>
                      </a:endParaRPr>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latin typeface="Segoe UI Symbol" charset="0"/>
                        <a:ea typeface="Segoe UI Symbol" charset="0"/>
                        <a:cs typeface="Segoe UI Symbol" charset="0"/>
                      </a:endParaRPr>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latin typeface="Segoe UI Symbol" charset="0"/>
                        <a:ea typeface="Segoe UI Symbol" charset="0"/>
                        <a:cs typeface="Segoe UI Symbol" charset="0"/>
                      </a:endParaRPr>
                    </a:p>
                  </a:txBody>
                  <a:tcPr marL="91440" marR="91440" marT="36576" marB="36576"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accent1"/>
                    </a:solidFill>
                  </a:tcPr>
                </a:tc>
              </a:tr>
            </a:tbl>
          </a:graphicData>
        </a:graphic>
      </p:graphicFrame>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METHODS</a:t>
            </a:r>
            <a:endParaRPr lang="en-US" sz="1200" dirty="0"/>
          </a:p>
        </p:txBody>
      </p:sp>
      <p:sp>
        <p:nvSpPr>
          <p:cNvPr id="3" name="Text 1"/>
          <p:cNvSpPr/>
          <p:nvPr>
            <p:ph idx="102" type="title" hasCustomPrompt="1"/>
          </p:nvPr>
        </p:nvSpPr>
        <p:spPr>
          <a:xfrm>
            <a:off x="548640" y="585216"/>
            <a:ext cx="11094415" cy="658368"/>
          </a:xfrm>
          <a:prstGeom prst="rect">
            <a:avLst/>
          </a:prstGeom>
          <a:noFill/>
          <a:ln/>
        </p:spPr>
        <p:txBody>
          <a:bodyPr wrap="square" lIns="0" tIns="0" rIns="0" bIns="0" rtlCol="0" anchor="t"/>
          <a:lstStyle/>
          <a:p>
            <a:pPr algn="l" indent="0" marL="0">
              <a:buNone/>
            </a:pPr>
            <a:r>
              <a:rPr lang="en-US" sz="3600" b="1" dirty="0">
                <a:solidFill>
                  <a:schemeClr val="tx1"/>
                </a:solidFill>
              </a:rPr>
              <a:t>How a FeRRy mission works</a:t>
            </a:r>
            <a:endParaRPr lang="en-US" sz="3600" dirty="0"/>
          </a:p>
        </p:txBody>
      </p:sp>
      <p:sp>
        <p:nvSpPr>
          <p:cNvPr id="4" name="Text 1"/>
          <p:cNvSpPr/>
          <p:nvPr>
            <p:ph idx="103" type="body" hasCustomPrompt="1"/>
          </p:nvPr>
        </p:nvSpPr>
        <p:spPr>
          <a:xfrm>
            <a:off x="548640" y="1298448"/>
            <a:ext cx="11094415" cy="411480"/>
          </a:xfrm>
          <a:prstGeom prst="rect">
            <a:avLst/>
          </a:prstGeom>
          <a:noFill/>
          <a:ln/>
        </p:spPr>
        <p:txBody>
          <a:bodyPr wrap="square" lIns="0" tIns="0" rIns="0" bIns="0" rtlCol="0" anchor="t"/>
          <a:lstStyle/>
          <a:p>
            <a:pPr indent="0" marL="0">
              <a:buNone/>
            </a:pPr>
            <a:r>
              <a:rPr lang="en-US" sz="1700" dirty="0">
                <a:solidFill>
                  <a:schemeClr val="accent3"/>
                </a:solidFill>
              </a:rPr>
              <a:t>One edge server, one or more drones, and static field devices that train offline between visits.</a:t>
            </a:r>
            <a:endParaRPr lang="en-US" sz="1700" dirty="0"/>
          </a:p>
        </p:txBody>
      </p:sp>
      <p:sp>
        <p:nvSpPr>
          <p:cNvPr id="5" name="step 1"/>
          <p:cNvSpPr/>
          <p:nvPr/>
        </p:nvSpPr>
        <p:spPr>
          <a:xfrm>
            <a:off x="548640" y="1920240"/>
            <a:ext cx="2011680" cy="2240280"/>
          </a:xfrm>
          <a:prstGeom prst="roundRect">
            <a:avLst>
              <a:gd name="adj" fmla="val 3636"/>
            </a:avLst>
          </a:prstGeom>
          <a:solidFill>
            <a:schemeClr val="bg2"/>
          </a:solidFill>
          <a:ln w="12700">
            <a:solidFill>
              <a:schemeClr val="bg2">
                <a:alpha val="0"/>
              </a:schemeClr>
            </a:solidFill>
            <a:prstDash val="solid"/>
          </a:ln>
        </p:spPr>
      </p:sp>
      <p:sp>
        <p:nvSpPr>
          <p:cNvPr id="6" name="Plan circle"/>
          <p:cNvSpPr/>
          <p:nvPr/>
        </p:nvSpPr>
        <p:spPr>
          <a:xfrm>
            <a:off x="749808" y="2103120"/>
            <a:ext cx="566928" cy="566928"/>
          </a:xfrm>
          <a:prstGeom prst="ellipse">
            <a:avLst/>
          </a:prstGeom>
          <a:solidFill>
            <a:schemeClr val="accent1"/>
          </a:solidFill>
          <a:ln w="12700">
            <a:solidFill>
              <a:schemeClr val="accent1">
                <a:alpha val="0"/>
              </a:schemeClr>
            </a:solidFill>
            <a:prstDash val="solid"/>
          </a:ln>
        </p:spPr>
      </p:sp>
      <p:pic>
        <p:nvPicPr>
          <p:cNvPr id="7" name="Plan glyph" descr="preencoded.png">    </p:cNvPr>
          <p:cNvPicPr>
            <a:picLocks noChangeAspect="1"/>
          </p:cNvPicPr>
          <p:nvPr/>
        </p:nvPicPr>
        <p:blipFill>
          <a:blip r:embed="rId1"/>
          <a:stretch>
            <a:fillRect/>
          </a:stretch>
        </p:blipFill>
        <p:spPr>
          <a:xfrm>
            <a:off x="874532" y="2227844"/>
            <a:ext cx="317480" cy="317480"/>
          </a:xfrm>
          <a:prstGeom prst="rect">
            <a:avLst/>
          </a:prstGeom>
        </p:spPr>
      </p:pic>
      <p:sp>
        <p:nvSpPr>
          <p:cNvPr id="8" name="step number 1"/>
          <p:cNvSpPr txBox="1"/>
          <p:nvPr/>
        </p:nvSpPr>
        <p:spPr>
          <a:xfrm>
            <a:off x="1993392" y="2084832"/>
            <a:ext cx="365760" cy="365760"/>
          </a:xfrm>
          <a:prstGeom prst="rect">
            <a:avLst/>
          </a:prstGeom>
          <a:noFill/>
          <a:ln/>
        </p:spPr>
        <p:txBody>
          <a:bodyPr wrap="square" lIns="0" tIns="0" rIns="0" bIns="0" rtlCol="0" anchor="ctr"/>
          <a:lstStyle/>
          <a:p>
            <a:pPr algn="r" indent="0" marL="0">
              <a:buNone/>
            </a:pPr>
            <a:r>
              <a:rPr lang="en-US" sz="2200" b="1" dirty="0">
                <a:solidFill>
                  <a:schemeClr val="accent3"/>
                </a:solidFill>
              </a:rPr>
              <a:t>1</a:t>
            </a:r>
            <a:endParaRPr lang="en-US" sz="2200" dirty="0"/>
          </a:p>
        </p:txBody>
      </p:sp>
      <p:sp>
        <p:nvSpPr>
          <p:cNvPr id="9" name="Plan"/>
          <p:cNvSpPr txBox="1"/>
          <p:nvPr/>
        </p:nvSpPr>
        <p:spPr>
          <a:xfrm>
            <a:off x="749808" y="2788920"/>
            <a:ext cx="164592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Plan</a:t>
            </a:r>
            <a:endParaRPr lang="en-US" sz="1700" dirty="0"/>
          </a:p>
          <a:p>
            <a:pPr indent="0" marL="0">
              <a:buNone/>
            </a:pPr>
            <a:r>
              <a:rPr lang="en-US" sz="1400" dirty="0">
                <a:solidFill>
                  <a:schemeClr val="tx1"/>
                </a:solidFill>
              </a:rPr>
              <a:t>At the dock: choose the radio band and the route.</a:t>
            </a:r>
            <a:endParaRPr lang="en-US" sz="1700" dirty="0"/>
          </a:p>
        </p:txBody>
      </p:sp>
      <p:sp>
        <p:nvSpPr>
          <p:cNvPr id="10" name="step arrow 1"/>
          <p:cNvSpPr/>
          <p:nvPr/>
        </p:nvSpPr>
        <p:spPr>
          <a:xfrm rot="5400000">
            <a:off x="2616670" y="2971800"/>
            <a:ext cx="164592" cy="146304"/>
          </a:xfrm>
          <a:prstGeom prst="triangle">
            <a:avLst/>
          </a:prstGeom>
          <a:solidFill>
            <a:schemeClr val="accent3"/>
          </a:solidFill>
          <a:ln w="12700">
            <a:solidFill>
              <a:schemeClr val="accent3">
                <a:alpha val="0"/>
              </a:schemeClr>
            </a:solidFill>
            <a:prstDash val="solid"/>
          </a:ln>
        </p:spPr>
      </p:sp>
      <p:sp>
        <p:nvSpPr>
          <p:cNvPr id="11" name="step 2"/>
          <p:cNvSpPr/>
          <p:nvPr/>
        </p:nvSpPr>
        <p:spPr>
          <a:xfrm>
            <a:off x="2819324" y="1920240"/>
            <a:ext cx="2011680" cy="2240280"/>
          </a:xfrm>
          <a:prstGeom prst="roundRect">
            <a:avLst>
              <a:gd name="adj" fmla="val 3636"/>
            </a:avLst>
          </a:prstGeom>
          <a:solidFill>
            <a:schemeClr val="bg2"/>
          </a:solidFill>
          <a:ln w="12700">
            <a:solidFill>
              <a:schemeClr val="bg2">
                <a:alpha val="0"/>
              </a:schemeClr>
            </a:solidFill>
            <a:prstDash val="solid"/>
          </a:ln>
        </p:spPr>
      </p:sp>
      <p:sp>
        <p:nvSpPr>
          <p:cNvPr id="12" name="Collect circle"/>
          <p:cNvSpPr/>
          <p:nvPr/>
        </p:nvSpPr>
        <p:spPr>
          <a:xfrm>
            <a:off x="3020492" y="2103120"/>
            <a:ext cx="566928" cy="566928"/>
          </a:xfrm>
          <a:prstGeom prst="ellipse">
            <a:avLst/>
          </a:prstGeom>
          <a:solidFill>
            <a:schemeClr val="accent2"/>
          </a:solidFill>
          <a:ln w="12700">
            <a:solidFill>
              <a:schemeClr val="accent2">
                <a:alpha val="0"/>
              </a:schemeClr>
            </a:solidFill>
            <a:prstDash val="solid"/>
          </a:ln>
        </p:spPr>
      </p:sp>
      <p:pic>
        <p:nvPicPr>
          <p:cNvPr id="13" name="Collect glyph" descr="preencoded.png">    </p:cNvPr>
          <p:cNvPicPr>
            <a:picLocks noChangeAspect="1"/>
          </p:cNvPicPr>
          <p:nvPr/>
        </p:nvPicPr>
        <p:blipFill>
          <a:blip r:embed="rId2"/>
          <a:stretch>
            <a:fillRect/>
          </a:stretch>
        </p:blipFill>
        <p:spPr>
          <a:xfrm>
            <a:off x="3145216" y="2227844"/>
            <a:ext cx="317480" cy="317480"/>
          </a:xfrm>
          <a:prstGeom prst="rect">
            <a:avLst/>
          </a:prstGeom>
        </p:spPr>
      </p:pic>
      <p:sp>
        <p:nvSpPr>
          <p:cNvPr id="14" name="step number 2"/>
          <p:cNvSpPr txBox="1"/>
          <p:nvPr/>
        </p:nvSpPr>
        <p:spPr>
          <a:xfrm>
            <a:off x="4264076" y="2084832"/>
            <a:ext cx="365760" cy="365760"/>
          </a:xfrm>
          <a:prstGeom prst="rect">
            <a:avLst/>
          </a:prstGeom>
          <a:noFill/>
          <a:ln/>
        </p:spPr>
        <p:txBody>
          <a:bodyPr wrap="square" lIns="0" tIns="0" rIns="0" bIns="0" rtlCol="0" anchor="ctr"/>
          <a:lstStyle/>
          <a:p>
            <a:pPr algn="r" indent="0" marL="0">
              <a:buNone/>
            </a:pPr>
            <a:r>
              <a:rPr lang="en-US" sz="2200" b="1" dirty="0">
                <a:solidFill>
                  <a:schemeClr val="accent3"/>
                </a:solidFill>
              </a:rPr>
              <a:t>2</a:t>
            </a:r>
            <a:endParaRPr lang="en-US" sz="2200" dirty="0"/>
          </a:p>
        </p:txBody>
      </p:sp>
      <p:sp>
        <p:nvSpPr>
          <p:cNvPr id="15" name="Collect"/>
          <p:cNvSpPr txBox="1"/>
          <p:nvPr/>
        </p:nvSpPr>
        <p:spPr>
          <a:xfrm>
            <a:off x="3020492" y="2788920"/>
            <a:ext cx="164592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Collect</a:t>
            </a:r>
            <a:endParaRPr lang="en-US" sz="1700" dirty="0"/>
          </a:p>
          <a:p>
            <a:pPr indent="0" marL="0">
              <a:buNone/>
            </a:pPr>
            <a:r>
              <a:rPr lang="en-US" sz="1400" dirty="0">
                <a:solidFill>
                  <a:schemeClr val="tx1"/>
                </a:solidFill>
              </a:rPr>
              <a:t>Pass 1: fly the route, hand over the model, pick up each device's update.</a:t>
            </a:r>
            <a:endParaRPr lang="en-US" sz="1700" dirty="0"/>
          </a:p>
        </p:txBody>
      </p:sp>
      <p:sp>
        <p:nvSpPr>
          <p:cNvPr id="16" name="step arrow 2"/>
          <p:cNvSpPr/>
          <p:nvPr/>
        </p:nvSpPr>
        <p:spPr>
          <a:xfrm rot="5400000">
            <a:off x="4887354" y="2971800"/>
            <a:ext cx="164592" cy="146304"/>
          </a:xfrm>
          <a:prstGeom prst="triangle">
            <a:avLst/>
          </a:prstGeom>
          <a:solidFill>
            <a:schemeClr val="accent3"/>
          </a:solidFill>
          <a:ln w="12700">
            <a:solidFill>
              <a:schemeClr val="accent3">
                <a:alpha val="0"/>
              </a:schemeClr>
            </a:solidFill>
            <a:prstDash val="solid"/>
          </a:ln>
        </p:spPr>
      </p:sp>
      <p:sp>
        <p:nvSpPr>
          <p:cNvPr id="17" name="step 3"/>
          <p:cNvSpPr/>
          <p:nvPr/>
        </p:nvSpPr>
        <p:spPr>
          <a:xfrm>
            <a:off x="5090008" y="1920240"/>
            <a:ext cx="2011680" cy="2240280"/>
          </a:xfrm>
          <a:prstGeom prst="roundRect">
            <a:avLst>
              <a:gd name="adj" fmla="val 3636"/>
            </a:avLst>
          </a:prstGeom>
          <a:solidFill>
            <a:schemeClr val="bg2"/>
          </a:solidFill>
          <a:ln w="12700">
            <a:solidFill>
              <a:schemeClr val="bg2">
                <a:alpha val="0"/>
              </a:schemeClr>
            </a:solidFill>
            <a:prstDash val="solid"/>
          </a:ln>
        </p:spPr>
      </p:sp>
      <p:sp>
        <p:nvSpPr>
          <p:cNvPr id="18" name="Merge on board circle"/>
          <p:cNvSpPr/>
          <p:nvPr/>
        </p:nvSpPr>
        <p:spPr>
          <a:xfrm>
            <a:off x="5291176" y="2103120"/>
            <a:ext cx="566928" cy="566928"/>
          </a:xfrm>
          <a:prstGeom prst="ellipse">
            <a:avLst/>
          </a:prstGeom>
          <a:solidFill>
            <a:schemeClr val="accent2"/>
          </a:solidFill>
          <a:ln w="12700">
            <a:solidFill>
              <a:schemeClr val="accent2">
                <a:alpha val="0"/>
              </a:schemeClr>
            </a:solidFill>
            <a:prstDash val="solid"/>
          </a:ln>
        </p:spPr>
      </p:sp>
      <p:pic>
        <p:nvPicPr>
          <p:cNvPr id="19" name="Merge on board glyph" descr="preencoded.png">    </p:cNvPr>
          <p:cNvPicPr>
            <a:picLocks noChangeAspect="1"/>
          </p:cNvPicPr>
          <p:nvPr/>
        </p:nvPicPr>
        <p:blipFill>
          <a:blip r:embed="rId3"/>
          <a:stretch>
            <a:fillRect/>
          </a:stretch>
        </p:blipFill>
        <p:spPr>
          <a:xfrm>
            <a:off x="5415900" y="2227844"/>
            <a:ext cx="317480" cy="317480"/>
          </a:xfrm>
          <a:prstGeom prst="rect">
            <a:avLst/>
          </a:prstGeom>
        </p:spPr>
      </p:pic>
      <p:sp>
        <p:nvSpPr>
          <p:cNvPr id="20" name="step number 3"/>
          <p:cNvSpPr txBox="1"/>
          <p:nvPr/>
        </p:nvSpPr>
        <p:spPr>
          <a:xfrm>
            <a:off x="6534760" y="2084832"/>
            <a:ext cx="365760" cy="365760"/>
          </a:xfrm>
          <a:prstGeom prst="rect">
            <a:avLst/>
          </a:prstGeom>
          <a:noFill/>
          <a:ln/>
        </p:spPr>
        <p:txBody>
          <a:bodyPr wrap="square" lIns="0" tIns="0" rIns="0" bIns="0" rtlCol="0" anchor="ctr"/>
          <a:lstStyle/>
          <a:p>
            <a:pPr algn="r" indent="0" marL="0">
              <a:buNone/>
            </a:pPr>
            <a:r>
              <a:rPr lang="en-US" sz="2200" b="1" dirty="0">
                <a:solidFill>
                  <a:schemeClr val="accent3"/>
                </a:solidFill>
              </a:rPr>
              <a:t>3</a:t>
            </a:r>
            <a:endParaRPr lang="en-US" sz="2200" dirty="0"/>
          </a:p>
        </p:txBody>
      </p:sp>
      <p:sp>
        <p:nvSpPr>
          <p:cNvPr id="21" name="Merge on board"/>
          <p:cNvSpPr txBox="1"/>
          <p:nvPr/>
        </p:nvSpPr>
        <p:spPr>
          <a:xfrm>
            <a:off x="5291176" y="2788920"/>
            <a:ext cx="164592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Merge on board</a:t>
            </a:r>
            <a:endParaRPr lang="en-US" sz="1700" dirty="0"/>
          </a:p>
          <a:p>
            <a:pPr indent="0" marL="0">
              <a:buNone/>
            </a:pPr>
            <a:r>
              <a:rPr lang="en-US" sz="1400" dirty="0">
                <a:solidFill>
                  <a:schemeClr val="tx1"/>
                </a:solidFill>
              </a:rPr>
              <a:t>Average the updates; weight stale ones down.</a:t>
            </a:r>
            <a:endParaRPr lang="en-US" sz="1700" dirty="0"/>
          </a:p>
        </p:txBody>
      </p:sp>
      <p:sp>
        <p:nvSpPr>
          <p:cNvPr id="22" name="step arrow 3"/>
          <p:cNvSpPr/>
          <p:nvPr/>
        </p:nvSpPr>
        <p:spPr>
          <a:xfrm rot="5400000">
            <a:off x="7158038" y="2971800"/>
            <a:ext cx="164592" cy="146304"/>
          </a:xfrm>
          <a:prstGeom prst="triangle">
            <a:avLst/>
          </a:prstGeom>
          <a:solidFill>
            <a:schemeClr val="accent3"/>
          </a:solidFill>
          <a:ln w="12700">
            <a:solidFill>
              <a:schemeClr val="accent3">
                <a:alpha val="0"/>
              </a:schemeClr>
            </a:solidFill>
            <a:prstDash val="solid"/>
          </a:ln>
        </p:spPr>
      </p:sp>
      <p:sp>
        <p:nvSpPr>
          <p:cNvPr id="23" name="step 4"/>
          <p:cNvSpPr/>
          <p:nvPr/>
        </p:nvSpPr>
        <p:spPr>
          <a:xfrm>
            <a:off x="7360691" y="1920240"/>
            <a:ext cx="2011680" cy="2240280"/>
          </a:xfrm>
          <a:prstGeom prst="roundRect">
            <a:avLst>
              <a:gd name="adj" fmla="val 3636"/>
            </a:avLst>
          </a:prstGeom>
          <a:solidFill>
            <a:schemeClr val="bg2"/>
          </a:solidFill>
          <a:ln w="12700">
            <a:solidFill>
              <a:schemeClr val="bg2">
                <a:alpha val="0"/>
              </a:schemeClr>
            </a:solidFill>
            <a:prstDash val="solid"/>
          </a:ln>
        </p:spPr>
      </p:sp>
      <p:sp>
        <p:nvSpPr>
          <p:cNvPr id="24" name="Upload circle"/>
          <p:cNvSpPr/>
          <p:nvPr/>
        </p:nvSpPr>
        <p:spPr>
          <a:xfrm>
            <a:off x="7561859" y="2103120"/>
            <a:ext cx="566928" cy="566928"/>
          </a:xfrm>
          <a:prstGeom prst="ellipse">
            <a:avLst/>
          </a:prstGeom>
          <a:solidFill>
            <a:schemeClr val="accent2"/>
          </a:solidFill>
          <a:ln w="12700">
            <a:solidFill>
              <a:schemeClr val="accent2">
                <a:alpha val="0"/>
              </a:schemeClr>
            </a:solidFill>
            <a:prstDash val="solid"/>
          </a:ln>
        </p:spPr>
      </p:sp>
      <p:pic>
        <p:nvPicPr>
          <p:cNvPr id="25" name="Upload glyph" descr="preencoded.png">    </p:cNvPr>
          <p:cNvPicPr>
            <a:picLocks noChangeAspect="1"/>
          </p:cNvPicPr>
          <p:nvPr/>
        </p:nvPicPr>
        <p:blipFill>
          <a:blip r:embed="rId4"/>
          <a:stretch>
            <a:fillRect/>
          </a:stretch>
        </p:blipFill>
        <p:spPr>
          <a:xfrm>
            <a:off x="7686584" y="2227844"/>
            <a:ext cx="317480" cy="317480"/>
          </a:xfrm>
          <a:prstGeom prst="rect">
            <a:avLst/>
          </a:prstGeom>
        </p:spPr>
      </p:pic>
      <p:sp>
        <p:nvSpPr>
          <p:cNvPr id="26" name="step number 4"/>
          <p:cNvSpPr txBox="1"/>
          <p:nvPr/>
        </p:nvSpPr>
        <p:spPr>
          <a:xfrm>
            <a:off x="8805443" y="2084832"/>
            <a:ext cx="365760" cy="365760"/>
          </a:xfrm>
          <a:prstGeom prst="rect">
            <a:avLst/>
          </a:prstGeom>
          <a:noFill/>
          <a:ln/>
        </p:spPr>
        <p:txBody>
          <a:bodyPr wrap="square" lIns="0" tIns="0" rIns="0" bIns="0" rtlCol="0" anchor="ctr"/>
          <a:lstStyle/>
          <a:p>
            <a:pPr algn="r" indent="0" marL="0">
              <a:buNone/>
            </a:pPr>
            <a:r>
              <a:rPr lang="en-US" sz="2200" b="1" dirty="0">
                <a:solidFill>
                  <a:schemeClr val="accent3"/>
                </a:solidFill>
              </a:rPr>
              <a:t>4</a:t>
            </a:r>
            <a:endParaRPr lang="en-US" sz="2200" dirty="0"/>
          </a:p>
        </p:txBody>
      </p:sp>
      <p:sp>
        <p:nvSpPr>
          <p:cNvPr id="27" name="Upload"/>
          <p:cNvSpPr txBox="1"/>
          <p:nvPr/>
        </p:nvSpPr>
        <p:spPr>
          <a:xfrm>
            <a:off x="7561859" y="2788920"/>
            <a:ext cx="164592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Upload</a:t>
            </a:r>
            <a:endParaRPr lang="en-US" sz="1700" dirty="0"/>
          </a:p>
          <a:p>
            <a:pPr indent="0" marL="0">
              <a:buNone/>
            </a:pPr>
            <a:r>
              <a:rPr lang="en-US" sz="1400" dirty="0">
                <a:solidFill>
                  <a:schemeClr val="tx1"/>
                </a:solidFill>
              </a:rPr>
              <a:t>The server merges across drones into the next global model.</a:t>
            </a:r>
            <a:endParaRPr lang="en-US" sz="1700" dirty="0"/>
          </a:p>
        </p:txBody>
      </p:sp>
      <p:sp>
        <p:nvSpPr>
          <p:cNvPr id="28" name="step arrow 4"/>
          <p:cNvSpPr/>
          <p:nvPr/>
        </p:nvSpPr>
        <p:spPr>
          <a:xfrm rot="5400000">
            <a:off x="9428721" y="2971800"/>
            <a:ext cx="164592" cy="146304"/>
          </a:xfrm>
          <a:prstGeom prst="triangle">
            <a:avLst/>
          </a:prstGeom>
          <a:solidFill>
            <a:schemeClr val="accent3"/>
          </a:solidFill>
          <a:ln w="12700">
            <a:solidFill>
              <a:schemeClr val="accent3">
                <a:alpha val="0"/>
              </a:schemeClr>
            </a:solidFill>
            <a:prstDash val="solid"/>
          </a:ln>
        </p:spPr>
      </p:sp>
      <p:sp>
        <p:nvSpPr>
          <p:cNvPr id="29" name="step 5"/>
          <p:cNvSpPr/>
          <p:nvPr/>
        </p:nvSpPr>
        <p:spPr>
          <a:xfrm>
            <a:off x="9631375" y="1920240"/>
            <a:ext cx="2011680" cy="2240280"/>
          </a:xfrm>
          <a:prstGeom prst="roundRect">
            <a:avLst>
              <a:gd name="adj" fmla="val 3636"/>
            </a:avLst>
          </a:prstGeom>
          <a:solidFill>
            <a:schemeClr val="bg2"/>
          </a:solidFill>
          <a:ln w="12700">
            <a:solidFill>
              <a:schemeClr val="bg2">
                <a:alpha val="0"/>
              </a:schemeClr>
            </a:solidFill>
            <a:prstDash val="solid"/>
          </a:ln>
        </p:spPr>
      </p:sp>
      <p:sp>
        <p:nvSpPr>
          <p:cNvPr id="30" name="Deliver circle"/>
          <p:cNvSpPr/>
          <p:nvPr/>
        </p:nvSpPr>
        <p:spPr>
          <a:xfrm>
            <a:off x="9832543" y="2103120"/>
            <a:ext cx="566928" cy="566928"/>
          </a:xfrm>
          <a:prstGeom prst="ellipse">
            <a:avLst/>
          </a:prstGeom>
          <a:solidFill>
            <a:schemeClr val="accent2"/>
          </a:solidFill>
          <a:ln w="12700">
            <a:solidFill>
              <a:schemeClr val="accent2">
                <a:alpha val="0"/>
              </a:schemeClr>
            </a:solidFill>
            <a:prstDash val="solid"/>
          </a:ln>
        </p:spPr>
      </p:sp>
      <p:pic>
        <p:nvPicPr>
          <p:cNvPr id="31" name="Deliver glyph" descr="preencoded.png">    </p:cNvPr>
          <p:cNvPicPr>
            <a:picLocks noChangeAspect="1"/>
          </p:cNvPicPr>
          <p:nvPr/>
        </p:nvPicPr>
        <p:blipFill>
          <a:blip r:embed="rId5"/>
          <a:stretch>
            <a:fillRect/>
          </a:stretch>
        </p:blipFill>
        <p:spPr>
          <a:xfrm>
            <a:off x="9957267" y="2227844"/>
            <a:ext cx="317480" cy="317480"/>
          </a:xfrm>
          <a:prstGeom prst="rect">
            <a:avLst/>
          </a:prstGeom>
        </p:spPr>
      </p:pic>
      <p:sp>
        <p:nvSpPr>
          <p:cNvPr id="32" name="step number 5"/>
          <p:cNvSpPr txBox="1"/>
          <p:nvPr/>
        </p:nvSpPr>
        <p:spPr>
          <a:xfrm>
            <a:off x="11076127" y="2084832"/>
            <a:ext cx="365760" cy="365760"/>
          </a:xfrm>
          <a:prstGeom prst="rect">
            <a:avLst/>
          </a:prstGeom>
          <a:noFill/>
          <a:ln/>
        </p:spPr>
        <p:txBody>
          <a:bodyPr wrap="square" lIns="0" tIns="0" rIns="0" bIns="0" rtlCol="0" anchor="ctr"/>
          <a:lstStyle/>
          <a:p>
            <a:pPr algn="r" indent="0" marL="0">
              <a:buNone/>
            </a:pPr>
            <a:r>
              <a:rPr lang="en-US" sz="2200" b="1" dirty="0">
                <a:solidFill>
                  <a:schemeClr val="accent3"/>
                </a:solidFill>
              </a:rPr>
              <a:t>5</a:t>
            </a:r>
            <a:endParaRPr lang="en-US" sz="2200" dirty="0"/>
          </a:p>
        </p:txBody>
      </p:sp>
      <p:sp>
        <p:nvSpPr>
          <p:cNvPr id="33" name="Deliver"/>
          <p:cNvSpPr txBox="1"/>
          <p:nvPr/>
        </p:nvSpPr>
        <p:spPr>
          <a:xfrm>
            <a:off x="9832543" y="2788920"/>
            <a:ext cx="1645920" cy="13258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Deliver</a:t>
            </a:r>
            <a:endParaRPr lang="en-US" sz="1700" dirty="0"/>
          </a:p>
          <a:p>
            <a:pPr indent="0" marL="0">
              <a:buNone/>
            </a:pPr>
            <a:r>
              <a:rPr lang="en-US" sz="1400" dirty="0">
                <a:solidFill>
                  <a:schemeClr val="tx1"/>
                </a:solidFill>
              </a:rPr>
              <a:t>Pass 2: bring the new model to every device.</a:t>
            </a:r>
            <a:endParaRPr lang="en-US" sz="1700" dirty="0"/>
          </a:p>
        </p:txBody>
      </p:sp>
      <p:sp>
        <p:nvSpPr>
          <p:cNvPr id="34" name="layers heading"/>
          <p:cNvSpPr txBox="1"/>
          <p:nvPr/>
        </p:nvSpPr>
        <p:spPr>
          <a:xfrm>
            <a:off x="548640" y="4407408"/>
            <a:ext cx="7315200" cy="329184"/>
          </a:xfrm>
          <a:prstGeom prst="rect">
            <a:avLst/>
          </a:prstGeom>
          <a:noFill/>
          <a:ln/>
        </p:spPr>
        <p:txBody>
          <a:bodyPr wrap="square" lIns="0" tIns="0" rIns="0" bIns="0" rtlCol="0" anchor="ctr"/>
          <a:lstStyle/>
          <a:p>
            <a:pPr indent="0" marL="0">
              <a:buNone/>
            </a:pPr>
            <a:r>
              <a:rPr lang="en-US" sz="1700" b="1" dirty="0">
                <a:solidFill>
                  <a:schemeClr val="tx1"/>
                </a:solidFill>
              </a:rPr>
              <a:t>Three layers feed every decision</a:t>
            </a:r>
            <a:endParaRPr lang="en-US" sz="1700" dirty="0"/>
          </a:p>
        </p:txBody>
      </p:sp>
      <p:sp>
        <p:nvSpPr>
          <p:cNvPr id="35" name="layer 1"/>
          <p:cNvSpPr/>
          <p:nvPr/>
        </p:nvSpPr>
        <p:spPr>
          <a:xfrm>
            <a:off x="548640" y="4800600"/>
            <a:ext cx="3576218" cy="1325880"/>
          </a:xfrm>
          <a:prstGeom prst="roundRect">
            <a:avLst>
              <a:gd name="adj" fmla="val 5517"/>
            </a:avLst>
          </a:prstGeom>
          <a:solidFill>
            <a:schemeClr val="accent2">
              <a:alpha val="12000"/>
            </a:schemeClr>
          </a:solidFill>
          <a:ln w="12700">
            <a:solidFill>
              <a:schemeClr val="accent2">
                <a:alpha val="0"/>
              </a:schemeClr>
            </a:solidFill>
            <a:prstDash val="solid"/>
          </a:ln>
        </p:spPr>
      </p:sp>
      <p:sp>
        <p:nvSpPr>
          <p:cNvPr id="36" name="layer text 1"/>
          <p:cNvSpPr txBox="1"/>
          <p:nvPr/>
        </p:nvSpPr>
        <p:spPr>
          <a:xfrm>
            <a:off x="777240" y="4910328"/>
            <a:ext cx="3119018" cy="114300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L1 · RF link  </a:t>
            </a:r>
            <a:pPr indent="0" marL="0">
              <a:spcAft>
                <a:spcPts val="400"/>
              </a:spcAft>
              <a:buNone/>
            </a:pPr>
            <a:r>
              <a:rPr lang="en-US" sz="1700" b="1" i="1" dirty="0">
                <a:solidFill>
                  <a:schemeClr val="accent2"/>
                </a:solidFill>
              </a:rPr>
              <a:t>prices</a:t>
            </a:r>
            <a:endParaRPr lang="en-US" sz="1700" dirty="0"/>
          </a:p>
          <a:p>
            <a:pPr indent="0" marL="0">
              <a:spcAft>
                <a:spcPts val="400"/>
              </a:spcAft>
              <a:buNone/>
            </a:pPr>
            <a:r>
              <a:rPr lang="en-US" sz="1400" dirty="0">
                <a:solidFill>
                  <a:schemeClr val="tx1"/>
                </a:solidFill>
              </a:rPr>
              <a:t>Range, transfer rate and time per stop for each band</a:t>
            </a:r>
            <a:endParaRPr lang="en-US" sz="1700" dirty="0"/>
          </a:p>
        </p:txBody>
      </p:sp>
      <p:sp>
        <p:nvSpPr>
          <p:cNvPr id="37" name="layer 2"/>
          <p:cNvSpPr/>
          <p:nvPr/>
        </p:nvSpPr>
        <p:spPr>
          <a:xfrm>
            <a:off x="4307738" y="4800600"/>
            <a:ext cx="3576218" cy="1325880"/>
          </a:xfrm>
          <a:prstGeom prst="roundRect">
            <a:avLst>
              <a:gd name="adj" fmla="val 5517"/>
            </a:avLst>
          </a:prstGeom>
          <a:solidFill>
            <a:schemeClr val="accent2">
              <a:alpha val="12000"/>
            </a:schemeClr>
          </a:solidFill>
          <a:ln w="12700">
            <a:solidFill>
              <a:schemeClr val="accent2">
                <a:alpha val="0"/>
              </a:schemeClr>
            </a:solidFill>
            <a:prstDash val="solid"/>
          </a:ln>
        </p:spPr>
      </p:sp>
      <p:sp>
        <p:nvSpPr>
          <p:cNvPr id="38" name="layer text 2"/>
          <p:cNvSpPr txBox="1"/>
          <p:nvPr/>
        </p:nvSpPr>
        <p:spPr>
          <a:xfrm>
            <a:off x="4536338" y="4910328"/>
            <a:ext cx="3119018" cy="114300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L2 · Scheduling  </a:t>
            </a:r>
            <a:pPr indent="0" marL="0">
              <a:spcAft>
                <a:spcPts val="400"/>
              </a:spcAft>
              <a:buNone/>
            </a:pPr>
            <a:r>
              <a:rPr lang="en-US" sz="1700" b="1" i="1" dirty="0">
                <a:solidFill>
                  <a:schemeClr val="accent2"/>
                </a:solidFill>
              </a:rPr>
              <a:t>decides</a:t>
            </a:r>
            <a:endParaRPr lang="en-US" sz="1700" dirty="0"/>
          </a:p>
          <a:p>
            <a:pPr indent="0" marL="0">
              <a:spcAft>
                <a:spcPts val="400"/>
              </a:spcAft>
              <a:buNone/>
            </a:pPr>
            <a:r>
              <a:rPr lang="en-US" sz="1400" dirty="0">
                <a:solidFill>
                  <a:schemeClr val="tx1"/>
                </a:solidFill>
              </a:rPr>
              <a:t>Who is served, which band, what order, and when to re-plan</a:t>
            </a:r>
            <a:endParaRPr lang="en-US" sz="1700" dirty="0"/>
          </a:p>
        </p:txBody>
      </p:sp>
      <p:sp>
        <p:nvSpPr>
          <p:cNvPr id="39" name="layer 3"/>
          <p:cNvSpPr/>
          <p:nvPr/>
        </p:nvSpPr>
        <p:spPr>
          <a:xfrm>
            <a:off x="8066837" y="4800600"/>
            <a:ext cx="3576218" cy="1325880"/>
          </a:xfrm>
          <a:prstGeom prst="roundRect">
            <a:avLst>
              <a:gd name="adj" fmla="val 5517"/>
            </a:avLst>
          </a:prstGeom>
          <a:solidFill>
            <a:schemeClr val="accent2">
              <a:alpha val="12000"/>
            </a:schemeClr>
          </a:solidFill>
          <a:ln w="12700">
            <a:solidFill>
              <a:schemeClr val="accent2">
                <a:alpha val="0"/>
              </a:schemeClr>
            </a:solidFill>
            <a:prstDash val="solid"/>
          </a:ln>
        </p:spPr>
      </p:sp>
      <p:sp>
        <p:nvSpPr>
          <p:cNvPr id="40" name="layer text 3"/>
          <p:cNvSpPr txBox="1"/>
          <p:nvPr/>
        </p:nvSpPr>
        <p:spPr>
          <a:xfrm>
            <a:off x="8295437" y="4910328"/>
            <a:ext cx="3119018" cy="114300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L3 · Federated learning  </a:t>
            </a:r>
            <a:pPr indent="0" marL="0">
              <a:spcAft>
                <a:spcPts val="400"/>
              </a:spcAft>
              <a:buNone/>
            </a:pPr>
            <a:r>
              <a:rPr lang="en-US" sz="1700" b="1" i="1" dirty="0">
                <a:solidFill>
                  <a:schemeClr val="accent2"/>
                </a:solidFill>
              </a:rPr>
              <a:t>values</a:t>
            </a:r>
            <a:endParaRPr lang="en-US" sz="1700" dirty="0"/>
          </a:p>
          <a:p>
            <a:pPr indent="0" marL="0">
              <a:spcAft>
                <a:spcPts val="400"/>
              </a:spcAft>
              <a:buNone/>
            </a:pPr>
            <a:r>
              <a:rPr lang="en-US" sz="1400" dirty="0">
                <a:solidFill>
                  <a:schemeClr val="tx1"/>
                </a:solidFill>
              </a:rPr>
              <a:t>Update age, merge weight, and how overdue each device is</a:t>
            </a:r>
            <a:endParaRPr lang="en-US" sz="17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METHODS · DECISION CLOCKS</a:t>
            </a:r>
            <a:endParaRPr lang="en-US" sz="1200" dirty="0"/>
          </a:p>
        </p:txBody>
      </p:sp>
      <p:sp>
        <p:nvSpPr>
          <p:cNvPr id="3" name="Text 1"/>
          <p:cNvSpPr/>
          <p:nvPr>
            <p:ph idx="102" type="title" hasCustomPrompt="1"/>
          </p:nvPr>
        </p:nvSpPr>
        <p:spPr>
          <a:xfrm>
            <a:off x="548640" y="585216"/>
            <a:ext cx="11094415" cy="658368"/>
          </a:xfrm>
          <a:prstGeom prst="rect">
            <a:avLst/>
          </a:prstGeom>
          <a:noFill/>
          <a:ln/>
        </p:spPr>
        <p:txBody>
          <a:bodyPr wrap="square" lIns="0" tIns="0" rIns="0" bIns="0" rtlCol="0" anchor="t"/>
          <a:lstStyle/>
          <a:p>
            <a:pPr algn="l" indent="0" marL="0">
              <a:buNone/>
            </a:pPr>
            <a:r>
              <a:rPr lang="en-US" sz="3600" b="1" dirty="0">
                <a:solidFill>
                  <a:schemeClr val="tx1"/>
                </a:solidFill>
              </a:rPr>
              <a:t>Two decision clocks</a:t>
            </a:r>
            <a:endParaRPr lang="en-US" sz="3600" dirty="0"/>
          </a:p>
        </p:txBody>
      </p:sp>
      <p:sp>
        <p:nvSpPr>
          <p:cNvPr id="4" name="Text 1"/>
          <p:cNvSpPr/>
          <p:nvPr>
            <p:ph idx="103" type="body" hasCustomPrompt="1"/>
          </p:nvPr>
        </p:nvSpPr>
        <p:spPr>
          <a:xfrm>
            <a:off x="548640" y="1298448"/>
            <a:ext cx="11094415" cy="411480"/>
          </a:xfrm>
          <a:prstGeom prst="rect">
            <a:avLst/>
          </a:prstGeom>
          <a:noFill/>
          <a:ln/>
        </p:spPr>
        <p:txBody>
          <a:bodyPr wrap="square" lIns="0" tIns="0" rIns="0" bIns="0" rtlCol="0" anchor="t"/>
          <a:lstStyle/>
          <a:p>
            <a:pPr indent="0" marL="0">
              <a:buNone/>
            </a:pPr>
            <a:r>
              <a:rPr lang="en-US" sz="1700" dirty="0">
                <a:solidFill>
                  <a:schemeClr val="accent3"/>
                </a:solidFill>
              </a:rPr>
              <a:t>FeRRy decides at two time scales, and the same feasibility test gates both.</a:t>
            </a:r>
            <a:endParaRPr lang="en-US" sz="1700" dirty="0"/>
          </a:p>
        </p:txBody>
      </p:sp>
      <p:sp>
        <p:nvSpPr>
          <p:cNvPr id="5" name="Plan clock circle"/>
          <p:cNvSpPr/>
          <p:nvPr/>
        </p:nvSpPr>
        <p:spPr>
          <a:xfrm>
            <a:off x="548640" y="1993392"/>
            <a:ext cx="566928" cy="566928"/>
          </a:xfrm>
          <a:prstGeom prst="ellipse">
            <a:avLst/>
          </a:prstGeom>
          <a:solidFill>
            <a:schemeClr val="accent1"/>
          </a:solidFill>
          <a:ln w="12700">
            <a:solidFill>
              <a:schemeClr val="accent1">
                <a:alpha val="0"/>
              </a:schemeClr>
            </a:solidFill>
            <a:prstDash val="solid"/>
          </a:ln>
        </p:spPr>
      </p:sp>
      <p:pic>
        <p:nvPicPr>
          <p:cNvPr id="6" name="Plan clock glyph" descr="preencoded.png">    </p:cNvPr>
          <p:cNvPicPr>
            <a:picLocks noChangeAspect="1"/>
          </p:cNvPicPr>
          <p:nvPr/>
        </p:nvPicPr>
        <p:blipFill>
          <a:blip r:embed="rId1"/>
          <a:stretch>
            <a:fillRect/>
          </a:stretch>
        </p:blipFill>
        <p:spPr>
          <a:xfrm>
            <a:off x="673364" y="2118116"/>
            <a:ext cx="317480" cy="317480"/>
          </a:xfrm>
          <a:prstGeom prst="rect">
            <a:avLst/>
          </a:prstGeom>
        </p:spPr>
      </p:pic>
      <p:sp>
        <p:nvSpPr>
          <p:cNvPr id="7" name="Plan clock"/>
          <p:cNvSpPr txBox="1"/>
          <p:nvPr/>
        </p:nvSpPr>
        <p:spPr>
          <a:xfrm>
            <a:off x="1261872" y="1938528"/>
            <a:ext cx="1600200" cy="114300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Plan clock</a:t>
            </a:r>
            <a:endParaRPr lang="en-US" sz="1900" dirty="0"/>
          </a:p>
          <a:p>
            <a:pPr indent="0" marL="0">
              <a:buNone/>
            </a:pPr>
            <a:r>
              <a:rPr lang="en-US" sz="1300" dirty="0">
                <a:solidFill>
                  <a:schemeClr val="accent3"/>
                </a:solidFill>
              </a:rPr>
              <a:t>at the dock, once per mission</a:t>
            </a:r>
            <a:endParaRPr lang="en-US" sz="1900" dirty="0"/>
          </a:p>
        </p:txBody>
      </p:sp>
      <p:sp>
        <p:nvSpPr>
          <p:cNvPr id="8" name="Plan clock box 1"/>
          <p:cNvSpPr/>
          <p:nvPr/>
        </p:nvSpPr>
        <p:spPr>
          <a:xfrm>
            <a:off x="2880360" y="1920240"/>
            <a:ext cx="1517904" cy="1188720"/>
          </a:xfrm>
          <a:prstGeom prst="roundRect">
            <a:avLst>
              <a:gd name="adj" fmla="val 6154"/>
            </a:avLst>
          </a:prstGeom>
          <a:solidFill>
            <a:schemeClr val="bg2"/>
          </a:solidFill>
          <a:ln w="12700">
            <a:solidFill>
              <a:schemeClr val="bg2">
                <a:alpha val="0"/>
              </a:schemeClr>
            </a:solidFill>
            <a:prstDash val="solid"/>
          </a:ln>
        </p:spPr>
      </p:sp>
      <p:sp>
        <p:nvSpPr>
          <p:cNvPr id="9" name="Plan clock label 1"/>
          <p:cNvSpPr txBox="1"/>
          <p:nvPr/>
        </p:nvSpPr>
        <p:spPr>
          <a:xfrm>
            <a:off x="2971800" y="1965960"/>
            <a:ext cx="1335024" cy="1097280"/>
          </a:xfrm>
          <a:prstGeom prst="rect">
            <a:avLst/>
          </a:prstGeom>
          <a:noFill/>
          <a:ln/>
        </p:spPr>
        <p:txBody>
          <a:bodyPr wrap="square" lIns="0" tIns="0" rIns="0" bIns="0" rtlCol="0" anchor="ctr"/>
          <a:lstStyle/>
          <a:p>
            <a:pPr algn="ctr" indent="0" marL="0">
              <a:buNone/>
            </a:pPr>
            <a:r>
              <a:rPr lang="en-US" sz="1400" dirty="0">
                <a:solidFill>
                  <a:schemeClr val="tx1"/>
                </a:solidFill>
              </a:rPr>
              <a:t>Demand and urgency weights</a:t>
            </a:r>
            <a:endParaRPr lang="en-US" sz="1400" dirty="0"/>
          </a:p>
        </p:txBody>
      </p:sp>
      <p:sp>
        <p:nvSpPr>
          <p:cNvPr id="10" name="arrow"/>
          <p:cNvSpPr/>
          <p:nvPr/>
        </p:nvSpPr>
        <p:spPr>
          <a:xfrm>
            <a:off x="4434840" y="2514600"/>
            <a:ext cx="220142" cy="0"/>
          </a:xfrm>
          <a:prstGeom prst="line">
            <a:avLst/>
          </a:prstGeom>
          <a:noFill/>
          <a:ln w="19050">
            <a:solidFill>
              <a:schemeClr val="accent3"/>
            </a:solidFill>
            <a:prstDash val="solid"/>
            <a:tailEnd type="triangle"/>
          </a:ln>
        </p:spPr>
      </p:sp>
      <p:sp>
        <p:nvSpPr>
          <p:cNvPr id="11" name="Plan clock box 2"/>
          <p:cNvSpPr/>
          <p:nvPr/>
        </p:nvSpPr>
        <p:spPr>
          <a:xfrm>
            <a:off x="4691558" y="1920240"/>
            <a:ext cx="1517904" cy="1188720"/>
          </a:xfrm>
          <a:prstGeom prst="roundRect">
            <a:avLst>
              <a:gd name="adj" fmla="val 6154"/>
            </a:avLst>
          </a:prstGeom>
          <a:solidFill>
            <a:schemeClr val="bg2"/>
          </a:solidFill>
          <a:ln w="12700">
            <a:solidFill>
              <a:schemeClr val="bg2">
                <a:alpha val="0"/>
              </a:schemeClr>
            </a:solidFill>
            <a:prstDash val="solid"/>
          </a:ln>
        </p:spPr>
      </p:sp>
      <p:sp>
        <p:nvSpPr>
          <p:cNvPr id="12" name="Plan clock label 2"/>
          <p:cNvSpPr txBox="1"/>
          <p:nvPr/>
        </p:nvSpPr>
        <p:spPr>
          <a:xfrm>
            <a:off x="4782998" y="1965960"/>
            <a:ext cx="1335024" cy="1097280"/>
          </a:xfrm>
          <a:prstGeom prst="rect">
            <a:avLst/>
          </a:prstGeom>
          <a:noFill/>
          <a:ln/>
        </p:spPr>
        <p:txBody>
          <a:bodyPr wrap="square" lIns="0" tIns="0" rIns="0" bIns="0" rtlCol="0" anchor="ctr"/>
          <a:lstStyle/>
          <a:p>
            <a:pPr algn="ctr" indent="0" marL="0">
              <a:buNone/>
            </a:pPr>
            <a:r>
              <a:rPr lang="en-US" sz="1400" dirty="0">
                <a:solidFill>
                  <a:schemeClr val="tx1"/>
                </a:solidFill>
              </a:rPr>
              <a:t>Choose a band class</a:t>
            </a:r>
            <a:endParaRPr lang="en-US" sz="1400" dirty="0"/>
          </a:p>
        </p:txBody>
      </p:sp>
      <p:sp>
        <p:nvSpPr>
          <p:cNvPr id="13" name="arrow"/>
          <p:cNvSpPr/>
          <p:nvPr/>
        </p:nvSpPr>
        <p:spPr>
          <a:xfrm>
            <a:off x="6246038" y="2514600"/>
            <a:ext cx="220142" cy="0"/>
          </a:xfrm>
          <a:prstGeom prst="line">
            <a:avLst/>
          </a:prstGeom>
          <a:noFill/>
          <a:ln w="19050">
            <a:solidFill>
              <a:schemeClr val="accent3"/>
            </a:solidFill>
            <a:prstDash val="solid"/>
            <a:tailEnd type="triangle"/>
          </a:ln>
        </p:spPr>
      </p:sp>
      <p:sp>
        <p:nvSpPr>
          <p:cNvPr id="14" name="Plan clock box 3"/>
          <p:cNvSpPr/>
          <p:nvPr/>
        </p:nvSpPr>
        <p:spPr>
          <a:xfrm>
            <a:off x="6502756" y="1920240"/>
            <a:ext cx="1517904" cy="1188720"/>
          </a:xfrm>
          <a:prstGeom prst="roundRect">
            <a:avLst>
              <a:gd name="adj" fmla="val 6154"/>
            </a:avLst>
          </a:prstGeom>
          <a:solidFill>
            <a:schemeClr val="bg2"/>
          </a:solidFill>
          <a:ln w="12700">
            <a:solidFill>
              <a:schemeClr val="bg2">
                <a:alpha val="0"/>
              </a:schemeClr>
            </a:solidFill>
            <a:prstDash val="solid"/>
          </a:ln>
        </p:spPr>
      </p:sp>
      <p:sp>
        <p:nvSpPr>
          <p:cNvPr id="15" name="Plan clock label 3"/>
          <p:cNvSpPr txBox="1"/>
          <p:nvPr/>
        </p:nvSpPr>
        <p:spPr>
          <a:xfrm>
            <a:off x="6594196" y="1965960"/>
            <a:ext cx="1335024" cy="1097280"/>
          </a:xfrm>
          <a:prstGeom prst="rect">
            <a:avLst/>
          </a:prstGeom>
          <a:noFill/>
          <a:ln/>
        </p:spPr>
        <p:txBody>
          <a:bodyPr wrap="square" lIns="0" tIns="0" rIns="0" bIns="0" rtlCol="0" anchor="ctr"/>
          <a:lstStyle/>
          <a:p>
            <a:pPr algn="ctr" indent="0" marL="0">
              <a:buNone/>
            </a:pPr>
            <a:r>
              <a:rPr lang="en-US" sz="1400" dirty="0">
                <a:solidFill>
                  <a:schemeClr val="tx1"/>
                </a:solidFill>
              </a:rPr>
              <a:t>Group devices into stops at its range</a:t>
            </a:r>
            <a:endParaRPr lang="en-US" sz="1400" dirty="0"/>
          </a:p>
        </p:txBody>
      </p:sp>
      <p:sp>
        <p:nvSpPr>
          <p:cNvPr id="16" name="arrow"/>
          <p:cNvSpPr/>
          <p:nvPr/>
        </p:nvSpPr>
        <p:spPr>
          <a:xfrm>
            <a:off x="8057236" y="2514600"/>
            <a:ext cx="220142" cy="0"/>
          </a:xfrm>
          <a:prstGeom prst="line">
            <a:avLst/>
          </a:prstGeom>
          <a:noFill/>
          <a:ln w="19050">
            <a:solidFill>
              <a:schemeClr val="accent3"/>
            </a:solidFill>
            <a:prstDash val="solid"/>
            <a:tailEnd type="triangle"/>
          </a:ln>
        </p:spPr>
      </p:sp>
      <p:sp>
        <p:nvSpPr>
          <p:cNvPr id="17" name="Plan clock box 4"/>
          <p:cNvSpPr/>
          <p:nvPr/>
        </p:nvSpPr>
        <p:spPr>
          <a:xfrm>
            <a:off x="8313953" y="1920240"/>
            <a:ext cx="1517904" cy="1188720"/>
          </a:xfrm>
          <a:prstGeom prst="roundRect">
            <a:avLst>
              <a:gd name="adj" fmla="val 6154"/>
            </a:avLst>
          </a:prstGeom>
          <a:solidFill>
            <a:schemeClr val="bg2"/>
          </a:solidFill>
          <a:ln w="12700">
            <a:solidFill>
              <a:schemeClr val="bg2">
                <a:alpha val="0"/>
              </a:schemeClr>
            </a:solidFill>
            <a:prstDash val="solid"/>
          </a:ln>
        </p:spPr>
      </p:sp>
      <p:sp>
        <p:nvSpPr>
          <p:cNvPr id="18" name="Plan clock label 4"/>
          <p:cNvSpPr txBox="1"/>
          <p:nvPr/>
        </p:nvSpPr>
        <p:spPr>
          <a:xfrm>
            <a:off x="8405393" y="1965960"/>
            <a:ext cx="1335024" cy="1097280"/>
          </a:xfrm>
          <a:prstGeom prst="rect">
            <a:avLst/>
          </a:prstGeom>
          <a:noFill/>
          <a:ln/>
        </p:spPr>
        <p:txBody>
          <a:bodyPr wrap="square" lIns="0" tIns="0" rIns="0" bIns="0" rtlCol="0" anchor="ctr"/>
          <a:lstStyle/>
          <a:p>
            <a:pPr algn="ctr" indent="0" marL="0">
              <a:buNone/>
            </a:pPr>
            <a:r>
              <a:rPr lang="en-US" sz="1400" dirty="0">
                <a:solidFill>
                  <a:schemeClr val="tx1"/>
                </a:solidFill>
              </a:rPr>
              <a:t>Search routes</a:t>
            </a:r>
            <a:endParaRPr lang="en-US" sz="1400" dirty="0"/>
          </a:p>
        </p:txBody>
      </p:sp>
      <p:sp>
        <p:nvSpPr>
          <p:cNvPr id="19" name="arrow"/>
          <p:cNvSpPr/>
          <p:nvPr/>
        </p:nvSpPr>
        <p:spPr>
          <a:xfrm>
            <a:off x="9868433" y="2514600"/>
            <a:ext cx="220142" cy="0"/>
          </a:xfrm>
          <a:prstGeom prst="line">
            <a:avLst/>
          </a:prstGeom>
          <a:noFill/>
          <a:ln w="19050">
            <a:solidFill>
              <a:schemeClr val="accent3"/>
            </a:solidFill>
            <a:prstDash val="solid"/>
            <a:tailEnd type="triangle"/>
          </a:ln>
        </p:spPr>
      </p:sp>
      <p:sp>
        <p:nvSpPr>
          <p:cNvPr id="20" name="Plan clock box 5"/>
          <p:cNvSpPr/>
          <p:nvPr/>
        </p:nvSpPr>
        <p:spPr>
          <a:xfrm>
            <a:off x="10125151" y="1920240"/>
            <a:ext cx="1517904" cy="1188720"/>
          </a:xfrm>
          <a:prstGeom prst="roundRect">
            <a:avLst>
              <a:gd name="adj" fmla="val 6154"/>
            </a:avLst>
          </a:prstGeom>
          <a:solidFill>
            <a:schemeClr val="accent1">
              <a:alpha val="15000"/>
            </a:schemeClr>
          </a:solidFill>
          <a:ln w="25400">
            <a:solidFill>
              <a:schemeClr val="accent1"/>
            </a:solidFill>
            <a:prstDash val="solid"/>
          </a:ln>
        </p:spPr>
      </p:sp>
      <p:sp>
        <p:nvSpPr>
          <p:cNvPr id="21" name="Plan clock label 5"/>
          <p:cNvSpPr txBox="1"/>
          <p:nvPr/>
        </p:nvSpPr>
        <p:spPr>
          <a:xfrm>
            <a:off x="10216591" y="1965960"/>
            <a:ext cx="1335024" cy="1097280"/>
          </a:xfrm>
          <a:prstGeom prst="rect">
            <a:avLst/>
          </a:prstGeom>
          <a:noFill/>
          <a:ln/>
        </p:spPr>
        <p:txBody>
          <a:bodyPr wrap="square" lIns="0" tIns="0" rIns="0" bIns="0" rtlCol="0" anchor="ctr"/>
          <a:lstStyle/>
          <a:p>
            <a:pPr algn="ctr" indent="0" marL="0">
              <a:buNone/>
            </a:pPr>
            <a:r>
              <a:rPr lang="en-US" sz="1400" b="1" dirty="0">
                <a:solidFill>
                  <a:schemeClr val="tx1"/>
                </a:solidFill>
              </a:rPr>
              <a:t>Feasibility test, then commit</a:t>
            </a:r>
            <a:endParaRPr lang="en-US" sz="1400" dirty="0"/>
          </a:p>
        </p:txBody>
      </p:sp>
      <p:sp>
        <p:nvSpPr>
          <p:cNvPr id="22" name="Flight clock circle"/>
          <p:cNvSpPr/>
          <p:nvPr/>
        </p:nvSpPr>
        <p:spPr>
          <a:xfrm>
            <a:off x="548640" y="3502152"/>
            <a:ext cx="566928" cy="566928"/>
          </a:xfrm>
          <a:prstGeom prst="ellipse">
            <a:avLst/>
          </a:prstGeom>
          <a:solidFill>
            <a:schemeClr val="accent2"/>
          </a:solidFill>
          <a:ln w="12700">
            <a:solidFill>
              <a:schemeClr val="accent2">
                <a:alpha val="0"/>
              </a:schemeClr>
            </a:solidFill>
            <a:prstDash val="solid"/>
          </a:ln>
        </p:spPr>
      </p:sp>
      <p:pic>
        <p:nvPicPr>
          <p:cNvPr id="23" name="Flight clock glyph" descr="preencoded.png">    </p:cNvPr>
          <p:cNvPicPr>
            <a:picLocks noChangeAspect="1"/>
          </p:cNvPicPr>
          <p:nvPr/>
        </p:nvPicPr>
        <p:blipFill>
          <a:blip r:embed="rId2"/>
          <a:stretch>
            <a:fillRect/>
          </a:stretch>
        </p:blipFill>
        <p:spPr>
          <a:xfrm>
            <a:off x="673364" y="3626876"/>
            <a:ext cx="317480" cy="317480"/>
          </a:xfrm>
          <a:prstGeom prst="rect">
            <a:avLst/>
          </a:prstGeom>
        </p:spPr>
      </p:pic>
      <p:sp>
        <p:nvSpPr>
          <p:cNvPr id="24" name="Flight clock"/>
          <p:cNvSpPr txBox="1"/>
          <p:nvPr/>
        </p:nvSpPr>
        <p:spPr>
          <a:xfrm>
            <a:off x="1261872" y="3447288"/>
            <a:ext cx="1600200" cy="1143000"/>
          </a:xfrm>
          <a:prstGeom prst="rect">
            <a:avLst/>
          </a:prstGeom>
          <a:noFill/>
          <a:ln/>
        </p:spPr>
        <p:txBody>
          <a:bodyPr wrap="square" lIns="0" tIns="0" rIns="0" bIns="0" rtlCol="0" anchor="t"/>
          <a:lstStyle/>
          <a:p>
            <a:pPr indent="0" marL="0">
              <a:spcAft>
                <a:spcPts val="400"/>
              </a:spcAft>
              <a:buNone/>
            </a:pPr>
            <a:r>
              <a:rPr lang="en-US" sz="1900" b="1" dirty="0">
                <a:solidFill>
                  <a:schemeClr val="tx1"/>
                </a:solidFill>
              </a:rPr>
              <a:t>Flight clock</a:t>
            </a:r>
            <a:endParaRPr lang="en-US" sz="1900" dirty="0"/>
          </a:p>
          <a:p>
            <a:pPr indent="0" marL="0">
              <a:buNone/>
            </a:pPr>
            <a:r>
              <a:rPr lang="en-US" sz="1300" dirty="0">
                <a:solidFill>
                  <a:schemeClr val="accent3"/>
                </a:solidFill>
              </a:rPr>
              <a:t>at every stop in Pass 1</a:t>
            </a:r>
            <a:endParaRPr lang="en-US" sz="1900" dirty="0"/>
          </a:p>
        </p:txBody>
      </p:sp>
      <p:sp>
        <p:nvSpPr>
          <p:cNvPr id="25" name="Flight clock box 1"/>
          <p:cNvSpPr/>
          <p:nvPr/>
        </p:nvSpPr>
        <p:spPr>
          <a:xfrm>
            <a:off x="2880360" y="3429000"/>
            <a:ext cx="1517904" cy="1188720"/>
          </a:xfrm>
          <a:prstGeom prst="roundRect">
            <a:avLst>
              <a:gd name="adj" fmla="val 6154"/>
            </a:avLst>
          </a:prstGeom>
          <a:solidFill>
            <a:schemeClr val="bg2"/>
          </a:solidFill>
          <a:ln w="12700">
            <a:solidFill>
              <a:schemeClr val="bg2">
                <a:alpha val="0"/>
              </a:schemeClr>
            </a:solidFill>
            <a:prstDash val="solid"/>
          </a:ln>
        </p:spPr>
      </p:sp>
      <p:sp>
        <p:nvSpPr>
          <p:cNvPr id="26" name="Flight clock label 1"/>
          <p:cNvSpPr txBox="1"/>
          <p:nvPr/>
        </p:nvSpPr>
        <p:spPr>
          <a:xfrm>
            <a:off x="2971800" y="3474720"/>
            <a:ext cx="1335024" cy="1097280"/>
          </a:xfrm>
          <a:prstGeom prst="rect">
            <a:avLst/>
          </a:prstGeom>
          <a:noFill/>
          <a:ln/>
        </p:spPr>
        <p:txBody>
          <a:bodyPr wrap="square" lIns="0" tIns="0" rIns="0" bIns="0" rtlCol="0" anchor="ctr"/>
          <a:lstStyle/>
          <a:p>
            <a:pPr algn="ctr" indent="0" marL="0">
              <a:buNone/>
            </a:pPr>
            <a:r>
              <a:rPr lang="en-US" sz="1400" dirty="0">
                <a:solidFill>
                  <a:schemeClr val="tx1"/>
                </a:solidFill>
              </a:rPr>
              <a:t>Measure the signal on each band</a:t>
            </a:r>
            <a:endParaRPr lang="en-US" sz="1400" dirty="0"/>
          </a:p>
        </p:txBody>
      </p:sp>
      <p:sp>
        <p:nvSpPr>
          <p:cNvPr id="27" name="arrow"/>
          <p:cNvSpPr/>
          <p:nvPr/>
        </p:nvSpPr>
        <p:spPr>
          <a:xfrm>
            <a:off x="4434840" y="4023360"/>
            <a:ext cx="220142" cy="0"/>
          </a:xfrm>
          <a:prstGeom prst="line">
            <a:avLst/>
          </a:prstGeom>
          <a:noFill/>
          <a:ln w="19050">
            <a:solidFill>
              <a:schemeClr val="accent3"/>
            </a:solidFill>
            <a:prstDash val="solid"/>
            <a:tailEnd type="triangle"/>
          </a:ln>
        </p:spPr>
      </p:sp>
      <p:sp>
        <p:nvSpPr>
          <p:cNvPr id="28" name="Flight clock box 2"/>
          <p:cNvSpPr/>
          <p:nvPr/>
        </p:nvSpPr>
        <p:spPr>
          <a:xfrm>
            <a:off x="4691558" y="3429000"/>
            <a:ext cx="1517904" cy="1188720"/>
          </a:xfrm>
          <a:prstGeom prst="roundRect">
            <a:avLst>
              <a:gd name="adj" fmla="val 6154"/>
            </a:avLst>
          </a:prstGeom>
          <a:solidFill>
            <a:schemeClr val="bg2"/>
          </a:solidFill>
          <a:ln w="12700">
            <a:solidFill>
              <a:schemeClr val="bg2">
                <a:alpha val="0"/>
              </a:schemeClr>
            </a:solidFill>
            <a:prstDash val="solid"/>
          </a:ln>
        </p:spPr>
      </p:sp>
      <p:sp>
        <p:nvSpPr>
          <p:cNvPr id="29" name="Flight clock label 2"/>
          <p:cNvSpPr txBox="1"/>
          <p:nvPr/>
        </p:nvSpPr>
        <p:spPr>
          <a:xfrm>
            <a:off x="4782998" y="3474720"/>
            <a:ext cx="1335024" cy="1097280"/>
          </a:xfrm>
          <a:prstGeom prst="rect">
            <a:avLst/>
          </a:prstGeom>
          <a:noFill/>
          <a:ln/>
        </p:spPr>
        <p:txBody>
          <a:bodyPr wrap="square" lIns="0" tIns="0" rIns="0" bIns="0" rtlCol="0" anchor="ctr"/>
          <a:lstStyle/>
          <a:p>
            <a:pPr algn="ctr" indent="0" marL="0">
              <a:buNone/>
            </a:pPr>
            <a:r>
              <a:rPr lang="en-US" sz="1400" dirty="0">
                <a:solidFill>
                  <a:schemeClr val="tx1"/>
                </a:solidFill>
              </a:rPr>
              <a:t>Choose band and next stop</a:t>
            </a:r>
            <a:endParaRPr lang="en-US" sz="1400" dirty="0"/>
          </a:p>
        </p:txBody>
      </p:sp>
      <p:sp>
        <p:nvSpPr>
          <p:cNvPr id="30" name="arrow"/>
          <p:cNvSpPr/>
          <p:nvPr/>
        </p:nvSpPr>
        <p:spPr>
          <a:xfrm>
            <a:off x="6246038" y="4023360"/>
            <a:ext cx="220142" cy="0"/>
          </a:xfrm>
          <a:prstGeom prst="line">
            <a:avLst/>
          </a:prstGeom>
          <a:noFill/>
          <a:ln w="19050">
            <a:solidFill>
              <a:schemeClr val="accent3"/>
            </a:solidFill>
            <a:prstDash val="solid"/>
            <a:tailEnd type="triangle"/>
          </a:ln>
        </p:spPr>
      </p:sp>
      <p:sp>
        <p:nvSpPr>
          <p:cNvPr id="31" name="Flight clock box 3"/>
          <p:cNvSpPr/>
          <p:nvPr/>
        </p:nvSpPr>
        <p:spPr>
          <a:xfrm>
            <a:off x="6502756" y="3429000"/>
            <a:ext cx="1517904" cy="1188720"/>
          </a:xfrm>
          <a:prstGeom prst="roundRect">
            <a:avLst>
              <a:gd name="adj" fmla="val 6154"/>
            </a:avLst>
          </a:prstGeom>
          <a:solidFill>
            <a:schemeClr val="accent1">
              <a:alpha val="15000"/>
            </a:schemeClr>
          </a:solidFill>
          <a:ln w="25400">
            <a:solidFill>
              <a:schemeClr val="accent1"/>
            </a:solidFill>
            <a:prstDash val="solid"/>
          </a:ln>
        </p:spPr>
      </p:sp>
      <p:sp>
        <p:nvSpPr>
          <p:cNvPr id="32" name="Flight clock label 3"/>
          <p:cNvSpPr txBox="1"/>
          <p:nvPr/>
        </p:nvSpPr>
        <p:spPr>
          <a:xfrm>
            <a:off x="6594196" y="3474720"/>
            <a:ext cx="1335024" cy="1097280"/>
          </a:xfrm>
          <a:prstGeom prst="rect">
            <a:avLst/>
          </a:prstGeom>
          <a:noFill/>
          <a:ln/>
        </p:spPr>
        <p:txBody>
          <a:bodyPr wrap="square" lIns="0" tIns="0" rIns="0" bIns="0" rtlCol="0" anchor="ctr"/>
          <a:lstStyle/>
          <a:p>
            <a:pPr algn="ctr" indent="0" marL="0">
              <a:buNone/>
            </a:pPr>
            <a:r>
              <a:rPr lang="en-US" sz="1400" b="1" dirty="0">
                <a:solidFill>
                  <a:schemeClr val="tx1"/>
                </a:solidFill>
              </a:rPr>
              <a:t>Feasibility test</a:t>
            </a:r>
            <a:endParaRPr lang="en-US" sz="1400" dirty="0"/>
          </a:p>
        </p:txBody>
      </p:sp>
      <p:sp>
        <p:nvSpPr>
          <p:cNvPr id="33" name="arrow"/>
          <p:cNvSpPr/>
          <p:nvPr/>
        </p:nvSpPr>
        <p:spPr>
          <a:xfrm>
            <a:off x="8057236" y="4023360"/>
            <a:ext cx="220142" cy="0"/>
          </a:xfrm>
          <a:prstGeom prst="line">
            <a:avLst/>
          </a:prstGeom>
          <a:noFill/>
          <a:ln w="19050">
            <a:solidFill>
              <a:schemeClr val="accent3"/>
            </a:solidFill>
            <a:prstDash val="solid"/>
            <a:tailEnd type="triangle"/>
          </a:ln>
        </p:spPr>
      </p:sp>
      <p:sp>
        <p:nvSpPr>
          <p:cNvPr id="34" name="Flight clock box 4"/>
          <p:cNvSpPr/>
          <p:nvPr/>
        </p:nvSpPr>
        <p:spPr>
          <a:xfrm>
            <a:off x="8313953" y="3429000"/>
            <a:ext cx="1517904" cy="1188720"/>
          </a:xfrm>
          <a:prstGeom prst="roundRect">
            <a:avLst>
              <a:gd name="adj" fmla="val 6154"/>
            </a:avLst>
          </a:prstGeom>
          <a:solidFill>
            <a:schemeClr val="bg2"/>
          </a:solidFill>
          <a:ln w="12700">
            <a:solidFill>
              <a:schemeClr val="bg2">
                <a:alpha val="0"/>
              </a:schemeClr>
            </a:solidFill>
            <a:prstDash val="solid"/>
          </a:ln>
        </p:spPr>
      </p:sp>
      <p:sp>
        <p:nvSpPr>
          <p:cNvPr id="35" name="Flight clock label 4"/>
          <p:cNvSpPr txBox="1"/>
          <p:nvPr/>
        </p:nvSpPr>
        <p:spPr>
          <a:xfrm>
            <a:off x="8405393" y="3474720"/>
            <a:ext cx="1335024" cy="1097280"/>
          </a:xfrm>
          <a:prstGeom prst="rect">
            <a:avLst/>
          </a:prstGeom>
          <a:noFill/>
          <a:ln/>
        </p:spPr>
        <p:txBody>
          <a:bodyPr wrap="square" lIns="0" tIns="0" rIns="0" bIns="0" rtlCol="0" anchor="ctr"/>
          <a:lstStyle/>
          <a:p>
            <a:pPr algn="ctr" indent="0" marL="0">
              <a:buNone/>
            </a:pPr>
            <a:r>
              <a:rPr lang="en-US" sz="1400" dirty="0">
                <a:solidFill>
                  <a:schemeClr val="tx1"/>
                </a:solidFill>
              </a:rPr>
              <a:t>Serve the devices (dwell)</a:t>
            </a:r>
            <a:endParaRPr lang="en-US" sz="1400" dirty="0"/>
          </a:p>
        </p:txBody>
      </p:sp>
      <p:sp>
        <p:nvSpPr>
          <p:cNvPr id="36" name="arrow"/>
          <p:cNvSpPr/>
          <p:nvPr/>
        </p:nvSpPr>
        <p:spPr>
          <a:xfrm>
            <a:off x="9868433" y="4023360"/>
            <a:ext cx="220142" cy="0"/>
          </a:xfrm>
          <a:prstGeom prst="line">
            <a:avLst/>
          </a:prstGeom>
          <a:noFill/>
          <a:ln w="19050">
            <a:solidFill>
              <a:schemeClr val="accent3"/>
            </a:solidFill>
            <a:prstDash val="solid"/>
            <a:tailEnd type="triangle"/>
          </a:ln>
        </p:spPr>
      </p:sp>
      <p:sp>
        <p:nvSpPr>
          <p:cNvPr id="37" name="Flight clock box 5"/>
          <p:cNvSpPr/>
          <p:nvPr/>
        </p:nvSpPr>
        <p:spPr>
          <a:xfrm>
            <a:off x="10125151" y="3429000"/>
            <a:ext cx="1517904" cy="1188720"/>
          </a:xfrm>
          <a:prstGeom prst="roundRect">
            <a:avLst>
              <a:gd name="adj" fmla="val 6154"/>
            </a:avLst>
          </a:prstGeom>
          <a:solidFill>
            <a:schemeClr val="bg2"/>
          </a:solidFill>
          <a:ln w="12700">
            <a:solidFill>
              <a:schemeClr val="bg2">
                <a:alpha val="0"/>
              </a:schemeClr>
            </a:solidFill>
            <a:prstDash val="solid"/>
          </a:ln>
        </p:spPr>
      </p:sp>
      <p:sp>
        <p:nvSpPr>
          <p:cNvPr id="38" name="Flight clock label 5"/>
          <p:cNvSpPr txBox="1"/>
          <p:nvPr/>
        </p:nvSpPr>
        <p:spPr>
          <a:xfrm>
            <a:off x="10216591" y="3474720"/>
            <a:ext cx="1335024" cy="1097280"/>
          </a:xfrm>
          <a:prstGeom prst="rect">
            <a:avLst/>
          </a:prstGeom>
          <a:noFill/>
          <a:ln/>
        </p:spPr>
        <p:txBody>
          <a:bodyPr wrap="square" lIns="0" tIns="0" rIns="0" bIns="0" rtlCol="0" anchor="ctr"/>
          <a:lstStyle/>
          <a:p>
            <a:pPr algn="ctr" indent="0" marL="0">
              <a:buNone/>
            </a:pPr>
            <a:r>
              <a:rPr lang="en-US" sz="1400" dirty="0">
                <a:solidFill>
                  <a:schemeClr val="tx1"/>
                </a:solidFill>
              </a:rPr>
              <a:t>Still fits?</a:t>
            </a:r>
            <a:endParaRPr lang="en-US" sz="1400" dirty="0"/>
          </a:p>
          <a:p>
            <a:pPr algn="ctr" indent="0" marL="0">
              <a:buNone/>
            </a:pPr>
            <a:r>
              <a:rPr lang="en-US" sz="1400" dirty="0">
                <a:solidFill>
                  <a:schemeClr val="tx1"/>
                </a:solidFill>
              </a:rPr>
              <a:t>If not, re‑plan</a:t>
            </a:r>
            <a:endParaRPr lang="en-US" sz="1400" dirty="0"/>
          </a:p>
        </p:txBody>
      </p:sp>
      <p:sp>
        <p:nvSpPr>
          <p:cNvPr id="39" name="arrow"/>
          <p:cNvSpPr/>
          <p:nvPr/>
        </p:nvSpPr>
        <p:spPr>
          <a:xfrm>
            <a:off x="10884103" y="3136392"/>
            <a:ext cx="0" cy="265176"/>
          </a:xfrm>
          <a:prstGeom prst="line">
            <a:avLst/>
          </a:prstGeom>
          <a:noFill/>
          <a:ln w="19050">
            <a:solidFill>
              <a:schemeClr val="accent1"/>
            </a:solidFill>
            <a:prstDash val="solid"/>
            <a:tailEnd type="triangle"/>
          </a:ln>
        </p:spPr>
      </p:sp>
      <p:sp>
        <p:nvSpPr>
          <p:cNvPr id="40" name="commit label"/>
          <p:cNvSpPr txBox="1"/>
          <p:nvPr/>
        </p:nvSpPr>
        <p:spPr>
          <a:xfrm>
            <a:off x="9466783" y="3172968"/>
            <a:ext cx="1325880" cy="228600"/>
          </a:xfrm>
          <a:prstGeom prst="rect">
            <a:avLst/>
          </a:prstGeom>
          <a:noFill/>
          <a:ln/>
        </p:spPr>
        <p:txBody>
          <a:bodyPr wrap="square" lIns="0" tIns="0" rIns="0" bIns="0" rtlCol="0" anchor="ctr"/>
          <a:lstStyle/>
          <a:p>
            <a:pPr algn="r" indent="0" marL="0">
              <a:buNone/>
            </a:pPr>
            <a:r>
              <a:rPr lang="en-US" sz="1100" i="1" dirty="0">
                <a:solidFill>
                  <a:schemeClr val="accent1"/>
                </a:solidFill>
              </a:rPr>
              <a:t>commit plan</a:t>
            </a:r>
            <a:endParaRPr lang="en-US" sz="1100" dirty="0"/>
          </a:p>
        </p:txBody>
      </p:sp>
      <p:sp>
        <p:nvSpPr>
          <p:cNvPr id="41" name="why together"/>
          <p:cNvSpPr/>
          <p:nvPr/>
        </p:nvSpPr>
        <p:spPr>
          <a:xfrm>
            <a:off x="548640" y="4983480"/>
            <a:ext cx="5432908" cy="1097280"/>
          </a:xfrm>
          <a:prstGeom prst="roundRect">
            <a:avLst>
              <a:gd name="adj" fmla="val 6667"/>
            </a:avLst>
          </a:prstGeom>
          <a:solidFill>
            <a:schemeClr val="bg2"/>
          </a:solidFill>
          <a:ln w="12700">
            <a:solidFill>
              <a:schemeClr val="bg2">
                <a:alpha val="0"/>
              </a:schemeClr>
            </a:solidFill>
            <a:prstDash val="solid"/>
          </a:ln>
        </p:spPr>
      </p:sp>
      <p:sp>
        <p:nvSpPr>
          <p:cNvPr id="42" name="Why plan band and route together?"/>
          <p:cNvSpPr txBox="1"/>
          <p:nvPr/>
        </p:nvSpPr>
        <p:spPr>
          <a:xfrm>
            <a:off x="777240" y="5074920"/>
            <a:ext cx="4975708" cy="96012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Why plan band and route together?</a:t>
            </a:r>
            <a:endParaRPr lang="en-US" sz="1600" dirty="0"/>
          </a:p>
          <a:p>
            <a:pPr indent="0" marL="0">
              <a:buNone/>
            </a:pPr>
            <a:r>
              <a:rPr lang="en-US" sz="1400" dirty="0">
                <a:solidFill>
                  <a:schemeClr val="tx1"/>
                </a:solidFill>
              </a:rPr>
              <a:t>The band fixes the range, the range fixes the stops, and the stops fix the route.</a:t>
            </a:r>
            <a:endParaRPr lang="en-US" sz="1600" dirty="0"/>
          </a:p>
        </p:txBody>
      </p:sp>
      <p:sp>
        <p:nvSpPr>
          <p:cNvPr id="43" name="why in flight"/>
          <p:cNvSpPr/>
          <p:nvPr/>
        </p:nvSpPr>
        <p:spPr>
          <a:xfrm>
            <a:off x="6210148" y="4983480"/>
            <a:ext cx="5432908" cy="1097280"/>
          </a:xfrm>
          <a:prstGeom prst="roundRect">
            <a:avLst>
              <a:gd name="adj" fmla="val 6667"/>
            </a:avLst>
          </a:prstGeom>
          <a:solidFill>
            <a:schemeClr val="bg2"/>
          </a:solidFill>
          <a:ln w="12700">
            <a:solidFill>
              <a:schemeClr val="bg2">
                <a:alpha val="0"/>
              </a:schemeClr>
            </a:solidFill>
            <a:prstDash val="solid"/>
          </a:ln>
        </p:spPr>
      </p:sp>
      <p:sp>
        <p:nvSpPr>
          <p:cNvPr id="44" name="Why re-decide in flight?"/>
          <p:cNvSpPr txBox="1"/>
          <p:nvPr/>
        </p:nvSpPr>
        <p:spPr>
          <a:xfrm>
            <a:off x="6438748" y="5074920"/>
            <a:ext cx="4975708" cy="96012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Why re-decide in flight?</a:t>
            </a:r>
            <a:endParaRPr lang="en-US" sz="1600" dirty="0"/>
          </a:p>
          <a:p>
            <a:pPr indent="0" marL="0">
              <a:buNone/>
            </a:pPr>
            <a:r>
              <a:rPr lang="en-US" sz="1400" dirty="0">
                <a:solidFill>
                  <a:schemeClr val="tx1"/>
                </a:solidFill>
              </a:rPr>
              <a:t>Interference changes over about one leg. Hard gates always run first; learning only ranks what they admit.</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METHODS · DECISION CLOCKS</a:t>
            </a:r>
            <a:endParaRPr lang="en-US" sz="1200" dirty="0"/>
          </a:p>
        </p:txBody>
      </p:sp>
      <p:sp>
        <p:nvSpPr>
          <p:cNvPr id="3" name="Text 1"/>
          <p:cNvSpPr/>
          <p:nvPr>
            <p:ph idx="102" type="title" hasCustomPrompt="1"/>
          </p:nvPr>
        </p:nvSpPr>
        <p:spPr>
          <a:xfrm>
            <a:off x="548640" y="585216"/>
            <a:ext cx="11094415" cy="658368"/>
          </a:xfrm>
          <a:prstGeom prst="rect">
            <a:avLst/>
          </a:prstGeom>
          <a:noFill/>
          <a:ln/>
        </p:spPr>
        <p:txBody>
          <a:bodyPr wrap="square" lIns="0" tIns="0" rIns="0" bIns="0" rtlCol="0" anchor="t"/>
          <a:lstStyle/>
          <a:p>
            <a:pPr algn="l" indent="0" marL="0">
              <a:buNone/>
            </a:pPr>
            <a:r>
              <a:rPr lang="en-US" sz="3600" b="1" dirty="0">
                <a:solidFill>
                  <a:schemeClr val="tx1"/>
                </a:solidFill>
              </a:rPr>
              <a:t>One feasibility test gates every decision</a:t>
            </a:r>
            <a:endParaRPr lang="en-US" sz="3600" dirty="0"/>
          </a:p>
        </p:txBody>
      </p:sp>
      <p:sp>
        <p:nvSpPr>
          <p:cNvPr id="4" name="Text 1"/>
          <p:cNvSpPr/>
          <p:nvPr>
            <p:ph idx="103" type="body" hasCustomPrompt="1"/>
          </p:nvPr>
        </p:nvSpPr>
        <p:spPr>
          <a:xfrm>
            <a:off x="548640" y="1298448"/>
            <a:ext cx="11094415" cy="411480"/>
          </a:xfrm>
          <a:prstGeom prst="rect">
            <a:avLst/>
          </a:prstGeom>
          <a:noFill/>
          <a:ln/>
        </p:spPr>
        <p:txBody>
          <a:bodyPr wrap="square" lIns="0" tIns="0" rIns="0" bIns="0" rtlCol="0" anchor="t"/>
          <a:lstStyle/>
          <a:p>
            <a:pPr indent="0" marL="0">
              <a:buNone/>
            </a:pPr>
            <a:r>
              <a:rPr lang="en-US" sz="1700" dirty="0">
                <a:solidFill>
                  <a:schemeClr val="accent3"/>
                </a:solidFill>
              </a:rPr>
              <a:t>It checks the plan, every departure, every re-plan and every in-flight choice.</a:t>
            </a:r>
            <a:endParaRPr lang="en-US" sz="1700" dirty="0"/>
          </a:p>
        </p:txBody>
      </p:sp>
      <p:sp>
        <p:nvSpPr>
          <p:cNvPr id="5" name="test card"/>
          <p:cNvSpPr/>
          <p:nvPr/>
        </p:nvSpPr>
        <p:spPr>
          <a:xfrm>
            <a:off x="548640" y="1920240"/>
            <a:ext cx="5257800" cy="4224528"/>
          </a:xfrm>
          <a:prstGeom prst="roundRect">
            <a:avLst>
              <a:gd name="adj" fmla="val 1732"/>
            </a:avLst>
          </a:prstGeom>
          <a:solidFill>
            <a:schemeClr val="bg2"/>
          </a:solidFill>
          <a:ln w="12700">
            <a:solidFill>
              <a:schemeClr val="bg2">
                <a:alpha val="0"/>
              </a:schemeClr>
            </a:solidFill>
            <a:prstDash val="solid"/>
          </a:ln>
        </p:spPr>
      </p:sp>
      <p:sp>
        <p:nvSpPr>
          <p:cNvPr id="6" name="test heading"/>
          <p:cNvSpPr txBox="1"/>
          <p:nvPr/>
        </p:nvSpPr>
        <p:spPr>
          <a:xfrm>
            <a:off x="822960" y="2057400"/>
            <a:ext cx="4754880" cy="365760"/>
          </a:xfrm>
          <a:prstGeom prst="rect">
            <a:avLst/>
          </a:prstGeom>
          <a:noFill/>
          <a:ln/>
        </p:spPr>
        <p:txBody>
          <a:bodyPr wrap="square" lIns="0" tIns="0" rIns="0" bIns="0" rtlCol="0" anchor="ctr"/>
          <a:lstStyle/>
          <a:p>
            <a:pPr indent="0" marL="0">
              <a:buNone/>
            </a:pPr>
            <a:r>
              <a:rPr lang="en-US" sz="1800" b="1" dirty="0">
                <a:solidFill>
                  <a:schemeClr val="tx1"/>
                </a:solidFill>
              </a:rPr>
              <a:t>A stop is admitted only if…</a:t>
            </a:r>
            <a:endParaRPr lang="en-US" sz="1800" dirty="0"/>
          </a:p>
        </p:txBody>
      </p:sp>
      <p:sp>
        <p:nvSpPr>
          <p:cNvPr id="7" name="condition dot 1"/>
          <p:cNvSpPr/>
          <p:nvPr/>
        </p:nvSpPr>
        <p:spPr>
          <a:xfrm>
            <a:off x="822960" y="2560320"/>
            <a:ext cx="384048" cy="384048"/>
          </a:xfrm>
          <a:prstGeom prst="ellipse">
            <a:avLst/>
          </a:prstGeom>
          <a:solidFill>
            <a:schemeClr val="accent1"/>
          </a:solidFill>
          <a:ln w="12700">
            <a:solidFill>
              <a:schemeClr val="accent1">
                <a:alpha val="0"/>
              </a:schemeClr>
            </a:solidFill>
            <a:prstDash val="solid"/>
          </a:ln>
        </p:spPr>
      </p:sp>
      <p:sp>
        <p:nvSpPr>
          <p:cNvPr id="8" name="condition number 1"/>
          <p:cNvSpPr txBox="1"/>
          <p:nvPr/>
        </p:nvSpPr>
        <p:spPr>
          <a:xfrm>
            <a:off x="822960" y="256032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9" name="condition 1"/>
          <p:cNvSpPr txBox="1"/>
          <p:nvPr/>
        </p:nvSpPr>
        <p:spPr>
          <a:xfrm>
            <a:off x="1353312" y="2505456"/>
            <a:ext cx="4206240" cy="493776"/>
          </a:xfrm>
          <a:prstGeom prst="rect">
            <a:avLst/>
          </a:prstGeom>
          <a:noFill/>
          <a:ln/>
        </p:spPr>
        <p:txBody>
          <a:bodyPr wrap="square" lIns="0" tIns="0" rIns="0" bIns="0" rtlCol="0" anchor="ctr"/>
          <a:lstStyle/>
          <a:p>
            <a:pPr indent="0" marL="0">
              <a:buNone/>
            </a:pPr>
            <a:r>
              <a:rPr lang="en-US" sz="1500" dirty="0">
                <a:solidFill>
                  <a:schemeClr val="tx1"/>
                </a:solidFill>
              </a:rPr>
              <a:t>Its devices finish before their deadlines</a:t>
            </a:r>
            <a:endParaRPr lang="en-US" sz="1500" dirty="0"/>
          </a:p>
        </p:txBody>
      </p:sp>
      <p:sp>
        <p:nvSpPr>
          <p:cNvPr id="10" name="condition dot 2"/>
          <p:cNvSpPr/>
          <p:nvPr/>
        </p:nvSpPr>
        <p:spPr>
          <a:xfrm>
            <a:off x="822960" y="3127248"/>
            <a:ext cx="384048" cy="384048"/>
          </a:xfrm>
          <a:prstGeom prst="ellipse">
            <a:avLst/>
          </a:prstGeom>
          <a:solidFill>
            <a:schemeClr val="accent1"/>
          </a:solidFill>
          <a:ln w="12700">
            <a:solidFill>
              <a:schemeClr val="accent1">
                <a:alpha val="0"/>
              </a:schemeClr>
            </a:solidFill>
            <a:prstDash val="solid"/>
          </a:ln>
        </p:spPr>
      </p:sp>
      <p:sp>
        <p:nvSpPr>
          <p:cNvPr id="11" name="condition number 2"/>
          <p:cNvSpPr txBox="1"/>
          <p:nvPr/>
        </p:nvSpPr>
        <p:spPr>
          <a:xfrm>
            <a:off x="822960" y="3127248"/>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condition 2"/>
          <p:cNvSpPr txBox="1"/>
          <p:nvPr/>
        </p:nvSpPr>
        <p:spPr>
          <a:xfrm>
            <a:off x="1353312" y="3072384"/>
            <a:ext cx="4206240" cy="493776"/>
          </a:xfrm>
          <a:prstGeom prst="rect">
            <a:avLst/>
          </a:prstGeom>
          <a:noFill/>
          <a:ln/>
        </p:spPr>
        <p:txBody>
          <a:bodyPr wrap="square" lIns="0" tIns="0" rIns="0" bIns="0" rtlCol="0" anchor="ctr"/>
          <a:lstStyle/>
          <a:p>
            <a:pPr indent="0" marL="0">
              <a:buNone/>
            </a:pPr>
            <a:r>
              <a:rPr lang="en-US" sz="1500" dirty="0">
                <a:solidFill>
                  <a:schemeClr val="tx1"/>
                </a:solidFill>
              </a:rPr>
              <a:t>The drone can still fly home and upload within the mission budget</a:t>
            </a:r>
            <a:endParaRPr lang="en-US" sz="1500" dirty="0"/>
          </a:p>
        </p:txBody>
      </p:sp>
      <p:sp>
        <p:nvSpPr>
          <p:cNvPr id="13" name="condition dot 3"/>
          <p:cNvSpPr/>
          <p:nvPr/>
        </p:nvSpPr>
        <p:spPr>
          <a:xfrm>
            <a:off x="822960" y="3694176"/>
            <a:ext cx="384048" cy="384048"/>
          </a:xfrm>
          <a:prstGeom prst="ellipse">
            <a:avLst/>
          </a:prstGeom>
          <a:solidFill>
            <a:schemeClr val="accent1"/>
          </a:solidFill>
          <a:ln w="12700">
            <a:solidFill>
              <a:schemeClr val="accent1">
                <a:alpha val="0"/>
              </a:schemeClr>
            </a:solidFill>
            <a:prstDash val="solid"/>
          </a:ln>
        </p:spPr>
      </p:sp>
      <p:sp>
        <p:nvSpPr>
          <p:cNvPr id="14" name="condition number 3"/>
          <p:cNvSpPr txBox="1"/>
          <p:nvPr/>
        </p:nvSpPr>
        <p:spPr>
          <a:xfrm>
            <a:off x="822960" y="369417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5" name="condition 3"/>
          <p:cNvSpPr txBox="1"/>
          <p:nvPr/>
        </p:nvSpPr>
        <p:spPr>
          <a:xfrm>
            <a:off x="1353312" y="3639312"/>
            <a:ext cx="4206240" cy="493776"/>
          </a:xfrm>
          <a:prstGeom prst="rect">
            <a:avLst/>
          </a:prstGeom>
          <a:noFill/>
          <a:ln/>
        </p:spPr>
        <p:txBody>
          <a:bodyPr wrap="square" lIns="0" tIns="0" rIns="0" bIns="0" rtlCol="0" anchor="ctr"/>
          <a:lstStyle/>
          <a:p>
            <a:pPr indent="0" marL="0">
              <a:buNone/>
            </a:pPr>
            <a:r>
              <a:rPr lang="en-US" sz="1500" dirty="0">
                <a:solidFill>
                  <a:schemeClr val="tx1"/>
                </a:solidFill>
              </a:rPr>
              <a:t>The energy fits</a:t>
            </a:r>
            <a:endParaRPr lang="en-US" sz="1500" dirty="0"/>
          </a:p>
        </p:txBody>
      </p:sp>
      <p:sp>
        <p:nvSpPr>
          <p:cNvPr id="16" name="test equations"/>
          <p:cNvSpPr txBox="1"/>
          <p:nvPr/>
        </p:nvSpPr>
        <p:spPr>
          <a:xfrm>
            <a:off x="822960" y="4343400"/>
            <a:ext cx="4754880" cy="914400"/>
          </a:xfrm>
          <a:prstGeom prst="rect">
            <a:avLst/>
          </a:prstGeom>
          <a:noFill/>
          <a:ln/>
        </p:spPr>
        <p:txBody>
          <a:bodyPr wrap="square" lIns="0" tIns="0" rIns="0" bIns="0" rtlCol="0" anchor="t"/>
          <a:lstStyle/>
          <a:p>
            <a:pPr indent="0" marL="0">
              <a:spcAft>
                <a:spcPts val="400"/>
              </a:spcAft>
              <a:buNone/>
            </a:pPr>
            <a:r>
              <a:rPr lang="en-US" sz="1400" b="1" dirty="0">
                <a:solidFill>
                  <a:schemeClr val="accent6"/>
                </a:solidFill>
              </a:rPr>
              <a:t>arrive = now + distance ÷ speed</a:t>
            </a:r>
            <a:endParaRPr lang="en-US" sz="1400" dirty="0"/>
          </a:p>
          <a:p>
            <a:pPr indent="0" marL="0">
              <a:spcAft>
                <a:spcPts val="400"/>
              </a:spcAft>
              <a:buNone/>
            </a:pPr>
            <a:r>
              <a:rPr lang="en-US" sz="1400" b="1" dirty="0">
                <a:solidFill>
                  <a:schemeClr val="accent6"/>
                </a:solidFill>
              </a:rPr>
              <a:t>finish = arrive + Σ dwell  (bytes ÷ rate on the band)</a:t>
            </a:r>
            <a:endParaRPr lang="en-US" sz="1400" dirty="0"/>
          </a:p>
          <a:p>
            <a:pPr indent="0" marL="0">
              <a:spcAft>
                <a:spcPts val="400"/>
              </a:spcAft>
              <a:buNone/>
            </a:pPr>
            <a:r>
              <a:rPr lang="en-US" sz="1400" b="1" dirty="0">
                <a:solidFill>
                  <a:schemeClr val="accent6"/>
                </a:solidFill>
              </a:rPr>
              <a:t>home = finish + return + upload  ≤  budget</a:t>
            </a:r>
            <a:endParaRPr lang="en-US" sz="1400" dirty="0"/>
          </a:p>
        </p:txBody>
      </p:sp>
      <p:sp>
        <p:nvSpPr>
          <p:cNvPr id="17" name="test caveat"/>
          <p:cNvSpPr txBox="1"/>
          <p:nvPr/>
        </p:nvSpPr>
        <p:spPr>
          <a:xfrm>
            <a:off x="822960" y="5349240"/>
            <a:ext cx="4754880" cy="685800"/>
          </a:xfrm>
          <a:prstGeom prst="rect">
            <a:avLst/>
          </a:prstGeom>
          <a:noFill/>
          <a:ln/>
        </p:spPr>
        <p:txBody>
          <a:bodyPr wrap="square" lIns="0" tIns="0" rIns="0" bIns="0" rtlCol="0" anchor="t"/>
          <a:lstStyle/>
          <a:p>
            <a:pPr indent="0" marL="0">
              <a:buNone/>
            </a:pPr>
            <a:r>
              <a:rPr lang="en-US" sz="1300" i="1" dirty="0">
                <a:solidFill>
                  <a:schemeClr val="accent3"/>
                </a:solidFill>
              </a:rPr>
              <a:t>The plan prices the mean signal, so real missions can run longer: the source of the overruns we report.</a:t>
            </a:r>
            <a:endParaRPr lang="en-US" sz="1300" dirty="0"/>
          </a:p>
        </p:txBody>
      </p:sp>
      <p:sp>
        <p:nvSpPr>
          <p:cNvPr id="18" name="ingredient 1"/>
          <p:cNvSpPr/>
          <p:nvPr/>
        </p:nvSpPr>
        <p:spPr>
          <a:xfrm>
            <a:off x="6035040" y="1920240"/>
            <a:ext cx="2712568" cy="2020824"/>
          </a:xfrm>
          <a:prstGeom prst="roundRect">
            <a:avLst>
              <a:gd name="adj" fmla="val 3620"/>
            </a:avLst>
          </a:prstGeom>
          <a:solidFill>
            <a:schemeClr val="bg2"/>
          </a:solidFill>
          <a:ln w="12700">
            <a:solidFill>
              <a:schemeClr val="bg2">
                <a:alpha val="0"/>
              </a:schemeClr>
            </a:solidFill>
            <a:prstDash val="solid"/>
          </a:ln>
        </p:spPr>
      </p:sp>
      <p:sp>
        <p:nvSpPr>
          <p:cNvPr id="19" name="Adaptive deadlines circle"/>
          <p:cNvSpPr/>
          <p:nvPr/>
        </p:nvSpPr>
        <p:spPr>
          <a:xfrm>
            <a:off x="6236208" y="2121408"/>
            <a:ext cx="502920" cy="502920"/>
          </a:xfrm>
          <a:prstGeom prst="ellipse">
            <a:avLst/>
          </a:prstGeom>
          <a:solidFill>
            <a:schemeClr val="accent2"/>
          </a:solidFill>
          <a:ln w="12700">
            <a:solidFill>
              <a:schemeClr val="accent2">
                <a:alpha val="0"/>
              </a:schemeClr>
            </a:solidFill>
            <a:prstDash val="solid"/>
          </a:ln>
        </p:spPr>
      </p:sp>
      <p:pic>
        <p:nvPicPr>
          <p:cNvPr id="20" name="Adaptive deadlines glyph" descr="preencoded.png">    </p:cNvPr>
          <p:cNvPicPr>
            <a:picLocks noChangeAspect="1"/>
          </p:cNvPicPr>
          <p:nvPr/>
        </p:nvPicPr>
        <p:blipFill>
          <a:blip r:embed="rId1"/>
          <a:stretch>
            <a:fillRect/>
          </a:stretch>
        </p:blipFill>
        <p:spPr>
          <a:xfrm>
            <a:off x="6346850" y="2232050"/>
            <a:ext cx="281635" cy="281635"/>
          </a:xfrm>
          <a:prstGeom prst="rect">
            <a:avLst/>
          </a:prstGeom>
        </p:spPr>
      </p:pic>
      <p:sp>
        <p:nvSpPr>
          <p:cNvPr id="21" name="Adaptive deadlines title"/>
          <p:cNvSpPr txBox="1"/>
          <p:nvPr/>
        </p:nvSpPr>
        <p:spPr>
          <a:xfrm>
            <a:off x="6858000" y="2121408"/>
            <a:ext cx="1752448" cy="502920"/>
          </a:xfrm>
          <a:prstGeom prst="rect">
            <a:avLst/>
          </a:prstGeom>
          <a:noFill/>
          <a:ln/>
        </p:spPr>
        <p:txBody>
          <a:bodyPr wrap="square" lIns="0" tIns="0" rIns="0" bIns="0" rtlCol="0" anchor="ctr"/>
          <a:lstStyle/>
          <a:p>
            <a:pPr indent="0" marL="0">
              <a:buNone/>
            </a:pPr>
            <a:r>
              <a:rPr lang="en-US" sz="1600" b="1" dirty="0">
                <a:solidFill>
                  <a:schemeClr val="tx1"/>
                </a:solidFill>
              </a:rPr>
              <a:t>Adaptive deadlines</a:t>
            </a:r>
            <a:endParaRPr lang="en-US" sz="1600" dirty="0"/>
          </a:p>
        </p:txBody>
      </p:sp>
      <p:sp>
        <p:nvSpPr>
          <p:cNvPr id="22" name="Adaptive deadlines body"/>
          <p:cNvSpPr txBox="1"/>
          <p:nvPr/>
        </p:nvSpPr>
        <p:spPr>
          <a:xfrm>
            <a:off x="6236208" y="2743200"/>
            <a:ext cx="2346808" cy="1106424"/>
          </a:xfrm>
          <a:prstGeom prst="rect">
            <a:avLst/>
          </a:prstGeom>
          <a:noFill/>
          <a:ln/>
        </p:spPr>
        <p:txBody>
          <a:bodyPr wrap="square" lIns="0" tIns="0" rIns="0" bIns="0" rtlCol="0" anchor="t"/>
          <a:lstStyle/>
          <a:p>
            <a:pPr indent="0" marL="0">
              <a:buNone/>
            </a:pPr>
            <a:r>
              <a:rPr lang="en-US" sz="1400" dirty="0">
                <a:solidFill>
                  <a:schemeClr val="tx1"/>
                </a:solidFill>
              </a:rPr>
              <a:t>A device's window shrinks after a clean contact (×0.8) and widens after a miss (×1.25 or ×1.5), within limits.</a:t>
            </a:r>
            <a:endParaRPr lang="en-US" sz="1400" dirty="0"/>
          </a:p>
        </p:txBody>
      </p:sp>
      <p:sp>
        <p:nvSpPr>
          <p:cNvPr id="23" name="ingredient 2"/>
          <p:cNvSpPr/>
          <p:nvPr/>
        </p:nvSpPr>
        <p:spPr>
          <a:xfrm>
            <a:off x="8930488" y="1920240"/>
            <a:ext cx="2712568" cy="2020824"/>
          </a:xfrm>
          <a:prstGeom prst="roundRect">
            <a:avLst>
              <a:gd name="adj" fmla="val 3620"/>
            </a:avLst>
          </a:prstGeom>
          <a:solidFill>
            <a:schemeClr val="bg2"/>
          </a:solidFill>
          <a:ln w="12700">
            <a:solidFill>
              <a:schemeClr val="bg2">
                <a:alpha val="0"/>
              </a:schemeClr>
            </a:solidFill>
            <a:prstDash val="solid"/>
          </a:ln>
        </p:spPr>
      </p:sp>
      <p:sp>
        <p:nvSpPr>
          <p:cNvPr id="24" name="Coverage weight circle"/>
          <p:cNvSpPr/>
          <p:nvPr/>
        </p:nvSpPr>
        <p:spPr>
          <a:xfrm>
            <a:off x="9131656" y="2121408"/>
            <a:ext cx="502920" cy="502920"/>
          </a:xfrm>
          <a:prstGeom prst="ellipse">
            <a:avLst/>
          </a:prstGeom>
          <a:solidFill>
            <a:schemeClr val="accent2"/>
          </a:solidFill>
          <a:ln w="12700">
            <a:solidFill>
              <a:schemeClr val="accent2">
                <a:alpha val="0"/>
              </a:schemeClr>
            </a:solidFill>
            <a:prstDash val="solid"/>
          </a:ln>
        </p:spPr>
      </p:sp>
      <p:pic>
        <p:nvPicPr>
          <p:cNvPr id="25" name="Coverage weight glyph" descr="preencoded.png">    </p:cNvPr>
          <p:cNvPicPr>
            <a:picLocks noChangeAspect="1"/>
          </p:cNvPicPr>
          <p:nvPr/>
        </p:nvPicPr>
        <p:blipFill>
          <a:blip r:embed="rId2"/>
          <a:stretch>
            <a:fillRect/>
          </a:stretch>
        </p:blipFill>
        <p:spPr>
          <a:xfrm>
            <a:off x="9242298" y="2232050"/>
            <a:ext cx="281635" cy="281635"/>
          </a:xfrm>
          <a:prstGeom prst="rect">
            <a:avLst/>
          </a:prstGeom>
        </p:spPr>
      </p:pic>
      <p:sp>
        <p:nvSpPr>
          <p:cNvPr id="26" name="Coverage weight title"/>
          <p:cNvSpPr txBox="1"/>
          <p:nvPr/>
        </p:nvSpPr>
        <p:spPr>
          <a:xfrm>
            <a:off x="9753448" y="2121408"/>
            <a:ext cx="1752448" cy="502920"/>
          </a:xfrm>
          <a:prstGeom prst="rect">
            <a:avLst/>
          </a:prstGeom>
          <a:noFill/>
          <a:ln/>
        </p:spPr>
        <p:txBody>
          <a:bodyPr wrap="square" lIns="0" tIns="0" rIns="0" bIns="0" rtlCol="0" anchor="ctr"/>
          <a:lstStyle/>
          <a:p>
            <a:pPr indent="0" marL="0">
              <a:buNone/>
            </a:pPr>
            <a:r>
              <a:rPr lang="en-US" sz="1600" b="1" dirty="0">
                <a:solidFill>
                  <a:schemeClr val="tx1"/>
                </a:solidFill>
              </a:rPr>
              <a:t>Coverage weight</a:t>
            </a:r>
            <a:endParaRPr lang="en-US" sz="1600" dirty="0"/>
          </a:p>
        </p:txBody>
      </p:sp>
      <p:sp>
        <p:nvSpPr>
          <p:cNvPr id="27" name="Coverage weight body"/>
          <p:cNvSpPr txBox="1"/>
          <p:nvPr/>
        </p:nvSpPr>
        <p:spPr>
          <a:xfrm>
            <a:off x="9131656" y="2743200"/>
            <a:ext cx="2346808" cy="1106424"/>
          </a:xfrm>
          <a:prstGeom prst="rect">
            <a:avLst/>
          </a:prstGeom>
          <a:noFill/>
          <a:ln/>
        </p:spPr>
        <p:txBody>
          <a:bodyPr wrap="square" lIns="0" tIns="0" rIns="0" bIns="0" rtlCol="0" anchor="t"/>
          <a:lstStyle/>
          <a:p>
            <a:pPr indent="0" marL="0">
              <a:buNone/>
            </a:pPr>
            <a:r>
              <a:rPr lang="en-US" sz="1400" dirty="0">
                <a:solidFill>
                  <a:schemeClr val="tx1"/>
                </a:solidFill>
              </a:rPr>
              <a:t>Weight ≈ (missions since last served)². The plan serves the most weight; time and energy break ties.</a:t>
            </a:r>
            <a:endParaRPr lang="en-US" sz="1400" dirty="0"/>
          </a:p>
        </p:txBody>
      </p:sp>
      <p:sp>
        <p:nvSpPr>
          <p:cNvPr id="28" name="ingredient 3"/>
          <p:cNvSpPr/>
          <p:nvPr/>
        </p:nvSpPr>
        <p:spPr>
          <a:xfrm>
            <a:off x="6035040" y="4123944"/>
            <a:ext cx="2712568" cy="2020824"/>
          </a:xfrm>
          <a:prstGeom prst="roundRect">
            <a:avLst>
              <a:gd name="adj" fmla="val 3620"/>
            </a:avLst>
          </a:prstGeom>
          <a:solidFill>
            <a:schemeClr val="bg2"/>
          </a:solidFill>
          <a:ln w="12700">
            <a:solidFill>
              <a:schemeClr val="bg2">
                <a:alpha val="0"/>
              </a:schemeClr>
            </a:solidFill>
            <a:prstDash val="solid"/>
          </a:ln>
        </p:spPr>
      </p:sp>
      <p:sp>
        <p:nvSpPr>
          <p:cNvPr id="29" name="Age cap circle"/>
          <p:cNvSpPr/>
          <p:nvPr/>
        </p:nvSpPr>
        <p:spPr>
          <a:xfrm>
            <a:off x="6236208" y="4325112"/>
            <a:ext cx="502920" cy="502920"/>
          </a:xfrm>
          <a:prstGeom prst="ellipse">
            <a:avLst/>
          </a:prstGeom>
          <a:solidFill>
            <a:schemeClr val="accent2"/>
          </a:solidFill>
          <a:ln w="12700">
            <a:solidFill>
              <a:schemeClr val="accent2">
                <a:alpha val="0"/>
              </a:schemeClr>
            </a:solidFill>
            <a:prstDash val="solid"/>
          </a:ln>
        </p:spPr>
      </p:sp>
      <p:pic>
        <p:nvPicPr>
          <p:cNvPr id="30" name="Age cap glyph" descr="preencoded.png">    </p:cNvPr>
          <p:cNvPicPr>
            <a:picLocks noChangeAspect="1"/>
          </p:cNvPicPr>
          <p:nvPr/>
        </p:nvPicPr>
        <p:blipFill>
          <a:blip r:embed="rId3"/>
          <a:stretch>
            <a:fillRect/>
          </a:stretch>
        </p:blipFill>
        <p:spPr>
          <a:xfrm>
            <a:off x="6346850" y="4435754"/>
            <a:ext cx="281635" cy="281635"/>
          </a:xfrm>
          <a:prstGeom prst="rect">
            <a:avLst/>
          </a:prstGeom>
        </p:spPr>
      </p:pic>
      <p:sp>
        <p:nvSpPr>
          <p:cNvPr id="31" name="Age cap title"/>
          <p:cNvSpPr txBox="1"/>
          <p:nvPr/>
        </p:nvSpPr>
        <p:spPr>
          <a:xfrm>
            <a:off x="6858000" y="4325112"/>
            <a:ext cx="1752448" cy="502920"/>
          </a:xfrm>
          <a:prstGeom prst="rect">
            <a:avLst/>
          </a:prstGeom>
          <a:noFill/>
          <a:ln/>
        </p:spPr>
        <p:txBody>
          <a:bodyPr wrap="square" lIns="0" tIns="0" rIns="0" bIns="0" rtlCol="0" anchor="ctr"/>
          <a:lstStyle/>
          <a:p>
            <a:pPr indent="0" marL="0">
              <a:buNone/>
            </a:pPr>
            <a:r>
              <a:rPr lang="en-US" sz="1600" b="1" dirty="0">
                <a:solidFill>
                  <a:schemeClr val="tx1"/>
                </a:solidFill>
              </a:rPr>
              <a:t>Age cap</a:t>
            </a:r>
            <a:endParaRPr lang="en-US" sz="1600" dirty="0"/>
          </a:p>
        </p:txBody>
      </p:sp>
      <p:sp>
        <p:nvSpPr>
          <p:cNvPr id="32" name="Age cap body"/>
          <p:cNvSpPr txBox="1"/>
          <p:nvPr/>
        </p:nvSpPr>
        <p:spPr>
          <a:xfrm>
            <a:off x="6236208" y="4946904"/>
            <a:ext cx="2346808" cy="1106424"/>
          </a:xfrm>
          <a:prstGeom prst="rect">
            <a:avLst/>
          </a:prstGeom>
          <a:noFill/>
          <a:ln/>
        </p:spPr>
        <p:txBody>
          <a:bodyPr wrap="square" lIns="0" tIns="0" rIns="0" bIns="0" rtlCol="0" anchor="t"/>
          <a:lstStyle/>
          <a:p>
            <a:pPr indent="0" marL="0">
              <a:buNone/>
            </a:pPr>
            <a:r>
              <a:rPr lang="en-US" sz="1400" dirty="0">
                <a:solidFill>
                  <a:schemeClr val="tx1"/>
                </a:solidFill>
              </a:rPr>
              <a:t>A device skipped for 2 missions must be served, adding a hover stop just for it if needed.</a:t>
            </a:r>
            <a:endParaRPr lang="en-US" sz="1400" dirty="0"/>
          </a:p>
        </p:txBody>
      </p:sp>
      <p:sp>
        <p:nvSpPr>
          <p:cNvPr id="33" name="ingredient 4"/>
          <p:cNvSpPr/>
          <p:nvPr/>
        </p:nvSpPr>
        <p:spPr>
          <a:xfrm>
            <a:off x="8930488" y="4123944"/>
            <a:ext cx="2712568" cy="2020824"/>
          </a:xfrm>
          <a:prstGeom prst="roundRect">
            <a:avLst>
              <a:gd name="adj" fmla="val 3620"/>
            </a:avLst>
          </a:prstGeom>
          <a:solidFill>
            <a:schemeClr val="bg2"/>
          </a:solidFill>
          <a:ln w="12700">
            <a:solidFill>
              <a:schemeClr val="bg2">
                <a:alpha val="0"/>
              </a:schemeClr>
            </a:solidFill>
            <a:prstDash val="solid"/>
          </a:ln>
        </p:spPr>
      </p:sp>
      <p:sp>
        <p:nvSpPr>
          <p:cNvPr id="34" name="Stale-aware merges circle"/>
          <p:cNvSpPr/>
          <p:nvPr/>
        </p:nvSpPr>
        <p:spPr>
          <a:xfrm>
            <a:off x="9131656" y="4325112"/>
            <a:ext cx="502920" cy="502920"/>
          </a:xfrm>
          <a:prstGeom prst="ellipse">
            <a:avLst/>
          </a:prstGeom>
          <a:solidFill>
            <a:schemeClr val="accent2"/>
          </a:solidFill>
          <a:ln w="12700">
            <a:solidFill>
              <a:schemeClr val="accent2">
                <a:alpha val="0"/>
              </a:schemeClr>
            </a:solidFill>
            <a:prstDash val="solid"/>
          </a:ln>
        </p:spPr>
      </p:sp>
      <p:pic>
        <p:nvPicPr>
          <p:cNvPr id="35" name="Stale-aware merges glyph" descr="preencoded.png">    </p:cNvPr>
          <p:cNvPicPr>
            <a:picLocks noChangeAspect="1"/>
          </p:cNvPicPr>
          <p:nvPr/>
        </p:nvPicPr>
        <p:blipFill>
          <a:blip r:embed="rId4"/>
          <a:stretch>
            <a:fillRect/>
          </a:stretch>
        </p:blipFill>
        <p:spPr>
          <a:xfrm>
            <a:off x="9242298" y="4435754"/>
            <a:ext cx="281635" cy="281635"/>
          </a:xfrm>
          <a:prstGeom prst="rect">
            <a:avLst/>
          </a:prstGeom>
        </p:spPr>
      </p:pic>
      <p:sp>
        <p:nvSpPr>
          <p:cNvPr id="36" name="Stale-aware merges title"/>
          <p:cNvSpPr txBox="1"/>
          <p:nvPr/>
        </p:nvSpPr>
        <p:spPr>
          <a:xfrm>
            <a:off x="9753448" y="4325112"/>
            <a:ext cx="1752448" cy="502920"/>
          </a:xfrm>
          <a:prstGeom prst="rect">
            <a:avLst/>
          </a:prstGeom>
          <a:noFill/>
          <a:ln/>
        </p:spPr>
        <p:txBody>
          <a:bodyPr wrap="square" lIns="0" tIns="0" rIns="0" bIns="0" rtlCol="0" anchor="ctr"/>
          <a:lstStyle/>
          <a:p>
            <a:pPr indent="0" marL="0">
              <a:buNone/>
            </a:pPr>
            <a:r>
              <a:rPr lang="en-US" sz="1600" b="1" dirty="0">
                <a:solidFill>
                  <a:schemeClr val="tx1"/>
                </a:solidFill>
              </a:rPr>
              <a:t>Stale-aware merges</a:t>
            </a:r>
            <a:endParaRPr lang="en-US" sz="1600" dirty="0"/>
          </a:p>
        </p:txBody>
      </p:sp>
      <p:sp>
        <p:nvSpPr>
          <p:cNvPr id="37" name="Stale-aware merges body"/>
          <p:cNvSpPr txBox="1"/>
          <p:nvPr/>
        </p:nvSpPr>
        <p:spPr>
          <a:xfrm>
            <a:off x="9131656" y="4946904"/>
            <a:ext cx="2346808" cy="1106424"/>
          </a:xfrm>
          <a:prstGeom prst="rect">
            <a:avLst/>
          </a:prstGeom>
          <a:noFill/>
          <a:ln/>
        </p:spPr>
        <p:txBody>
          <a:bodyPr wrap="square" lIns="0" tIns="0" rIns="0" bIns="0" rtlCol="0" anchor="t"/>
          <a:lstStyle/>
          <a:p>
            <a:pPr indent="0" marL="0">
              <a:buNone/>
            </a:pPr>
            <a:r>
              <a:rPr lang="en-US" sz="1400" dirty="0">
                <a:solidFill>
                  <a:schemeClr val="tx1"/>
                </a:solidFill>
              </a:rPr>
              <a:t>Update weight = examples × 1/(age + 1), on the drone and again at the server.</a:t>
            </a:r>
            <a:endParaRPr lang="en-US"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METHODS · JOINT RL MODEL</a:t>
            </a:r>
            <a:endParaRPr lang="en-US" sz="1200" dirty="0"/>
          </a:p>
        </p:txBody>
      </p:sp>
      <p:sp>
        <p:nvSpPr>
          <p:cNvPr id="3" name="Text 1"/>
          <p:cNvSpPr/>
          <p:nvPr>
            <p:ph idx="102" type="title" hasCustomPrompt="1"/>
          </p:nvPr>
        </p:nvSpPr>
        <p:spPr>
          <a:xfrm>
            <a:off x="548640" y="585216"/>
            <a:ext cx="11094415" cy="658368"/>
          </a:xfrm>
          <a:prstGeom prst="rect">
            <a:avLst/>
          </a:prstGeom>
          <a:noFill/>
          <a:ln/>
        </p:spPr>
        <p:txBody>
          <a:bodyPr wrap="square" lIns="0" tIns="0" rIns="0" bIns="0" rtlCol="0" anchor="t"/>
          <a:lstStyle/>
          <a:p>
            <a:pPr algn="l" indent="0" marL="0">
              <a:buNone/>
            </a:pPr>
            <a:r>
              <a:rPr lang="en-US" sz="3600" b="1" dirty="0">
                <a:solidFill>
                  <a:schemeClr val="tx1"/>
                </a:solidFill>
              </a:rPr>
              <a:t>Joint RL model: band + next stop together</a:t>
            </a:r>
            <a:endParaRPr lang="en-US" sz="3600" dirty="0"/>
          </a:p>
        </p:txBody>
      </p:sp>
      <p:sp>
        <p:nvSpPr>
          <p:cNvPr id="4" name="Text 1"/>
          <p:cNvSpPr/>
          <p:nvPr>
            <p:ph idx="103" type="body" hasCustomPrompt="1"/>
          </p:nvPr>
        </p:nvSpPr>
        <p:spPr>
          <a:xfrm>
            <a:off x="548640" y="1298448"/>
            <a:ext cx="11094415" cy="411480"/>
          </a:xfrm>
          <a:prstGeom prst="rect">
            <a:avLst/>
          </a:prstGeom>
          <a:noFill/>
          <a:ln/>
        </p:spPr>
        <p:txBody>
          <a:bodyPr wrap="square" lIns="0" tIns="0" rIns="0" bIns="0" rtlCol="0" anchor="t"/>
          <a:lstStyle/>
          <a:p>
            <a:pPr indent="0" marL="0">
              <a:buNone/>
            </a:pPr>
            <a:r>
              <a:rPr lang="en-US" sz="1700" dirty="0">
                <a:solidFill>
                  <a:schemeClr val="accent3"/>
                </a:solidFill>
              </a:rPr>
              <a:t>At each stop the flight slot can change the band and the next stop. FeRRy has three ways to fill it.</a:t>
            </a:r>
            <a:endParaRPr lang="en-US" sz="1700" dirty="0"/>
          </a:p>
        </p:txBody>
      </p:sp>
      <p:sp>
        <p:nvSpPr>
          <p:cNvPr id="5" name="F · commit"/>
          <p:cNvSpPr/>
          <p:nvPr/>
        </p:nvSpPr>
        <p:spPr>
          <a:xfrm>
            <a:off x="548640" y="1920240"/>
            <a:ext cx="3566160" cy="1325880"/>
          </a:xfrm>
          <a:prstGeom prst="roundRect">
            <a:avLst>
              <a:gd name="adj" fmla="val 5517"/>
            </a:avLst>
          </a:prstGeom>
          <a:solidFill>
            <a:schemeClr val="bg2"/>
          </a:solidFill>
          <a:ln w="12700">
            <a:solidFill>
              <a:schemeClr val="bg2">
                <a:alpha val="0"/>
              </a:schemeClr>
            </a:solidFill>
            <a:prstDash val="solid"/>
          </a:ln>
        </p:spPr>
      </p:sp>
      <p:sp>
        <p:nvSpPr>
          <p:cNvPr id="6" name="F · commit"/>
          <p:cNvSpPr txBox="1"/>
          <p:nvPr/>
        </p:nvSpPr>
        <p:spPr>
          <a:xfrm>
            <a:off x="777240" y="2057400"/>
            <a:ext cx="3108960" cy="10972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F · commit</a:t>
            </a:r>
            <a:endParaRPr lang="en-US" sz="1700" dirty="0"/>
          </a:p>
          <a:p>
            <a:pPr indent="0" marL="0">
              <a:buNone/>
            </a:pPr>
            <a:r>
              <a:rPr lang="en-US" sz="1400" dirty="0">
                <a:solidFill>
                  <a:schemeClr val="tx1"/>
                </a:solidFill>
              </a:rPr>
              <a:t>Fly the plan's band and order; no per-stop change.</a:t>
            </a:r>
            <a:endParaRPr lang="en-US" sz="1700" dirty="0"/>
          </a:p>
        </p:txBody>
      </p:sp>
      <p:sp>
        <p:nvSpPr>
          <p:cNvPr id="7" name="FX · fixed rule"/>
          <p:cNvSpPr/>
          <p:nvPr/>
        </p:nvSpPr>
        <p:spPr>
          <a:xfrm>
            <a:off x="548640" y="3355848"/>
            <a:ext cx="3566160" cy="1325880"/>
          </a:xfrm>
          <a:prstGeom prst="roundRect">
            <a:avLst>
              <a:gd name="adj" fmla="val 5517"/>
            </a:avLst>
          </a:prstGeom>
          <a:solidFill>
            <a:schemeClr val="bg2"/>
          </a:solidFill>
          <a:ln w="12700">
            <a:solidFill>
              <a:schemeClr val="bg2">
                <a:alpha val="0"/>
              </a:schemeClr>
            </a:solidFill>
            <a:prstDash val="solid"/>
          </a:ln>
        </p:spPr>
      </p:sp>
      <p:sp>
        <p:nvSpPr>
          <p:cNvPr id="8" name="FX · fixed rule"/>
          <p:cNvSpPr txBox="1"/>
          <p:nvPr/>
        </p:nvSpPr>
        <p:spPr>
          <a:xfrm>
            <a:off x="777240" y="3493008"/>
            <a:ext cx="3108960" cy="109728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FX · fixed rule</a:t>
            </a:r>
            <a:endParaRPr lang="en-US" sz="1700" dirty="0"/>
          </a:p>
          <a:p>
            <a:pPr indent="0" marL="0">
              <a:buNone/>
            </a:pPr>
            <a:r>
              <a:rPr lang="en-US" sz="1400" dirty="0">
                <a:solidFill>
                  <a:schemeClr val="tx1"/>
                </a:solidFill>
              </a:rPr>
              <a:t>Fastest band that still reaches the planned devices; nearest stop that keeps the plan feasible.</a:t>
            </a:r>
            <a:endParaRPr lang="en-US" sz="1700" dirty="0"/>
          </a:p>
        </p:txBody>
      </p:sp>
      <p:sp>
        <p:nvSpPr>
          <p:cNvPr id="9" name="FQ · learned"/>
          <p:cNvSpPr/>
          <p:nvPr/>
        </p:nvSpPr>
        <p:spPr>
          <a:xfrm>
            <a:off x="548640" y="4791456"/>
            <a:ext cx="3566160" cy="1325880"/>
          </a:xfrm>
          <a:prstGeom prst="roundRect">
            <a:avLst>
              <a:gd name="adj" fmla="val 5517"/>
            </a:avLst>
          </a:prstGeom>
          <a:solidFill>
            <a:schemeClr val="accent1">
              <a:alpha val="14000"/>
            </a:schemeClr>
          </a:solidFill>
          <a:ln w="15875">
            <a:solidFill>
              <a:schemeClr val="accent1"/>
            </a:solidFill>
            <a:prstDash val="solid"/>
          </a:ln>
        </p:spPr>
      </p:sp>
      <p:sp>
        <p:nvSpPr>
          <p:cNvPr id="10" name="FQ · learned"/>
          <p:cNvSpPr txBox="1"/>
          <p:nvPr/>
        </p:nvSpPr>
        <p:spPr>
          <a:xfrm>
            <a:off x="777240" y="4928616"/>
            <a:ext cx="3108960" cy="1097280"/>
          </a:xfrm>
          <a:prstGeom prst="rect">
            <a:avLst/>
          </a:prstGeom>
          <a:noFill/>
          <a:ln/>
        </p:spPr>
        <p:txBody>
          <a:bodyPr wrap="square" lIns="0" tIns="0" rIns="0" bIns="0" rtlCol="0" anchor="t"/>
          <a:lstStyle/>
          <a:p>
            <a:pPr indent="0" marL="0">
              <a:spcAft>
                <a:spcPts val="400"/>
              </a:spcAft>
              <a:buNone/>
            </a:pPr>
            <a:r>
              <a:rPr lang="en-US" sz="1700" b="1" dirty="0">
                <a:solidFill>
                  <a:schemeClr val="accent1"/>
                </a:solidFill>
              </a:rPr>
              <a:t>FQ · learned</a:t>
            </a:r>
            <a:endParaRPr lang="en-US" sz="1700" dirty="0"/>
          </a:p>
          <a:p>
            <a:pPr indent="0" marL="0">
              <a:buNone/>
            </a:pPr>
            <a:r>
              <a:rPr lang="en-US" sz="1400" dirty="0">
                <a:solidFill>
                  <a:schemeClr val="tx1"/>
                </a:solidFill>
              </a:rPr>
              <a:t>A masked double DQN scores each (band, next stop) pair and picks the best allowed one.</a:t>
            </a:r>
            <a:endParaRPr lang="en-US" sz="1700" dirty="0"/>
          </a:p>
        </p:txBody>
      </p:sp>
      <p:sp>
        <p:nvSpPr>
          <p:cNvPr id="11" name="state card"/>
          <p:cNvSpPr/>
          <p:nvPr/>
        </p:nvSpPr>
        <p:spPr>
          <a:xfrm>
            <a:off x="4434840" y="1920240"/>
            <a:ext cx="2514600" cy="2286000"/>
          </a:xfrm>
          <a:prstGeom prst="roundRect">
            <a:avLst>
              <a:gd name="adj" fmla="val 3200"/>
            </a:avLst>
          </a:prstGeom>
          <a:solidFill>
            <a:schemeClr val="bg2"/>
          </a:solidFill>
          <a:ln w="12700">
            <a:solidFill>
              <a:schemeClr val="bg2">
                <a:alpha val="0"/>
              </a:schemeClr>
            </a:solidFill>
            <a:prstDash val="solid"/>
          </a:ln>
        </p:spPr>
      </p:sp>
      <p:sp>
        <p:nvSpPr>
          <p:cNvPr id="12" name="State"/>
          <p:cNvSpPr txBox="1"/>
          <p:nvPr/>
        </p:nvSpPr>
        <p:spPr>
          <a:xfrm>
            <a:off x="4617720" y="2011680"/>
            <a:ext cx="2194560" cy="2148840"/>
          </a:xfrm>
          <a:prstGeom prst="rect">
            <a:avLst/>
          </a:prstGeom>
          <a:noFill/>
          <a:ln/>
        </p:spPr>
        <p:txBody>
          <a:bodyPr wrap="square" lIns="0" tIns="0" rIns="0" bIns="0" rtlCol="0" anchor="t"/>
          <a:lstStyle/>
          <a:p>
            <a:pPr indent="0" marL="0">
              <a:spcAft>
                <a:spcPts val="400"/>
              </a:spcAft>
              <a:buNone/>
            </a:pPr>
            <a:r>
              <a:rPr lang="en-US" sz="1600" b="1" dirty="0">
                <a:solidFill>
                  <a:schemeClr val="tx1"/>
                </a:solidFill>
              </a:rPr>
              <a:t>State</a:t>
            </a:r>
            <a:endParaRPr lang="en-US" sz="1600" dirty="0"/>
          </a:p>
          <a:p>
            <a:pPr marL="177800" indent="-177800">
              <a:spcAft>
                <a:spcPts val="200"/>
              </a:spcAft>
              <a:buSzPct val="100000"/>
              <a:buChar char="•"/>
            </a:pPr>
            <a:r>
              <a:rPr lang="en-US" sz="1300" dirty="0">
                <a:solidFill>
                  <a:schemeClr val="tx1"/>
                </a:solidFill>
              </a:rPr>
              <a:t>Signal per band, here and at the next stop</a:t>
            </a:r>
            <a:endParaRPr lang="en-US" sz="1600" dirty="0"/>
          </a:p>
          <a:p>
            <a:pPr marL="177800" indent="-177800">
              <a:spcAft>
                <a:spcPts val="200"/>
              </a:spcAft>
              <a:buSzPct val="100000"/>
              <a:buChar char="•"/>
            </a:pPr>
            <a:r>
              <a:rPr lang="en-US" sz="1300" dirty="0">
                <a:solidFill>
                  <a:schemeClr val="tx1"/>
                </a:solidFill>
              </a:rPr>
              <a:t>Dwell time</a:t>
            </a:r>
            <a:endParaRPr lang="en-US" sz="1600" dirty="0"/>
          </a:p>
          <a:p>
            <a:pPr marL="177800" indent="-177800">
              <a:spcAft>
                <a:spcPts val="200"/>
              </a:spcAft>
              <a:buSzPct val="100000"/>
              <a:buChar char="•"/>
            </a:pPr>
            <a:r>
              <a:rPr lang="en-US" sz="1300" dirty="0">
                <a:solidFill>
                  <a:schemeClr val="tx1"/>
                </a:solidFill>
              </a:rPr>
              <a:t>Deadline slack</a:t>
            </a:r>
            <a:endParaRPr lang="en-US" sz="1600" dirty="0"/>
          </a:p>
          <a:p>
            <a:pPr marL="177800" indent="-177800">
              <a:spcAft>
                <a:spcPts val="200"/>
              </a:spcAft>
              <a:buSzPct val="100000"/>
              <a:buChar char="•"/>
            </a:pPr>
            <a:r>
              <a:rPr lang="en-US" sz="1300" dirty="0">
                <a:solidFill>
                  <a:schemeClr val="tx1"/>
                </a:solidFill>
              </a:rPr>
              <a:t>Plan ages</a:t>
            </a:r>
            <a:endParaRPr lang="en-US" sz="1600" dirty="0"/>
          </a:p>
          <a:p>
            <a:pPr marL="177800" indent="-177800">
              <a:spcAft>
                <a:spcPts val="200"/>
              </a:spcAft>
              <a:buSzPct val="100000"/>
              <a:buChar char="•"/>
            </a:pPr>
            <a:r>
              <a:rPr lang="en-US" sz="1300" dirty="0">
                <a:solidFill>
                  <a:schemeClr val="tx1"/>
                </a:solidFill>
              </a:rPr>
              <a:t>Mission time and energy left</a:t>
            </a:r>
            <a:endParaRPr lang="en-US" sz="1600" dirty="0"/>
          </a:p>
          <a:p>
            <a:pPr marL="177800" indent="-177800">
              <a:spcAft>
                <a:spcPts val="200"/>
              </a:spcAft>
              <a:buSzPct val="100000"/>
              <a:buChar char="•"/>
            </a:pPr>
            <a:r>
              <a:rPr lang="en-US" sz="1300" dirty="0">
                <a:solidFill>
                  <a:schemeClr val="tx1"/>
                </a:solidFill>
              </a:rPr>
              <a:t>Interference phase</a:t>
            </a:r>
            <a:endParaRPr lang="en-US" sz="1600" dirty="0"/>
          </a:p>
        </p:txBody>
      </p:sp>
      <p:sp>
        <p:nvSpPr>
          <p:cNvPr id="13" name="arrow"/>
          <p:cNvSpPr/>
          <p:nvPr/>
        </p:nvSpPr>
        <p:spPr>
          <a:xfrm>
            <a:off x="6995160" y="3063240"/>
            <a:ext cx="274320" cy="0"/>
          </a:xfrm>
          <a:prstGeom prst="line">
            <a:avLst/>
          </a:prstGeom>
          <a:noFill/>
          <a:ln w="19050">
            <a:solidFill>
              <a:schemeClr val="accent3"/>
            </a:solidFill>
            <a:prstDash val="solid"/>
            <a:tailEnd type="triangle"/>
          </a:ln>
        </p:spPr>
      </p:sp>
      <p:sp>
        <p:nvSpPr>
          <p:cNvPr id="14" name="dqn box"/>
          <p:cNvSpPr/>
          <p:nvPr/>
        </p:nvSpPr>
        <p:spPr>
          <a:xfrm>
            <a:off x="7315200" y="2377440"/>
            <a:ext cx="1463040" cy="1371600"/>
          </a:xfrm>
          <a:prstGeom prst="roundRect">
            <a:avLst>
              <a:gd name="adj" fmla="val 6667"/>
            </a:avLst>
          </a:prstGeom>
          <a:solidFill>
            <a:schemeClr val="tx2"/>
          </a:solidFill>
          <a:ln w="12700">
            <a:solidFill>
              <a:schemeClr val="tx2">
                <a:alpha val="0"/>
              </a:schemeClr>
            </a:solidFill>
            <a:prstDash val="solid"/>
          </a:ln>
        </p:spPr>
      </p:sp>
      <p:pic>
        <p:nvPicPr>
          <p:cNvPr id="15" name="dqn glyph" descr="preencoded.png">    </p:cNvPr>
          <p:cNvPicPr>
            <a:picLocks noChangeAspect="1"/>
          </p:cNvPicPr>
          <p:nvPr/>
        </p:nvPicPr>
        <p:blipFill>
          <a:blip r:embed="rId1"/>
          <a:stretch>
            <a:fillRect/>
          </a:stretch>
        </p:blipFill>
        <p:spPr>
          <a:xfrm>
            <a:off x="7863840" y="2487168"/>
            <a:ext cx="365760" cy="365760"/>
          </a:xfrm>
          <a:prstGeom prst="rect">
            <a:avLst/>
          </a:prstGeom>
        </p:spPr>
      </p:pic>
      <p:sp>
        <p:nvSpPr>
          <p:cNvPr id="16" name="dqn label"/>
          <p:cNvSpPr txBox="1"/>
          <p:nvPr/>
        </p:nvSpPr>
        <p:spPr>
          <a:xfrm>
            <a:off x="7360920" y="2880360"/>
            <a:ext cx="1371600" cy="777240"/>
          </a:xfrm>
          <a:prstGeom prst="rect">
            <a:avLst/>
          </a:prstGeom>
          <a:noFill/>
          <a:ln/>
        </p:spPr>
        <p:txBody>
          <a:bodyPr wrap="square" lIns="0" tIns="0" rIns="0" bIns="0" rtlCol="0" anchor="ctr"/>
          <a:lstStyle/>
          <a:p>
            <a:pPr algn="ctr" indent="0" marL="0">
              <a:buNone/>
            </a:pPr>
            <a:r>
              <a:rPr lang="en-US" sz="1400" b="1" dirty="0">
                <a:solidFill>
                  <a:schemeClr val="bg1"/>
                </a:solidFill>
              </a:rPr>
              <a:t>Masked double DQN</a:t>
            </a:r>
            <a:endParaRPr lang="en-US" sz="1400" dirty="0"/>
          </a:p>
        </p:txBody>
      </p:sp>
      <p:sp>
        <p:nvSpPr>
          <p:cNvPr id="17" name="arrow"/>
          <p:cNvSpPr/>
          <p:nvPr/>
        </p:nvSpPr>
        <p:spPr>
          <a:xfrm>
            <a:off x="8823960" y="3063240"/>
            <a:ext cx="274320" cy="0"/>
          </a:xfrm>
          <a:prstGeom prst="line">
            <a:avLst/>
          </a:prstGeom>
          <a:noFill/>
          <a:ln w="19050">
            <a:solidFill>
              <a:schemeClr val="accent3"/>
            </a:solidFill>
            <a:prstDash val="solid"/>
            <a:tailEnd type="triangle"/>
          </a:ln>
        </p:spPr>
      </p:sp>
      <p:sp>
        <p:nvSpPr>
          <p:cNvPr id="18" name="grid col title"/>
          <p:cNvSpPr txBox="1"/>
          <p:nvPr/>
        </p:nvSpPr>
        <p:spPr>
          <a:xfrm>
            <a:off x="9875520" y="1901952"/>
            <a:ext cx="1682496" cy="201168"/>
          </a:xfrm>
          <a:prstGeom prst="rect">
            <a:avLst/>
          </a:prstGeom>
          <a:noFill/>
          <a:ln/>
        </p:spPr>
        <p:txBody>
          <a:bodyPr wrap="square" lIns="0" tIns="0" rIns="0" bIns="0" rtlCol="0" anchor="ctr"/>
          <a:lstStyle/>
          <a:p>
            <a:pPr algn="ctr" indent="0" marL="0">
              <a:buNone/>
            </a:pPr>
            <a:r>
              <a:rPr lang="en-US" sz="1100" i="1" dirty="0">
                <a:solidFill>
                  <a:schemeClr val="accent3"/>
                </a:solidFill>
              </a:rPr>
              <a:t>next stop</a:t>
            </a:r>
            <a:endParaRPr lang="en-US" sz="1100" dirty="0"/>
          </a:p>
        </p:txBody>
      </p:sp>
      <p:sp>
        <p:nvSpPr>
          <p:cNvPr id="19" name="grid col A"/>
          <p:cNvSpPr txBox="1"/>
          <p:nvPr/>
        </p:nvSpPr>
        <p:spPr>
          <a:xfrm>
            <a:off x="9875520" y="2084832"/>
            <a:ext cx="420624" cy="182880"/>
          </a:xfrm>
          <a:prstGeom prst="rect">
            <a:avLst/>
          </a:prstGeom>
          <a:noFill/>
          <a:ln/>
        </p:spPr>
        <p:txBody>
          <a:bodyPr wrap="square" lIns="0" tIns="0" rIns="0" bIns="0" rtlCol="0" anchor="ctr"/>
          <a:lstStyle/>
          <a:p>
            <a:pPr algn="ctr" indent="0" marL="0">
              <a:buNone/>
            </a:pPr>
            <a:r>
              <a:rPr lang="en-US" sz="1200" b="1" dirty="0">
                <a:solidFill>
                  <a:schemeClr val="tx1"/>
                </a:solidFill>
              </a:rPr>
              <a:t>A</a:t>
            </a:r>
            <a:endParaRPr lang="en-US" sz="1200" dirty="0"/>
          </a:p>
        </p:txBody>
      </p:sp>
      <p:sp>
        <p:nvSpPr>
          <p:cNvPr id="20" name="grid col B"/>
          <p:cNvSpPr txBox="1"/>
          <p:nvPr/>
        </p:nvSpPr>
        <p:spPr>
          <a:xfrm>
            <a:off x="10296144" y="2084832"/>
            <a:ext cx="420624" cy="182880"/>
          </a:xfrm>
          <a:prstGeom prst="rect">
            <a:avLst/>
          </a:prstGeom>
          <a:noFill/>
          <a:ln/>
        </p:spPr>
        <p:txBody>
          <a:bodyPr wrap="square" lIns="0" tIns="0" rIns="0" bIns="0" rtlCol="0" anchor="ctr"/>
          <a:lstStyle/>
          <a:p>
            <a:pPr algn="ctr" indent="0" marL="0">
              <a:buNone/>
            </a:pPr>
            <a:r>
              <a:rPr lang="en-US" sz="1200" b="1" dirty="0">
                <a:solidFill>
                  <a:schemeClr val="tx1"/>
                </a:solidFill>
              </a:rPr>
              <a:t>B</a:t>
            </a:r>
            <a:endParaRPr lang="en-US" sz="1200" dirty="0"/>
          </a:p>
        </p:txBody>
      </p:sp>
      <p:sp>
        <p:nvSpPr>
          <p:cNvPr id="21" name="grid col C"/>
          <p:cNvSpPr txBox="1"/>
          <p:nvPr/>
        </p:nvSpPr>
        <p:spPr>
          <a:xfrm>
            <a:off x="10716768" y="2084832"/>
            <a:ext cx="420624" cy="182880"/>
          </a:xfrm>
          <a:prstGeom prst="rect">
            <a:avLst/>
          </a:prstGeom>
          <a:noFill/>
          <a:ln/>
        </p:spPr>
        <p:txBody>
          <a:bodyPr wrap="square" lIns="0" tIns="0" rIns="0" bIns="0" rtlCol="0" anchor="ctr"/>
          <a:lstStyle/>
          <a:p>
            <a:pPr algn="ctr" indent="0" marL="0">
              <a:buNone/>
            </a:pPr>
            <a:r>
              <a:rPr lang="en-US" sz="1200" b="1" dirty="0">
                <a:solidFill>
                  <a:schemeClr val="tx1"/>
                </a:solidFill>
              </a:rPr>
              <a:t>C</a:t>
            </a:r>
            <a:endParaRPr lang="en-US" sz="1200" dirty="0"/>
          </a:p>
        </p:txBody>
      </p:sp>
      <p:sp>
        <p:nvSpPr>
          <p:cNvPr id="22" name="grid col D"/>
          <p:cNvSpPr txBox="1"/>
          <p:nvPr/>
        </p:nvSpPr>
        <p:spPr>
          <a:xfrm>
            <a:off x="11137392" y="2084832"/>
            <a:ext cx="420624" cy="182880"/>
          </a:xfrm>
          <a:prstGeom prst="rect">
            <a:avLst/>
          </a:prstGeom>
          <a:noFill/>
          <a:ln/>
        </p:spPr>
        <p:txBody>
          <a:bodyPr wrap="square" lIns="0" tIns="0" rIns="0" bIns="0" rtlCol="0" anchor="ctr"/>
          <a:lstStyle/>
          <a:p>
            <a:pPr algn="ctr" indent="0" marL="0">
              <a:buNone/>
            </a:pPr>
            <a:r>
              <a:rPr lang="en-US" sz="1200" b="1" dirty="0">
                <a:solidFill>
                  <a:schemeClr val="tx1"/>
                </a:solidFill>
              </a:rPr>
              <a:t>D</a:t>
            </a:r>
            <a:endParaRPr lang="en-US" sz="1200" dirty="0"/>
          </a:p>
        </p:txBody>
      </p:sp>
      <p:sp>
        <p:nvSpPr>
          <p:cNvPr id="23" name="grid row narrow"/>
          <p:cNvSpPr txBox="1"/>
          <p:nvPr/>
        </p:nvSpPr>
        <p:spPr>
          <a:xfrm>
            <a:off x="9098280" y="2286000"/>
            <a:ext cx="731520" cy="420624"/>
          </a:xfrm>
          <a:prstGeom prst="rect">
            <a:avLst/>
          </a:prstGeom>
          <a:noFill/>
          <a:ln/>
        </p:spPr>
        <p:txBody>
          <a:bodyPr wrap="square" lIns="0" tIns="0" rIns="0" bIns="0" rtlCol="0" anchor="ctr"/>
          <a:lstStyle/>
          <a:p>
            <a:pPr algn="r" indent="0" marL="0">
              <a:buNone/>
            </a:pPr>
            <a:r>
              <a:rPr lang="en-US" sz="1200" b="1" dirty="0">
                <a:solidFill>
                  <a:schemeClr val="tx1"/>
                </a:solidFill>
              </a:rPr>
              <a:t>narrow</a:t>
            </a:r>
            <a:endParaRPr lang="en-US" sz="1200" dirty="0"/>
          </a:p>
        </p:txBody>
      </p:sp>
      <p:sp>
        <p:nvSpPr>
          <p:cNvPr id="24" name="cell narrow A"/>
          <p:cNvSpPr/>
          <p:nvPr/>
        </p:nvSpPr>
        <p:spPr>
          <a:xfrm>
            <a:off x="9875520" y="2286000"/>
            <a:ext cx="420624" cy="420624"/>
          </a:xfrm>
          <a:prstGeom prst="rect">
            <a:avLst/>
          </a:prstGeom>
          <a:solidFill>
            <a:schemeClr val="accent2">
              <a:alpha val="30000"/>
            </a:schemeClr>
          </a:solidFill>
          <a:ln w="19050">
            <a:solidFill>
              <a:schemeClr val="bg1"/>
            </a:solidFill>
            <a:prstDash val="solid"/>
          </a:ln>
        </p:spPr>
      </p:sp>
      <p:sp>
        <p:nvSpPr>
          <p:cNvPr id="25" name="cell narrow B"/>
          <p:cNvSpPr/>
          <p:nvPr/>
        </p:nvSpPr>
        <p:spPr>
          <a:xfrm>
            <a:off x="10296144" y="2286000"/>
            <a:ext cx="420624" cy="420624"/>
          </a:xfrm>
          <a:prstGeom prst="rect">
            <a:avLst/>
          </a:prstGeom>
          <a:solidFill>
            <a:schemeClr val="accent2">
              <a:alpha val="30000"/>
            </a:schemeClr>
          </a:solidFill>
          <a:ln w="19050">
            <a:solidFill>
              <a:schemeClr val="bg1"/>
            </a:solidFill>
            <a:prstDash val="solid"/>
          </a:ln>
        </p:spPr>
      </p:sp>
      <p:sp>
        <p:nvSpPr>
          <p:cNvPr id="26" name="cell narrow C"/>
          <p:cNvSpPr/>
          <p:nvPr/>
        </p:nvSpPr>
        <p:spPr>
          <a:xfrm>
            <a:off x="10716768" y="2286000"/>
            <a:ext cx="420624" cy="420624"/>
          </a:xfrm>
          <a:prstGeom prst="rect">
            <a:avLst/>
          </a:prstGeom>
          <a:solidFill>
            <a:schemeClr val="bg2"/>
          </a:solidFill>
          <a:ln w="19050">
            <a:solidFill>
              <a:schemeClr val="bg1"/>
            </a:solidFill>
            <a:prstDash val="solid"/>
          </a:ln>
        </p:spPr>
      </p:sp>
      <p:sp>
        <p:nvSpPr>
          <p:cNvPr id="27" name="mark narrow C"/>
          <p:cNvSpPr txBox="1"/>
          <p:nvPr/>
        </p:nvSpPr>
        <p:spPr>
          <a:xfrm>
            <a:off x="10716768" y="2286000"/>
            <a:ext cx="420624" cy="420624"/>
          </a:xfrm>
          <a:prstGeom prst="rect">
            <a:avLst/>
          </a:prstGeom>
          <a:noFill/>
          <a:ln/>
        </p:spPr>
        <p:txBody>
          <a:bodyPr wrap="square" lIns="0" tIns="0" rIns="0" bIns="0" rtlCol="0" anchor="ctr"/>
          <a:lstStyle/>
          <a:p>
            <a:pPr algn="ctr" indent="0" marL="0">
              <a:buNone/>
            </a:pPr>
            <a:r>
              <a:rPr lang="en-US" sz="1200" b="1" dirty="0">
                <a:solidFill>
                  <a:schemeClr val="accent3"/>
                </a:solidFill>
              </a:rPr>
              <a:t>✕</a:t>
            </a:r>
            <a:endParaRPr lang="en-US" sz="1200" dirty="0"/>
          </a:p>
        </p:txBody>
      </p:sp>
      <p:sp>
        <p:nvSpPr>
          <p:cNvPr id="28" name="cell narrow D"/>
          <p:cNvSpPr/>
          <p:nvPr/>
        </p:nvSpPr>
        <p:spPr>
          <a:xfrm>
            <a:off x="11137392" y="2286000"/>
            <a:ext cx="420624" cy="420624"/>
          </a:xfrm>
          <a:prstGeom prst="rect">
            <a:avLst/>
          </a:prstGeom>
          <a:solidFill>
            <a:schemeClr val="accent2">
              <a:alpha val="30000"/>
            </a:schemeClr>
          </a:solidFill>
          <a:ln w="19050">
            <a:solidFill>
              <a:schemeClr val="bg1"/>
            </a:solidFill>
            <a:prstDash val="solid"/>
          </a:ln>
        </p:spPr>
      </p:sp>
      <p:sp>
        <p:nvSpPr>
          <p:cNvPr id="29" name="grid row medium"/>
          <p:cNvSpPr txBox="1"/>
          <p:nvPr/>
        </p:nvSpPr>
        <p:spPr>
          <a:xfrm>
            <a:off x="9098280" y="2706624"/>
            <a:ext cx="731520" cy="420624"/>
          </a:xfrm>
          <a:prstGeom prst="rect">
            <a:avLst/>
          </a:prstGeom>
          <a:noFill/>
          <a:ln/>
        </p:spPr>
        <p:txBody>
          <a:bodyPr wrap="square" lIns="0" tIns="0" rIns="0" bIns="0" rtlCol="0" anchor="ctr"/>
          <a:lstStyle/>
          <a:p>
            <a:pPr algn="r" indent="0" marL="0">
              <a:buNone/>
            </a:pPr>
            <a:r>
              <a:rPr lang="en-US" sz="1200" b="1" dirty="0">
                <a:solidFill>
                  <a:schemeClr val="tx1"/>
                </a:solidFill>
              </a:rPr>
              <a:t>medium</a:t>
            </a:r>
            <a:endParaRPr lang="en-US" sz="1200" dirty="0"/>
          </a:p>
        </p:txBody>
      </p:sp>
      <p:sp>
        <p:nvSpPr>
          <p:cNvPr id="30" name="cell medium A"/>
          <p:cNvSpPr/>
          <p:nvPr/>
        </p:nvSpPr>
        <p:spPr>
          <a:xfrm>
            <a:off x="9875520" y="2706624"/>
            <a:ext cx="420624" cy="420624"/>
          </a:xfrm>
          <a:prstGeom prst="rect">
            <a:avLst/>
          </a:prstGeom>
          <a:solidFill>
            <a:schemeClr val="accent2">
              <a:alpha val="30000"/>
            </a:schemeClr>
          </a:solidFill>
          <a:ln w="19050">
            <a:solidFill>
              <a:schemeClr val="bg1"/>
            </a:solidFill>
            <a:prstDash val="solid"/>
          </a:ln>
        </p:spPr>
      </p:sp>
      <p:sp>
        <p:nvSpPr>
          <p:cNvPr id="31" name="cell medium B"/>
          <p:cNvSpPr/>
          <p:nvPr/>
        </p:nvSpPr>
        <p:spPr>
          <a:xfrm>
            <a:off x="10296144" y="2706624"/>
            <a:ext cx="420624" cy="420624"/>
          </a:xfrm>
          <a:prstGeom prst="rect">
            <a:avLst/>
          </a:prstGeom>
          <a:solidFill>
            <a:schemeClr val="accent1"/>
          </a:solidFill>
          <a:ln w="19050">
            <a:solidFill>
              <a:schemeClr val="bg1"/>
            </a:solidFill>
            <a:prstDash val="solid"/>
          </a:ln>
        </p:spPr>
      </p:sp>
      <p:sp>
        <p:nvSpPr>
          <p:cNvPr id="32" name="mark medium B"/>
          <p:cNvSpPr txBox="1"/>
          <p:nvPr/>
        </p:nvSpPr>
        <p:spPr>
          <a:xfrm>
            <a:off x="10296144" y="2706624"/>
            <a:ext cx="420624" cy="420624"/>
          </a:xfrm>
          <a:prstGeom prst="rect">
            <a:avLst/>
          </a:prstGeom>
          <a:noFill/>
          <a:ln/>
        </p:spPr>
        <p:txBody>
          <a:bodyPr wrap="square" lIns="0" tIns="0" rIns="0" bIns="0" rtlCol="0" anchor="ctr"/>
          <a:lstStyle/>
          <a:p>
            <a:pPr algn="ctr" indent="0" marL="0">
              <a:buNone/>
            </a:pPr>
            <a:r>
              <a:rPr lang="en-US" sz="1100" b="1" dirty="0">
                <a:solidFill>
                  <a:schemeClr val="bg1"/>
                </a:solidFill>
              </a:rPr>
              <a:t>best</a:t>
            </a:r>
            <a:endParaRPr lang="en-US" sz="1100" dirty="0"/>
          </a:p>
        </p:txBody>
      </p:sp>
      <p:sp>
        <p:nvSpPr>
          <p:cNvPr id="33" name="cell medium C"/>
          <p:cNvSpPr/>
          <p:nvPr/>
        </p:nvSpPr>
        <p:spPr>
          <a:xfrm>
            <a:off x="10716768" y="2706624"/>
            <a:ext cx="420624" cy="420624"/>
          </a:xfrm>
          <a:prstGeom prst="rect">
            <a:avLst/>
          </a:prstGeom>
          <a:solidFill>
            <a:schemeClr val="bg2"/>
          </a:solidFill>
          <a:ln w="19050">
            <a:solidFill>
              <a:schemeClr val="bg1"/>
            </a:solidFill>
            <a:prstDash val="solid"/>
          </a:ln>
        </p:spPr>
      </p:sp>
      <p:sp>
        <p:nvSpPr>
          <p:cNvPr id="34" name="mark medium C"/>
          <p:cNvSpPr txBox="1"/>
          <p:nvPr/>
        </p:nvSpPr>
        <p:spPr>
          <a:xfrm>
            <a:off x="10716768" y="2706624"/>
            <a:ext cx="420624" cy="420624"/>
          </a:xfrm>
          <a:prstGeom prst="rect">
            <a:avLst/>
          </a:prstGeom>
          <a:noFill/>
          <a:ln/>
        </p:spPr>
        <p:txBody>
          <a:bodyPr wrap="square" lIns="0" tIns="0" rIns="0" bIns="0" rtlCol="0" anchor="ctr"/>
          <a:lstStyle/>
          <a:p>
            <a:pPr algn="ctr" indent="0" marL="0">
              <a:buNone/>
            </a:pPr>
            <a:r>
              <a:rPr lang="en-US" sz="1200" b="1" dirty="0">
                <a:solidFill>
                  <a:schemeClr val="accent3"/>
                </a:solidFill>
              </a:rPr>
              <a:t>✕</a:t>
            </a:r>
            <a:endParaRPr lang="en-US" sz="1200" dirty="0"/>
          </a:p>
        </p:txBody>
      </p:sp>
      <p:sp>
        <p:nvSpPr>
          <p:cNvPr id="35" name="cell medium D"/>
          <p:cNvSpPr/>
          <p:nvPr/>
        </p:nvSpPr>
        <p:spPr>
          <a:xfrm>
            <a:off x="11137392" y="2706624"/>
            <a:ext cx="420624" cy="420624"/>
          </a:xfrm>
          <a:prstGeom prst="rect">
            <a:avLst/>
          </a:prstGeom>
          <a:solidFill>
            <a:schemeClr val="accent2">
              <a:alpha val="30000"/>
            </a:schemeClr>
          </a:solidFill>
          <a:ln w="19050">
            <a:solidFill>
              <a:schemeClr val="bg1"/>
            </a:solidFill>
            <a:prstDash val="solid"/>
          </a:ln>
        </p:spPr>
      </p:sp>
      <p:sp>
        <p:nvSpPr>
          <p:cNvPr id="36" name="grid row wide"/>
          <p:cNvSpPr txBox="1"/>
          <p:nvPr/>
        </p:nvSpPr>
        <p:spPr>
          <a:xfrm>
            <a:off x="9098280" y="3127248"/>
            <a:ext cx="731520" cy="420624"/>
          </a:xfrm>
          <a:prstGeom prst="rect">
            <a:avLst/>
          </a:prstGeom>
          <a:noFill/>
          <a:ln/>
        </p:spPr>
        <p:txBody>
          <a:bodyPr wrap="square" lIns="0" tIns="0" rIns="0" bIns="0" rtlCol="0" anchor="ctr"/>
          <a:lstStyle/>
          <a:p>
            <a:pPr algn="r" indent="0" marL="0">
              <a:buNone/>
            </a:pPr>
            <a:r>
              <a:rPr lang="en-US" sz="1200" b="1" dirty="0">
                <a:solidFill>
                  <a:schemeClr val="tx1"/>
                </a:solidFill>
              </a:rPr>
              <a:t>wide</a:t>
            </a:r>
            <a:endParaRPr lang="en-US" sz="1200" dirty="0"/>
          </a:p>
        </p:txBody>
      </p:sp>
      <p:sp>
        <p:nvSpPr>
          <p:cNvPr id="37" name="cell wide A"/>
          <p:cNvSpPr/>
          <p:nvPr/>
        </p:nvSpPr>
        <p:spPr>
          <a:xfrm>
            <a:off x="9875520" y="3127248"/>
            <a:ext cx="420624" cy="420624"/>
          </a:xfrm>
          <a:prstGeom prst="rect">
            <a:avLst/>
          </a:prstGeom>
          <a:solidFill>
            <a:schemeClr val="bg2"/>
          </a:solidFill>
          <a:ln w="19050">
            <a:solidFill>
              <a:schemeClr val="bg1"/>
            </a:solidFill>
            <a:prstDash val="solid"/>
          </a:ln>
        </p:spPr>
      </p:sp>
      <p:sp>
        <p:nvSpPr>
          <p:cNvPr id="38" name="mark wide A"/>
          <p:cNvSpPr txBox="1"/>
          <p:nvPr/>
        </p:nvSpPr>
        <p:spPr>
          <a:xfrm>
            <a:off x="9875520" y="3127248"/>
            <a:ext cx="420624" cy="420624"/>
          </a:xfrm>
          <a:prstGeom prst="rect">
            <a:avLst/>
          </a:prstGeom>
          <a:noFill/>
          <a:ln/>
        </p:spPr>
        <p:txBody>
          <a:bodyPr wrap="square" lIns="0" tIns="0" rIns="0" bIns="0" rtlCol="0" anchor="ctr"/>
          <a:lstStyle/>
          <a:p>
            <a:pPr algn="ctr" indent="0" marL="0">
              <a:buNone/>
            </a:pPr>
            <a:r>
              <a:rPr lang="en-US" sz="1200" b="1" dirty="0">
                <a:solidFill>
                  <a:schemeClr val="accent3"/>
                </a:solidFill>
              </a:rPr>
              <a:t>✕</a:t>
            </a:r>
            <a:endParaRPr lang="en-US" sz="1200" dirty="0"/>
          </a:p>
        </p:txBody>
      </p:sp>
      <p:sp>
        <p:nvSpPr>
          <p:cNvPr id="39" name="cell wide B"/>
          <p:cNvSpPr/>
          <p:nvPr/>
        </p:nvSpPr>
        <p:spPr>
          <a:xfrm>
            <a:off x="10296144" y="3127248"/>
            <a:ext cx="420624" cy="420624"/>
          </a:xfrm>
          <a:prstGeom prst="rect">
            <a:avLst/>
          </a:prstGeom>
          <a:solidFill>
            <a:schemeClr val="bg2"/>
          </a:solidFill>
          <a:ln w="19050">
            <a:solidFill>
              <a:schemeClr val="bg1"/>
            </a:solidFill>
            <a:prstDash val="solid"/>
          </a:ln>
        </p:spPr>
      </p:sp>
      <p:sp>
        <p:nvSpPr>
          <p:cNvPr id="40" name="mark wide B"/>
          <p:cNvSpPr txBox="1"/>
          <p:nvPr/>
        </p:nvSpPr>
        <p:spPr>
          <a:xfrm>
            <a:off x="10296144" y="3127248"/>
            <a:ext cx="420624" cy="420624"/>
          </a:xfrm>
          <a:prstGeom prst="rect">
            <a:avLst/>
          </a:prstGeom>
          <a:noFill/>
          <a:ln/>
        </p:spPr>
        <p:txBody>
          <a:bodyPr wrap="square" lIns="0" tIns="0" rIns="0" bIns="0" rtlCol="0" anchor="ctr"/>
          <a:lstStyle/>
          <a:p>
            <a:pPr algn="ctr" indent="0" marL="0">
              <a:buNone/>
            </a:pPr>
            <a:r>
              <a:rPr lang="en-US" sz="1200" b="1" dirty="0">
                <a:solidFill>
                  <a:schemeClr val="accent3"/>
                </a:solidFill>
              </a:rPr>
              <a:t>✕</a:t>
            </a:r>
            <a:endParaRPr lang="en-US" sz="1200" dirty="0"/>
          </a:p>
        </p:txBody>
      </p:sp>
      <p:sp>
        <p:nvSpPr>
          <p:cNvPr id="41" name="cell wide C"/>
          <p:cNvSpPr/>
          <p:nvPr/>
        </p:nvSpPr>
        <p:spPr>
          <a:xfrm>
            <a:off x="10716768" y="3127248"/>
            <a:ext cx="420624" cy="420624"/>
          </a:xfrm>
          <a:prstGeom prst="rect">
            <a:avLst/>
          </a:prstGeom>
          <a:solidFill>
            <a:schemeClr val="bg2"/>
          </a:solidFill>
          <a:ln w="19050">
            <a:solidFill>
              <a:schemeClr val="bg1"/>
            </a:solidFill>
            <a:prstDash val="solid"/>
          </a:ln>
        </p:spPr>
      </p:sp>
      <p:sp>
        <p:nvSpPr>
          <p:cNvPr id="42" name="mark wide C"/>
          <p:cNvSpPr txBox="1"/>
          <p:nvPr/>
        </p:nvSpPr>
        <p:spPr>
          <a:xfrm>
            <a:off x="10716768" y="3127248"/>
            <a:ext cx="420624" cy="420624"/>
          </a:xfrm>
          <a:prstGeom prst="rect">
            <a:avLst/>
          </a:prstGeom>
          <a:noFill/>
          <a:ln/>
        </p:spPr>
        <p:txBody>
          <a:bodyPr wrap="square" lIns="0" tIns="0" rIns="0" bIns="0" rtlCol="0" anchor="ctr"/>
          <a:lstStyle/>
          <a:p>
            <a:pPr algn="ctr" indent="0" marL="0">
              <a:buNone/>
            </a:pPr>
            <a:r>
              <a:rPr lang="en-US" sz="1200" b="1" dirty="0">
                <a:solidFill>
                  <a:schemeClr val="accent3"/>
                </a:solidFill>
              </a:rPr>
              <a:t>✕</a:t>
            </a:r>
            <a:endParaRPr lang="en-US" sz="1200" dirty="0"/>
          </a:p>
        </p:txBody>
      </p:sp>
      <p:sp>
        <p:nvSpPr>
          <p:cNvPr id="43" name="cell wide D"/>
          <p:cNvSpPr/>
          <p:nvPr/>
        </p:nvSpPr>
        <p:spPr>
          <a:xfrm>
            <a:off x="11137392" y="3127248"/>
            <a:ext cx="420624" cy="420624"/>
          </a:xfrm>
          <a:prstGeom prst="rect">
            <a:avLst/>
          </a:prstGeom>
          <a:solidFill>
            <a:schemeClr val="accent2">
              <a:alpha val="30000"/>
            </a:schemeClr>
          </a:solidFill>
          <a:ln w="19050">
            <a:solidFill>
              <a:schemeClr val="bg1"/>
            </a:solidFill>
            <a:prstDash val="solid"/>
          </a:ln>
        </p:spPr>
      </p:sp>
      <p:sp>
        <p:nvSpPr>
          <p:cNvPr id="44" name="grid caption"/>
          <p:cNvSpPr txBox="1"/>
          <p:nvPr/>
        </p:nvSpPr>
        <p:spPr>
          <a:xfrm>
            <a:off x="9098280" y="3621024"/>
            <a:ext cx="2459736" cy="365760"/>
          </a:xfrm>
          <a:prstGeom prst="rect">
            <a:avLst/>
          </a:prstGeom>
          <a:noFill/>
          <a:ln/>
        </p:spPr>
        <p:txBody>
          <a:bodyPr wrap="square" lIns="0" tIns="0" rIns="0" bIns="0" rtlCol="0" anchor="ctr"/>
          <a:lstStyle/>
          <a:p>
            <a:pPr algn="ctr" indent="0" marL="0">
              <a:buNone/>
            </a:pPr>
            <a:r>
              <a:rPr lang="en-US" sz="1100" i="1" dirty="0">
                <a:solidFill>
                  <a:schemeClr val="accent3"/>
                </a:solidFill>
              </a:rPr>
              <a:t>Illustration: gray pairs are masked out</a:t>
            </a:r>
            <a:endParaRPr lang="en-US" sz="1100" dirty="0"/>
          </a:p>
        </p:txBody>
      </p:sp>
      <p:sp>
        <p:nvSpPr>
          <p:cNvPr id="45" name="Mask card"/>
          <p:cNvSpPr/>
          <p:nvPr/>
        </p:nvSpPr>
        <p:spPr>
          <a:xfrm>
            <a:off x="4434840" y="4389120"/>
            <a:ext cx="2280818" cy="1783080"/>
          </a:xfrm>
          <a:prstGeom prst="roundRect">
            <a:avLst>
              <a:gd name="adj" fmla="val 4103"/>
            </a:avLst>
          </a:prstGeom>
          <a:solidFill>
            <a:schemeClr val="bg2"/>
          </a:solidFill>
          <a:ln w="12700">
            <a:solidFill>
              <a:schemeClr val="bg2">
                <a:alpha val="0"/>
              </a:schemeClr>
            </a:solidFill>
            <a:prstDash val="solid"/>
          </a:ln>
        </p:spPr>
      </p:sp>
      <p:sp>
        <p:nvSpPr>
          <p:cNvPr id="46" name="Mask"/>
          <p:cNvSpPr txBox="1"/>
          <p:nvPr/>
        </p:nvSpPr>
        <p:spPr>
          <a:xfrm>
            <a:off x="4599432" y="4480560"/>
            <a:ext cx="1951634" cy="164592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Mask</a:t>
            </a:r>
            <a:endParaRPr lang="en-US" sz="1500" dirty="0"/>
          </a:p>
          <a:p>
            <a:pPr indent="0" marL="0">
              <a:buNone/>
            </a:pPr>
            <a:r>
              <a:rPr lang="en-US" sz="1300" dirty="0">
                <a:solidFill>
                  <a:schemeClr val="tx1"/>
                </a:solidFill>
              </a:rPr>
              <a:t>Allowed only if the band still reaches the planned devices and the rest of the flight passes the test; if none is, use FX.</a:t>
            </a:r>
            <a:endParaRPr lang="en-US" sz="1500" dirty="0"/>
          </a:p>
        </p:txBody>
      </p:sp>
      <p:sp>
        <p:nvSpPr>
          <p:cNvPr id="47" name="Reward card"/>
          <p:cNvSpPr/>
          <p:nvPr/>
        </p:nvSpPr>
        <p:spPr>
          <a:xfrm>
            <a:off x="6898538" y="4389120"/>
            <a:ext cx="2280818" cy="1783080"/>
          </a:xfrm>
          <a:prstGeom prst="roundRect">
            <a:avLst>
              <a:gd name="adj" fmla="val 4103"/>
            </a:avLst>
          </a:prstGeom>
          <a:solidFill>
            <a:schemeClr val="bg2"/>
          </a:solidFill>
          <a:ln w="12700">
            <a:solidFill>
              <a:schemeClr val="bg2">
                <a:alpha val="0"/>
              </a:schemeClr>
            </a:solidFill>
            <a:prstDash val="solid"/>
          </a:ln>
        </p:spPr>
      </p:sp>
      <p:sp>
        <p:nvSpPr>
          <p:cNvPr id="48" name="Reward"/>
          <p:cNvSpPr txBox="1"/>
          <p:nvPr/>
        </p:nvSpPr>
        <p:spPr>
          <a:xfrm>
            <a:off x="7063130" y="4480560"/>
            <a:ext cx="1951634" cy="164592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Reward</a:t>
            </a:r>
            <a:endParaRPr lang="en-US" sz="1500" dirty="0"/>
          </a:p>
          <a:p>
            <a:pPr indent="0" marL="0">
              <a:buNone/>
            </a:pPr>
            <a:r>
              <a:rPr lang="en-US" sz="1300" dirty="0">
                <a:solidFill>
                  <a:schemeClr val="tx1"/>
                </a:solidFill>
              </a:rPr>
              <a:t>Merge weight collected minus a time cost; promised devices left unserved are charged at the end.</a:t>
            </a:r>
            <a:endParaRPr lang="en-US" sz="1500" dirty="0"/>
          </a:p>
        </p:txBody>
      </p:sp>
      <p:sp>
        <p:nvSpPr>
          <p:cNvPr id="49" name="Training card"/>
          <p:cNvSpPr/>
          <p:nvPr/>
        </p:nvSpPr>
        <p:spPr>
          <a:xfrm>
            <a:off x="9362237" y="4389120"/>
            <a:ext cx="2280818" cy="1783080"/>
          </a:xfrm>
          <a:prstGeom prst="roundRect">
            <a:avLst>
              <a:gd name="adj" fmla="val 4103"/>
            </a:avLst>
          </a:prstGeom>
          <a:solidFill>
            <a:schemeClr val="bg2"/>
          </a:solidFill>
          <a:ln w="12700">
            <a:solidFill>
              <a:schemeClr val="bg2">
                <a:alpha val="0"/>
              </a:schemeClr>
            </a:solidFill>
            <a:prstDash val="solid"/>
          </a:ln>
        </p:spPr>
      </p:sp>
      <p:sp>
        <p:nvSpPr>
          <p:cNvPr id="50" name="Training"/>
          <p:cNvSpPr txBox="1"/>
          <p:nvPr/>
        </p:nvSpPr>
        <p:spPr>
          <a:xfrm>
            <a:off x="9526829" y="4480560"/>
            <a:ext cx="1951634" cy="164592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Training</a:t>
            </a:r>
            <a:endParaRPr lang="en-US" sz="1500" dirty="0"/>
          </a:p>
          <a:p>
            <a:pPr indent="0" marL="0">
              <a:buNone/>
            </a:pPr>
            <a:r>
              <a:rPr lang="en-US" sz="1300" dirty="0">
                <a:solidFill>
                  <a:schemeClr val="tx1"/>
                </a:solidFill>
              </a:rPr>
              <a:t>Trained in FerrySim, the simulator built from the same code (discount γ = 0.75).</a:t>
            </a:r>
            <a:endParaRPr lang="en-US"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EXPERIMENTAL SETUP</a:t>
            </a:r>
            <a:endParaRPr lang="en-US" sz="1200" dirty="0"/>
          </a:p>
        </p:txBody>
      </p:sp>
      <p:sp>
        <p:nvSpPr>
          <p:cNvPr id="3" name="Text 1"/>
          <p:cNvSpPr/>
          <p:nvPr>
            <p:ph idx="102" type="title" hasCustomPrompt="1"/>
          </p:nvPr>
        </p:nvSpPr>
        <p:spPr>
          <a:xfrm>
            <a:off x="548640" y="585216"/>
            <a:ext cx="11094415" cy="658368"/>
          </a:xfrm>
          <a:prstGeom prst="rect">
            <a:avLst/>
          </a:prstGeom>
          <a:noFill/>
          <a:ln/>
        </p:spPr>
        <p:txBody>
          <a:bodyPr wrap="square" lIns="0" tIns="0" rIns="0" bIns="0" rtlCol="0" anchor="t"/>
          <a:lstStyle/>
          <a:p>
            <a:pPr algn="l" indent="0" marL="0">
              <a:buNone/>
            </a:pPr>
            <a:r>
              <a:rPr lang="en-US" sz="3600" b="1" dirty="0">
                <a:solidFill>
                  <a:schemeClr val="tx1"/>
                </a:solidFill>
              </a:rPr>
              <a:t>How we tested it</a:t>
            </a:r>
            <a:endParaRPr lang="en-US" sz="3600" dirty="0"/>
          </a:p>
        </p:txBody>
      </p:sp>
      <p:sp>
        <p:nvSpPr>
          <p:cNvPr id="4" name="Text 1"/>
          <p:cNvSpPr/>
          <p:nvPr>
            <p:ph idx="103" type="body" hasCustomPrompt="1"/>
          </p:nvPr>
        </p:nvSpPr>
        <p:spPr>
          <a:xfrm>
            <a:off x="548640" y="1298448"/>
            <a:ext cx="11094415" cy="411480"/>
          </a:xfrm>
          <a:prstGeom prst="rect">
            <a:avLst/>
          </a:prstGeom>
          <a:noFill/>
          <a:ln/>
        </p:spPr>
        <p:txBody>
          <a:bodyPr wrap="square" lIns="0" tIns="0" rIns="0" bIns="0" rtlCol="0" anchor="t"/>
          <a:lstStyle/>
          <a:p>
            <a:pPr indent="0" marL="0">
              <a:buNone/>
            </a:pPr>
            <a:r>
              <a:rPr lang="en-US" sz="1700" dirty="0">
                <a:solidFill>
                  <a:schemeClr val="accent3"/>
                </a:solidFill>
              </a:rPr>
              <a:t>A multi-process prototype that trains a real model; flight, radio and energy are simulated.</a:t>
            </a:r>
            <a:endParaRPr lang="en-US" sz="1700" dirty="0"/>
          </a:p>
        </p:txBody>
      </p:sp>
      <p:sp>
        <p:nvSpPr>
          <p:cNvPr id="5" name="Prototype circle"/>
          <p:cNvSpPr/>
          <p:nvPr/>
        </p:nvSpPr>
        <p:spPr>
          <a:xfrm>
            <a:off x="548640" y="1975104"/>
            <a:ext cx="566928" cy="566928"/>
          </a:xfrm>
          <a:prstGeom prst="ellipse">
            <a:avLst/>
          </a:prstGeom>
          <a:solidFill>
            <a:schemeClr val="accent2"/>
          </a:solidFill>
          <a:ln w="12700">
            <a:solidFill>
              <a:schemeClr val="accent2">
                <a:alpha val="0"/>
              </a:schemeClr>
            </a:solidFill>
            <a:prstDash val="solid"/>
          </a:ln>
        </p:spPr>
      </p:sp>
      <p:pic>
        <p:nvPicPr>
          <p:cNvPr id="6" name="Prototype glyph" descr="preencoded.png">    </p:cNvPr>
          <p:cNvPicPr>
            <a:picLocks noChangeAspect="1"/>
          </p:cNvPicPr>
          <p:nvPr/>
        </p:nvPicPr>
        <p:blipFill>
          <a:blip r:embed="rId1"/>
          <a:stretch>
            <a:fillRect/>
          </a:stretch>
        </p:blipFill>
        <p:spPr>
          <a:xfrm>
            <a:off x="673364" y="2099828"/>
            <a:ext cx="317480" cy="317480"/>
          </a:xfrm>
          <a:prstGeom prst="rect">
            <a:avLst/>
          </a:prstGeom>
        </p:spPr>
      </p:pic>
      <p:sp>
        <p:nvSpPr>
          <p:cNvPr id="7" name="Prototype"/>
          <p:cNvSpPr txBox="1"/>
          <p:nvPr/>
        </p:nvSpPr>
        <p:spPr>
          <a:xfrm>
            <a:off x="1325880" y="1920240"/>
            <a:ext cx="5394960" cy="96012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Prototype</a:t>
            </a:r>
            <a:endParaRPr lang="en-US" sz="1700" dirty="0"/>
          </a:p>
          <a:p>
            <a:pPr indent="0" marL="0">
              <a:buNone/>
            </a:pPr>
            <a:r>
              <a:rPr lang="en-US" sz="1500" dirty="0">
                <a:solidFill>
                  <a:schemeClr val="tx1"/>
                </a:solidFill>
              </a:rPr>
              <a:t>Server, drones and devices run as separate processes over TCP.</a:t>
            </a:r>
            <a:endParaRPr lang="en-US" sz="1700" dirty="0"/>
          </a:p>
        </p:txBody>
      </p:sp>
      <p:sp>
        <p:nvSpPr>
          <p:cNvPr id="8" name="Real learning task circle"/>
          <p:cNvSpPr/>
          <p:nvPr/>
        </p:nvSpPr>
        <p:spPr>
          <a:xfrm>
            <a:off x="548640" y="3044952"/>
            <a:ext cx="566928" cy="566928"/>
          </a:xfrm>
          <a:prstGeom prst="ellipse">
            <a:avLst/>
          </a:prstGeom>
          <a:solidFill>
            <a:schemeClr val="accent2"/>
          </a:solidFill>
          <a:ln w="12700">
            <a:solidFill>
              <a:schemeClr val="accent2">
                <a:alpha val="0"/>
              </a:schemeClr>
            </a:solidFill>
            <a:prstDash val="solid"/>
          </a:ln>
        </p:spPr>
      </p:sp>
      <p:pic>
        <p:nvPicPr>
          <p:cNvPr id="9" name="Real learning task glyph" descr="preencoded.png">    </p:cNvPr>
          <p:cNvPicPr>
            <a:picLocks noChangeAspect="1"/>
          </p:cNvPicPr>
          <p:nvPr/>
        </p:nvPicPr>
        <p:blipFill>
          <a:blip r:embed="rId2"/>
          <a:stretch>
            <a:fillRect/>
          </a:stretch>
        </p:blipFill>
        <p:spPr>
          <a:xfrm>
            <a:off x="673364" y="3169676"/>
            <a:ext cx="317480" cy="317480"/>
          </a:xfrm>
          <a:prstGeom prst="rect">
            <a:avLst/>
          </a:prstGeom>
        </p:spPr>
      </p:pic>
      <p:sp>
        <p:nvSpPr>
          <p:cNvPr id="10" name="Real learning task"/>
          <p:cNvSpPr txBox="1"/>
          <p:nvPr/>
        </p:nvSpPr>
        <p:spPr>
          <a:xfrm>
            <a:off x="1325880" y="2990088"/>
            <a:ext cx="5394960" cy="96012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Real learning task</a:t>
            </a:r>
            <a:endParaRPr lang="en-US" sz="1700" dirty="0"/>
          </a:p>
          <a:p>
            <a:pPr indent="0" marL="0">
              <a:buNone/>
            </a:pPr>
            <a:r>
              <a:rPr lang="en-US" sz="1500" dirty="0">
                <a:solidFill>
                  <a:schemeClr val="tx1"/>
                </a:solidFill>
              </a:rPr>
              <a:t>Intrusion detector (MLP) on CICIoT2023: 20,000 training flows, 6,000 test flows.</a:t>
            </a:r>
            <a:endParaRPr lang="en-US" sz="1700" dirty="0"/>
          </a:p>
        </p:txBody>
      </p:sp>
      <p:sp>
        <p:nvSpPr>
          <p:cNvPr id="11" name="Simulated physics circle"/>
          <p:cNvSpPr/>
          <p:nvPr/>
        </p:nvSpPr>
        <p:spPr>
          <a:xfrm>
            <a:off x="548640" y="4114800"/>
            <a:ext cx="566928" cy="566928"/>
          </a:xfrm>
          <a:prstGeom prst="ellipse">
            <a:avLst/>
          </a:prstGeom>
          <a:solidFill>
            <a:schemeClr val="accent2"/>
          </a:solidFill>
          <a:ln w="12700">
            <a:solidFill>
              <a:schemeClr val="accent2">
                <a:alpha val="0"/>
              </a:schemeClr>
            </a:solidFill>
            <a:prstDash val="solid"/>
          </a:ln>
        </p:spPr>
      </p:sp>
      <p:pic>
        <p:nvPicPr>
          <p:cNvPr id="12" name="Simulated physics glyph" descr="preencoded.png">    </p:cNvPr>
          <p:cNvPicPr>
            <a:picLocks noChangeAspect="1"/>
          </p:cNvPicPr>
          <p:nvPr/>
        </p:nvPicPr>
        <p:blipFill>
          <a:blip r:embed="rId3"/>
          <a:stretch>
            <a:fillRect/>
          </a:stretch>
        </p:blipFill>
        <p:spPr>
          <a:xfrm>
            <a:off x="673364" y="4239524"/>
            <a:ext cx="317480" cy="317480"/>
          </a:xfrm>
          <a:prstGeom prst="rect">
            <a:avLst/>
          </a:prstGeom>
        </p:spPr>
      </p:pic>
      <p:sp>
        <p:nvSpPr>
          <p:cNvPr id="13" name="Simulated physics"/>
          <p:cNvSpPr txBox="1"/>
          <p:nvPr/>
        </p:nvSpPr>
        <p:spPr>
          <a:xfrm>
            <a:off x="1325880" y="4059936"/>
            <a:ext cx="5394960" cy="96012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Simulated physics</a:t>
            </a:r>
            <a:endParaRPr lang="en-US" sz="1700" dirty="0"/>
          </a:p>
          <a:p>
            <a:pPr indent="0" marL="0">
              <a:buNone/>
            </a:pPr>
            <a:r>
              <a:rPr lang="en-US" sz="1500" dirty="0">
                <a:solidFill>
                  <a:schemeClr val="tx1"/>
                </a:solidFill>
              </a:rPr>
              <a:t>Flight at 5 m/s, an interference-heavy radio channel, a rotary-wing energy model.</a:t>
            </a:r>
            <a:endParaRPr lang="en-US" sz="1700" dirty="0"/>
          </a:p>
        </p:txBody>
      </p:sp>
      <p:sp>
        <p:nvSpPr>
          <p:cNvPr id="14" name="Scenarios circle"/>
          <p:cNvSpPr/>
          <p:nvPr/>
        </p:nvSpPr>
        <p:spPr>
          <a:xfrm>
            <a:off x="548640" y="5184648"/>
            <a:ext cx="566928" cy="566928"/>
          </a:xfrm>
          <a:prstGeom prst="ellipse">
            <a:avLst/>
          </a:prstGeom>
          <a:solidFill>
            <a:schemeClr val="accent2"/>
          </a:solidFill>
          <a:ln w="12700">
            <a:solidFill>
              <a:schemeClr val="accent2">
                <a:alpha val="0"/>
              </a:schemeClr>
            </a:solidFill>
            <a:prstDash val="solid"/>
          </a:ln>
        </p:spPr>
      </p:sp>
      <p:pic>
        <p:nvPicPr>
          <p:cNvPr id="15" name="Scenarios glyph" descr="preencoded.png">    </p:cNvPr>
          <p:cNvPicPr>
            <a:picLocks noChangeAspect="1"/>
          </p:cNvPicPr>
          <p:nvPr/>
        </p:nvPicPr>
        <p:blipFill>
          <a:blip r:embed="rId4"/>
          <a:stretch>
            <a:fillRect/>
          </a:stretch>
        </p:blipFill>
        <p:spPr>
          <a:xfrm>
            <a:off x="673364" y="5309372"/>
            <a:ext cx="317480" cy="317480"/>
          </a:xfrm>
          <a:prstGeom prst="rect">
            <a:avLst/>
          </a:prstGeom>
        </p:spPr>
      </p:pic>
      <p:sp>
        <p:nvSpPr>
          <p:cNvPr id="16" name="Scenarios"/>
          <p:cNvSpPr txBox="1"/>
          <p:nvPr/>
        </p:nvSpPr>
        <p:spPr>
          <a:xfrm>
            <a:off x="1325880" y="5129784"/>
            <a:ext cx="5394960" cy="96012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Scenarios</a:t>
            </a:r>
            <a:endParaRPr lang="en-US" sz="1700" dirty="0"/>
          </a:p>
          <a:p>
            <a:pPr indent="0" marL="0">
              <a:buNone/>
            </a:pPr>
            <a:r>
              <a:rPr lang="en-US" sz="1500" dirty="0">
                <a:solidFill>
                  <a:schemeClr val="tx1"/>
                </a:solidFill>
              </a:rPr>
              <a:t>200 × 200 m field; 6, 12 or 24 devices (FerrySim up to 96); 1–3 drones.</a:t>
            </a:r>
            <a:endParaRPr lang="en-US" sz="1700" dirty="0"/>
          </a:p>
        </p:txBody>
      </p:sp>
      <p:sp>
        <p:nvSpPr>
          <p:cNvPr id="17" name="scoring card"/>
          <p:cNvSpPr/>
          <p:nvPr/>
        </p:nvSpPr>
        <p:spPr>
          <a:xfrm>
            <a:off x="6903720" y="1920240"/>
            <a:ext cx="4739335" cy="2286000"/>
          </a:xfrm>
          <a:prstGeom prst="roundRect">
            <a:avLst>
              <a:gd name="adj" fmla="val 3200"/>
            </a:avLst>
          </a:prstGeom>
          <a:solidFill>
            <a:schemeClr val="bg2"/>
          </a:solidFill>
          <a:ln w="12700">
            <a:solidFill>
              <a:schemeClr val="bg2">
                <a:alpha val="0"/>
              </a:schemeClr>
            </a:solidFill>
            <a:prstDash val="solid"/>
          </a:ln>
        </p:spPr>
      </p:sp>
      <p:sp>
        <p:nvSpPr>
          <p:cNvPr id="18" name="How we score it"/>
          <p:cNvSpPr txBox="1"/>
          <p:nvPr/>
        </p:nvSpPr>
        <p:spPr>
          <a:xfrm>
            <a:off x="7178040" y="2029968"/>
            <a:ext cx="4190695" cy="210312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How we score it</a:t>
            </a:r>
            <a:endParaRPr lang="en-US" sz="1700" dirty="0"/>
          </a:p>
          <a:p>
            <a:pPr marL="177800" indent="-177800">
              <a:spcAft>
                <a:spcPts val="500"/>
              </a:spcAft>
              <a:buSzPct val="100000"/>
              <a:buChar char="•"/>
            </a:pPr>
            <a:r>
              <a:rPr lang="en-US" sz="1400" dirty="0">
                <a:solidFill>
                  <a:schemeClr val="tx1"/>
                </a:solidFill>
              </a:rPr>
              <a:t>Primary metric: time to 71% test accuracy (τ = 0.71)</a:t>
            </a:r>
            <a:endParaRPr lang="en-US" sz="1700" dirty="0"/>
          </a:p>
          <a:p>
            <a:pPr marL="177800" indent="-177800">
              <a:spcAft>
                <a:spcPts val="500"/>
              </a:spcAft>
              <a:buSzPct val="100000"/>
              <a:buChar char="•"/>
            </a:pPr>
            <a:r>
              <a:rPr lang="en-US" sz="1400" dirty="0">
                <a:solidFill>
                  <a:schemeClr val="tx1"/>
                </a:solidFill>
              </a:rPr>
              <a:t>Two budgets: knee (150 s at 6 devices) and stress (half)</a:t>
            </a:r>
            <a:endParaRPr lang="en-US" sz="1700" dirty="0"/>
          </a:p>
          <a:p>
            <a:pPr marL="177800" indent="-177800">
              <a:spcAft>
                <a:spcPts val="500"/>
              </a:spcAft>
              <a:buSzPct val="100000"/>
              <a:buChar char="•"/>
            </a:pPr>
            <a:r>
              <a:rPr lang="en-US" sz="1400" dirty="0">
                <a:solidFill>
                  <a:schemeClr val="tx1"/>
                </a:solidFill>
              </a:rPr>
              <a:t>20 seeds, paired: same layout, channel and data for every scheduler</a:t>
            </a:r>
            <a:endParaRPr lang="en-US" sz="1700" dirty="0"/>
          </a:p>
          <a:p>
            <a:pPr marL="177800" indent="-177800">
              <a:spcAft>
                <a:spcPts val="500"/>
              </a:spcAft>
              <a:buSzPct val="100000"/>
              <a:buChar char="•"/>
            </a:pPr>
            <a:r>
              <a:rPr lang="en-US" sz="1400" dirty="0">
                <a:solidFill>
                  <a:schemeClr val="tx1"/>
                </a:solidFill>
              </a:rPr>
              <a:t>A claim: 95% CI excludes 0 and Holm‑corrected p &lt; 0.05</a:t>
            </a:r>
            <a:endParaRPr lang="en-US" sz="1700" dirty="0"/>
          </a:p>
        </p:txBody>
      </p:sp>
      <p:sp>
        <p:nvSpPr>
          <p:cNvPr id="19" name="baselines heading"/>
          <p:cNvSpPr txBox="1"/>
          <p:nvPr/>
        </p:nvSpPr>
        <p:spPr>
          <a:xfrm>
            <a:off x="6903720" y="4434840"/>
            <a:ext cx="4739335" cy="310896"/>
          </a:xfrm>
          <a:prstGeom prst="rect">
            <a:avLst/>
          </a:prstGeom>
          <a:noFill/>
          <a:ln/>
        </p:spPr>
        <p:txBody>
          <a:bodyPr wrap="square" lIns="0" tIns="0" rIns="0" bIns="0" rtlCol="0" anchor="ctr"/>
          <a:lstStyle/>
          <a:p>
            <a:pPr indent="0" marL="0">
              <a:buNone/>
            </a:pPr>
            <a:r>
              <a:rPr lang="en-US" sz="1500" b="1" dirty="0">
                <a:solidFill>
                  <a:schemeClr val="tx1"/>
                </a:solidFill>
              </a:rPr>
              <a:t>Seven baselines, all on the wide band</a:t>
            </a:r>
            <a:endParaRPr lang="en-US" sz="1500" dirty="0"/>
          </a:p>
        </p:txBody>
      </p:sp>
      <p:sp>
        <p:nvSpPr>
          <p:cNvPr id="20" name="chip H1 (our earlier heuristic)"/>
          <p:cNvSpPr/>
          <p:nvPr/>
        </p:nvSpPr>
        <p:spPr>
          <a:xfrm>
            <a:off x="6903720" y="4846320"/>
            <a:ext cx="2051914" cy="420624"/>
          </a:xfrm>
          <a:prstGeom prst="roundRect">
            <a:avLst>
              <a:gd name="adj" fmla="val 50000"/>
            </a:avLst>
          </a:prstGeom>
          <a:solidFill>
            <a:schemeClr val="bg2"/>
          </a:solidFill>
          <a:ln w="9525">
            <a:solidFill>
              <a:schemeClr val="accent3"/>
            </a:solidFill>
            <a:prstDash val="solid"/>
          </a:ln>
        </p:spPr>
      </p:sp>
      <p:sp>
        <p:nvSpPr>
          <p:cNvPr id="21" name="chip label H1 (our earlier heuristic)"/>
          <p:cNvSpPr txBox="1"/>
          <p:nvPr/>
        </p:nvSpPr>
        <p:spPr>
          <a:xfrm>
            <a:off x="6903720" y="4846320"/>
            <a:ext cx="2051914" cy="420624"/>
          </a:xfrm>
          <a:prstGeom prst="rect">
            <a:avLst/>
          </a:prstGeom>
          <a:noFill/>
          <a:ln/>
        </p:spPr>
        <p:txBody>
          <a:bodyPr wrap="square" lIns="0" tIns="0" rIns="0" bIns="0" rtlCol="0" anchor="ctr"/>
          <a:lstStyle/>
          <a:p>
            <a:pPr algn="ctr" indent="0" marL="0">
              <a:buNone/>
            </a:pPr>
            <a:r>
              <a:rPr lang="en-US" sz="1300" dirty="0">
                <a:solidFill>
                  <a:schemeClr val="tx1"/>
                </a:solidFill>
              </a:rPr>
              <a:t>H1 (our earlier heuristic)</a:t>
            </a:r>
            <a:endParaRPr lang="en-US" sz="1300" dirty="0"/>
          </a:p>
        </p:txBody>
      </p:sp>
      <p:sp>
        <p:nvSpPr>
          <p:cNvPr id="22" name="chip MAX-AoI"/>
          <p:cNvSpPr/>
          <p:nvPr/>
        </p:nvSpPr>
        <p:spPr>
          <a:xfrm>
            <a:off x="9065362" y="4846320"/>
            <a:ext cx="766267" cy="420624"/>
          </a:xfrm>
          <a:prstGeom prst="roundRect">
            <a:avLst>
              <a:gd name="adj" fmla="val 50000"/>
            </a:avLst>
          </a:prstGeom>
          <a:solidFill>
            <a:schemeClr val="bg2"/>
          </a:solidFill>
          <a:ln w="9525">
            <a:solidFill>
              <a:schemeClr val="accent3"/>
            </a:solidFill>
            <a:prstDash val="solid"/>
          </a:ln>
        </p:spPr>
      </p:sp>
      <p:sp>
        <p:nvSpPr>
          <p:cNvPr id="23" name="chip label MAX-AoI"/>
          <p:cNvSpPr txBox="1"/>
          <p:nvPr/>
        </p:nvSpPr>
        <p:spPr>
          <a:xfrm>
            <a:off x="9065362" y="4846320"/>
            <a:ext cx="766267" cy="420624"/>
          </a:xfrm>
          <a:prstGeom prst="rect">
            <a:avLst/>
          </a:prstGeom>
          <a:noFill/>
          <a:ln/>
        </p:spPr>
        <p:txBody>
          <a:bodyPr wrap="square" lIns="0" tIns="0" rIns="0" bIns="0" rtlCol="0" anchor="ctr"/>
          <a:lstStyle/>
          <a:p>
            <a:pPr algn="ctr" indent="0" marL="0">
              <a:buNone/>
            </a:pPr>
            <a:r>
              <a:rPr lang="en-US" sz="1300" dirty="0">
                <a:solidFill>
                  <a:schemeClr val="tx1"/>
                </a:solidFill>
              </a:rPr>
              <a:t>MAX-AoI</a:t>
            </a:r>
            <a:endParaRPr lang="en-US" sz="1300" dirty="0"/>
          </a:p>
        </p:txBody>
      </p:sp>
      <p:sp>
        <p:nvSpPr>
          <p:cNvPr id="24" name="chip Oort"/>
          <p:cNvSpPr/>
          <p:nvPr/>
        </p:nvSpPr>
        <p:spPr>
          <a:xfrm>
            <a:off x="9941357" y="4846320"/>
            <a:ext cx="563270" cy="420624"/>
          </a:xfrm>
          <a:prstGeom prst="roundRect">
            <a:avLst>
              <a:gd name="adj" fmla="val 50000"/>
            </a:avLst>
          </a:prstGeom>
          <a:solidFill>
            <a:schemeClr val="bg2"/>
          </a:solidFill>
          <a:ln w="9525">
            <a:solidFill>
              <a:schemeClr val="accent3"/>
            </a:solidFill>
            <a:prstDash val="solid"/>
          </a:ln>
        </p:spPr>
      </p:sp>
      <p:sp>
        <p:nvSpPr>
          <p:cNvPr id="25" name="chip label Oort"/>
          <p:cNvSpPr txBox="1"/>
          <p:nvPr/>
        </p:nvSpPr>
        <p:spPr>
          <a:xfrm>
            <a:off x="9941357" y="4846320"/>
            <a:ext cx="563270" cy="420624"/>
          </a:xfrm>
          <a:prstGeom prst="rect">
            <a:avLst/>
          </a:prstGeom>
          <a:noFill/>
          <a:ln/>
        </p:spPr>
        <p:txBody>
          <a:bodyPr wrap="square" lIns="0" tIns="0" rIns="0" bIns="0" rtlCol="0" anchor="ctr"/>
          <a:lstStyle/>
          <a:p>
            <a:pPr algn="ctr" indent="0" marL="0">
              <a:buNone/>
            </a:pPr>
            <a:r>
              <a:rPr lang="en-US" sz="1300" dirty="0">
                <a:solidFill>
                  <a:schemeClr val="tx1"/>
                </a:solidFill>
              </a:rPr>
              <a:t>Oort</a:t>
            </a:r>
            <a:endParaRPr lang="en-US" sz="1300" dirty="0"/>
          </a:p>
        </p:txBody>
      </p:sp>
      <p:sp>
        <p:nvSpPr>
          <p:cNvPr id="26" name="chip Whittle index"/>
          <p:cNvSpPr/>
          <p:nvPr/>
        </p:nvSpPr>
        <p:spPr>
          <a:xfrm>
            <a:off x="6903720" y="5394960"/>
            <a:ext cx="1172261" cy="420624"/>
          </a:xfrm>
          <a:prstGeom prst="roundRect">
            <a:avLst>
              <a:gd name="adj" fmla="val 50000"/>
            </a:avLst>
          </a:prstGeom>
          <a:solidFill>
            <a:schemeClr val="bg2"/>
          </a:solidFill>
          <a:ln w="9525">
            <a:solidFill>
              <a:schemeClr val="accent3"/>
            </a:solidFill>
            <a:prstDash val="solid"/>
          </a:ln>
        </p:spPr>
      </p:sp>
      <p:sp>
        <p:nvSpPr>
          <p:cNvPr id="27" name="chip label Whittle index"/>
          <p:cNvSpPr txBox="1"/>
          <p:nvPr/>
        </p:nvSpPr>
        <p:spPr>
          <a:xfrm>
            <a:off x="6903720" y="5394960"/>
            <a:ext cx="1172261" cy="420624"/>
          </a:xfrm>
          <a:prstGeom prst="rect">
            <a:avLst/>
          </a:prstGeom>
          <a:noFill/>
          <a:ln/>
        </p:spPr>
        <p:txBody>
          <a:bodyPr wrap="square" lIns="0" tIns="0" rIns="0" bIns="0" rtlCol="0" anchor="ctr"/>
          <a:lstStyle/>
          <a:p>
            <a:pPr algn="ctr" indent="0" marL="0">
              <a:buNone/>
            </a:pPr>
            <a:r>
              <a:rPr lang="en-US" sz="1300" dirty="0">
                <a:solidFill>
                  <a:schemeClr val="tx1"/>
                </a:solidFill>
              </a:rPr>
              <a:t>Whittle index</a:t>
            </a:r>
            <a:endParaRPr lang="en-US" sz="1300" dirty="0"/>
          </a:p>
        </p:txBody>
      </p:sp>
      <p:sp>
        <p:nvSpPr>
          <p:cNvPr id="28" name="chip FedEx route"/>
          <p:cNvSpPr/>
          <p:nvPr/>
        </p:nvSpPr>
        <p:spPr>
          <a:xfrm>
            <a:off x="8185709" y="5394960"/>
            <a:ext cx="1036930" cy="420624"/>
          </a:xfrm>
          <a:prstGeom prst="roundRect">
            <a:avLst>
              <a:gd name="adj" fmla="val 50000"/>
            </a:avLst>
          </a:prstGeom>
          <a:solidFill>
            <a:schemeClr val="bg2"/>
          </a:solidFill>
          <a:ln w="9525">
            <a:solidFill>
              <a:schemeClr val="accent3"/>
            </a:solidFill>
            <a:prstDash val="solid"/>
          </a:ln>
        </p:spPr>
      </p:sp>
      <p:sp>
        <p:nvSpPr>
          <p:cNvPr id="29" name="chip label FedEx route"/>
          <p:cNvSpPr txBox="1"/>
          <p:nvPr/>
        </p:nvSpPr>
        <p:spPr>
          <a:xfrm>
            <a:off x="8185709" y="5394960"/>
            <a:ext cx="1036930" cy="420624"/>
          </a:xfrm>
          <a:prstGeom prst="rect">
            <a:avLst/>
          </a:prstGeom>
          <a:noFill/>
          <a:ln/>
        </p:spPr>
        <p:txBody>
          <a:bodyPr wrap="square" lIns="0" tIns="0" rIns="0" bIns="0" rtlCol="0" anchor="ctr"/>
          <a:lstStyle/>
          <a:p>
            <a:pPr algn="ctr" indent="0" marL="0">
              <a:buNone/>
            </a:pPr>
            <a:r>
              <a:rPr lang="en-US" sz="1300" dirty="0">
                <a:solidFill>
                  <a:schemeClr val="tx1"/>
                </a:solidFill>
              </a:rPr>
              <a:t>FedEx route</a:t>
            </a:r>
            <a:endParaRPr lang="en-US" sz="1300" dirty="0"/>
          </a:p>
        </p:txBody>
      </p:sp>
      <p:sp>
        <p:nvSpPr>
          <p:cNvPr id="30" name="chip FedCS"/>
          <p:cNvSpPr/>
          <p:nvPr/>
        </p:nvSpPr>
        <p:spPr>
          <a:xfrm>
            <a:off x="9332366" y="5394960"/>
            <a:ext cx="630936" cy="420624"/>
          </a:xfrm>
          <a:prstGeom prst="roundRect">
            <a:avLst>
              <a:gd name="adj" fmla="val 50000"/>
            </a:avLst>
          </a:prstGeom>
          <a:solidFill>
            <a:schemeClr val="bg2"/>
          </a:solidFill>
          <a:ln w="9525">
            <a:solidFill>
              <a:schemeClr val="accent3"/>
            </a:solidFill>
            <a:prstDash val="solid"/>
          </a:ln>
        </p:spPr>
      </p:sp>
      <p:sp>
        <p:nvSpPr>
          <p:cNvPr id="31" name="chip label FedCS"/>
          <p:cNvSpPr txBox="1"/>
          <p:nvPr/>
        </p:nvSpPr>
        <p:spPr>
          <a:xfrm>
            <a:off x="9332366" y="5394960"/>
            <a:ext cx="630936" cy="420624"/>
          </a:xfrm>
          <a:prstGeom prst="rect">
            <a:avLst/>
          </a:prstGeom>
          <a:noFill/>
          <a:ln/>
        </p:spPr>
        <p:txBody>
          <a:bodyPr wrap="square" lIns="0" tIns="0" rIns="0" bIns="0" rtlCol="0" anchor="ctr"/>
          <a:lstStyle/>
          <a:p>
            <a:pPr algn="ctr" indent="0" marL="0">
              <a:buNone/>
            </a:pPr>
            <a:r>
              <a:rPr lang="en-US" sz="1300" dirty="0">
                <a:solidFill>
                  <a:schemeClr val="tx1"/>
                </a:solidFill>
              </a:rPr>
              <a:t>FedCS</a:t>
            </a:r>
            <a:endParaRPr lang="en-US" sz="1300" dirty="0"/>
          </a:p>
        </p:txBody>
      </p:sp>
      <p:sp>
        <p:nvSpPr>
          <p:cNvPr id="32" name="chip DQN (Chen)"/>
          <p:cNvSpPr/>
          <p:nvPr/>
        </p:nvSpPr>
        <p:spPr>
          <a:xfrm>
            <a:off x="10073030" y="5394960"/>
            <a:ext cx="969264" cy="420624"/>
          </a:xfrm>
          <a:prstGeom prst="roundRect">
            <a:avLst>
              <a:gd name="adj" fmla="val 50000"/>
            </a:avLst>
          </a:prstGeom>
          <a:solidFill>
            <a:schemeClr val="bg2"/>
          </a:solidFill>
          <a:ln w="9525">
            <a:solidFill>
              <a:schemeClr val="accent3"/>
            </a:solidFill>
            <a:prstDash val="solid"/>
          </a:ln>
        </p:spPr>
      </p:sp>
      <p:sp>
        <p:nvSpPr>
          <p:cNvPr id="33" name="chip label DQN (Chen)"/>
          <p:cNvSpPr txBox="1"/>
          <p:nvPr/>
        </p:nvSpPr>
        <p:spPr>
          <a:xfrm>
            <a:off x="10073030" y="5394960"/>
            <a:ext cx="969264" cy="420624"/>
          </a:xfrm>
          <a:prstGeom prst="rect">
            <a:avLst/>
          </a:prstGeom>
          <a:noFill/>
          <a:ln/>
        </p:spPr>
        <p:txBody>
          <a:bodyPr wrap="square" lIns="0" tIns="0" rIns="0" bIns="0" rtlCol="0" anchor="ctr"/>
          <a:lstStyle/>
          <a:p>
            <a:pPr algn="ctr" indent="0" marL="0">
              <a:buNone/>
            </a:pPr>
            <a:r>
              <a:rPr lang="en-US" sz="1300" dirty="0">
                <a:solidFill>
                  <a:schemeClr val="tx1"/>
                </a:solidFill>
              </a:rPr>
              <a:t>DQN (Chen)</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RESULTS · AGAINST THE STATE OF THE ART</a:t>
            </a:r>
            <a:endParaRPr lang="en-US" sz="1200" dirty="0"/>
          </a:p>
        </p:txBody>
      </p:sp>
      <p:sp>
        <p:nvSpPr>
          <p:cNvPr id="3" name="Text 1"/>
          <p:cNvSpPr/>
          <p:nvPr>
            <p:ph idx="102" type="title" hasCustomPrompt="1"/>
          </p:nvPr>
        </p:nvSpPr>
        <p:spPr>
          <a:xfrm>
            <a:off x="548640" y="585216"/>
            <a:ext cx="11094415" cy="658368"/>
          </a:xfrm>
          <a:prstGeom prst="rect">
            <a:avLst/>
          </a:prstGeom>
          <a:noFill/>
          <a:ln/>
        </p:spPr>
        <p:txBody>
          <a:bodyPr wrap="square" lIns="0" tIns="0" rIns="0" bIns="0" rtlCol="0" anchor="t"/>
          <a:lstStyle/>
          <a:p>
            <a:pPr algn="l" indent="0" marL="0">
              <a:buNone/>
            </a:pPr>
            <a:r>
              <a:rPr lang="en-US" sz="3600" b="1" dirty="0">
                <a:solidFill>
                  <a:schemeClr val="tx1"/>
                </a:solidFill>
              </a:rPr>
              <a:t>FeRRy reaches the target 27–31% sooner</a:t>
            </a:r>
            <a:endParaRPr lang="en-US" sz="3600" dirty="0"/>
          </a:p>
        </p:txBody>
      </p:sp>
      <p:sp>
        <p:nvSpPr>
          <p:cNvPr id="4" name="Text 1"/>
          <p:cNvSpPr/>
          <p:nvPr>
            <p:ph idx="103" type="body" hasCustomPrompt="1"/>
          </p:nvPr>
        </p:nvSpPr>
        <p:spPr>
          <a:xfrm>
            <a:off x="548640" y="1298448"/>
            <a:ext cx="11094415" cy="411480"/>
          </a:xfrm>
          <a:prstGeom prst="rect">
            <a:avLst/>
          </a:prstGeom>
          <a:noFill/>
          <a:ln/>
        </p:spPr>
        <p:txBody>
          <a:bodyPr wrap="square" lIns="0" tIns="0" rIns="0" bIns="0" rtlCol="0" anchor="t"/>
          <a:lstStyle/>
          <a:p>
            <a:pPr indent="0" marL="0">
              <a:buNone/>
            </a:pPr>
            <a:r>
              <a:rPr lang="en-US" sz="1700" dirty="0">
                <a:solidFill>
                  <a:schemeClr val="accent3"/>
                </a:solidFill>
              </a:rPr>
              <a:t>Time to 71% accuracy, 6 devices, 1 drone, knee budget (mean of 20 paired trials).</a:t>
            </a:r>
            <a:endParaRPr lang="en-US" sz="1700" dirty="0"/>
          </a:p>
        </p:txBody>
      </p:sp>
      <p:graphicFrame>
        <p:nvGraphicFramePr>
          <p:cNvPr id="5" name="time to target chart" descr=""/>
          <p:cNvGraphicFramePr/>
          <p:nvPr/>
        </p:nvGraphicFramePr>
        <p:xfrm>
          <a:off x="457200" y="1783080"/>
          <a:ext cx="7040880" cy="4297680"/>
        </p:xfrm>
        <a:graphic xmlns:a="http://schemas.openxmlformats.org/drawingml/2006/main">
          <a:graphicData uri="http://schemas.openxmlformats.org/drawingml/2006/chart">
            <c:chart xmlns:c="http://schemas.openxmlformats.org/drawingml/2006/chart" r:id="rId1"/>
          </a:graphicData>
        </a:graphic>
      </p:graphicFrame>
      <p:sp>
        <p:nvSpPr>
          <p:cNvPr id="6" name="footnote"/>
          <p:cNvSpPr txBox="1"/>
          <p:nvPr/>
        </p:nvSpPr>
        <p:spPr>
          <a:xfrm>
            <a:off x="548640" y="6053328"/>
            <a:ext cx="6858000" cy="274320"/>
          </a:xfrm>
          <a:prstGeom prst="rect">
            <a:avLst/>
          </a:prstGeom>
          <a:noFill/>
          <a:ln/>
        </p:spPr>
        <p:txBody>
          <a:bodyPr wrap="square" lIns="0" tIns="0" rIns="0" bIns="0" rtlCol="0" anchor="ctr"/>
          <a:lstStyle/>
          <a:p>
            <a:pPr indent="0" marL="0">
              <a:buNone/>
            </a:pPr>
            <a:r>
              <a:rPr lang="en-US" sz="1100" i="1" dirty="0">
                <a:solidFill>
                  <a:schemeClr val="accent3"/>
                </a:solidFill>
              </a:rPr>
              <a:t>*FQ was flown later, in an exploratory comparison. F, FX and FQ do not differ from each other.</a:t>
            </a:r>
            <a:endParaRPr lang="en-US" sz="1100" dirty="0"/>
          </a:p>
        </p:txBody>
      </p:sp>
      <p:sp>
        <p:nvSpPr>
          <p:cNvPr id="7" name="callout 1"/>
          <p:cNvSpPr/>
          <p:nvPr/>
        </p:nvSpPr>
        <p:spPr>
          <a:xfrm>
            <a:off x="7818120" y="1874520"/>
            <a:ext cx="3824935" cy="960120"/>
          </a:xfrm>
          <a:prstGeom prst="roundRect">
            <a:avLst>
              <a:gd name="adj" fmla="val 7619"/>
            </a:avLst>
          </a:prstGeom>
          <a:solidFill>
            <a:schemeClr val="bg2"/>
          </a:solidFill>
          <a:ln w="12700">
            <a:solidFill>
              <a:schemeClr val="bg2">
                <a:alpha val="0"/>
              </a:schemeClr>
            </a:solidFill>
            <a:prstDash val="solid"/>
          </a:ln>
        </p:spPr>
      </p:sp>
      <p:sp>
        <p:nvSpPr>
          <p:cNvPr id="8" name="callout big 1"/>
          <p:cNvSpPr txBox="1"/>
          <p:nvPr/>
        </p:nvSpPr>
        <p:spPr>
          <a:xfrm>
            <a:off x="8001000" y="1874520"/>
            <a:ext cx="1417320" cy="960120"/>
          </a:xfrm>
          <a:prstGeom prst="rect">
            <a:avLst/>
          </a:prstGeom>
          <a:noFill/>
          <a:ln/>
        </p:spPr>
        <p:txBody>
          <a:bodyPr wrap="square" lIns="0" tIns="0" rIns="0" bIns="0" rtlCol="0" anchor="ctr"/>
          <a:lstStyle/>
          <a:p>
            <a:pPr indent="0" marL="0">
              <a:buNone/>
            </a:pPr>
            <a:r>
              <a:rPr lang="en-US" sz="2400" b="1" dirty="0">
                <a:solidFill>
                  <a:schemeClr val="accent1"/>
                </a:solidFill>
              </a:rPr>
              <a:t>7 of 7</a:t>
            </a:r>
            <a:endParaRPr lang="en-US" sz="2400" dirty="0"/>
          </a:p>
        </p:txBody>
      </p:sp>
      <p:sp>
        <p:nvSpPr>
          <p:cNvPr id="9" name="callout text 1"/>
          <p:cNvSpPr txBox="1"/>
          <p:nvPr/>
        </p:nvSpPr>
        <p:spPr>
          <a:xfrm>
            <a:off x="9464040" y="1874520"/>
            <a:ext cx="2041855" cy="960120"/>
          </a:xfrm>
          <a:prstGeom prst="rect">
            <a:avLst/>
          </a:prstGeom>
          <a:noFill/>
          <a:ln/>
        </p:spPr>
        <p:txBody>
          <a:bodyPr wrap="square" lIns="0" tIns="0" rIns="0" bIns="0" rtlCol="0" anchor="ctr"/>
          <a:lstStyle/>
          <a:p>
            <a:pPr indent="0" marL="0">
              <a:buNone/>
            </a:pPr>
            <a:r>
              <a:rPr lang="en-US" sz="1400" dirty="0">
                <a:solidFill>
                  <a:schemeClr val="tx1"/>
                </a:solidFill>
              </a:rPr>
              <a:t>baselines significantly slower than F</a:t>
            </a:r>
            <a:endParaRPr lang="en-US" sz="1400" dirty="0"/>
          </a:p>
        </p:txBody>
      </p:sp>
      <p:sp>
        <p:nvSpPr>
          <p:cNvPr id="10" name="callout 2"/>
          <p:cNvSpPr/>
          <p:nvPr/>
        </p:nvSpPr>
        <p:spPr>
          <a:xfrm>
            <a:off x="7818120" y="2953512"/>
            <a:ext cx="3824935" cy="960120"/>
          </a:xfrm>
          <a:prstGeom prst="roundRect">
            <a:avLst>
              <a:gd name="adj" fmla="val 7619"/>
            </a:avLst>
          </a:prstGeom>
          <a:solidFill>
            <a:schemeClr val="bg2"/>
          </a:solidFill>
          <a:ln w="12700">
            <a:solidFill>
              <a:schemeClr val="bg2">
                <a:alpha val="0"/>
              </a:schemeClr>
            </a:solidFill>
            <a:prstDash val="solid"/>
          </a:ln>
        </p:spPr>
      </p:sp>
      <p:sp>
        <p:nvSpPr>
          <p:cNvPr id="11" name="callout big 2"/>
          <p:cNvSpPr txBox="1"/>
          <p:nvPr/>
        </p:nvSpPr>
        <p:spPr>
          <a:xfrm>
            <a:off x="8001000" y="2953512"/>
            <a:ext cx="1417320" cy="960120"/>
          </a:xfrm>
          <a:prstGeom prst="rect">
            <a:avLst/>
          </a:prstGeom>
          <a:noFill/>
          <a:ln/>
        </p:spPr>
        <p:txBody>
          <a:bodyPr wrap="square" lIns="0" tIns="0" rIns="0" bIns="0" rtlCol="0" anchor="ctr"/>
          <a:lstStyle/>
          <a:p>
            <a:pPr indent="0" marL="0">
              <a:buNone/>
            </a:pPr>
            <a:r>
              <a:rPr lang="en-US" sz="2400" b="1" dirty="0">
                <a:solidFill>
                  <a:schemeClr val="accent1"/>
                </a:solidFill>
              </a:rPr>
              <a:t>80–90%</a:t>
            </a:r>
            <a:endParaRPr lang="en-US" sz="2400" dirty="0"/>
          </a:p>
        </p:txBody>
      </p:sp>
      <p:sp>
        <p:nvSpPr>
          <p:cNvPr id="12" name="callout text 2"/>
          <p:cNvSpPr txBox="1"/>
          <p:nvPr/>
        </p:nvSpPr>
        <p:spPr>
          <a:xfrm>
            <a:off x="9464040" y="2953512"/>
            <a:ext cx="2041855" cy="960120"/>
          </a:xfrm>
          <a:prstGeom prst="rect">
            <a:avLst/>
          </a:prstGeom>
          <a:noFill/>
          <a:ln/>
        </p:spPr>
        <p:txBody>
          <a:bodyPr wrap="square" lIns="0" tIns="0" rIns="0" bIns="0" rtlCol="0" anchor="ctr"/>
          <a:lstStyle/>
          <a:p>
            <a:pPr indent="0" marL="0">
              <a:buNone/>
            </a:pPr>
            <a:r>
              <a:rPr lang="en-US" sz="1400" dirty="0">
                <a:solidFill>
                  <a:schemeClr val="tx1"/>
                </a:solidFill>
              </a:rPr>
              <a:t>of paired seeds: F gets there first</a:t>
            </a:r>
            <a:endParaRPr lang="en-US" sz="1400" dirty="0"/>
          </a:p>
        </p:txBody>
      </p:sp>
      <p:sp>
        <p:nvSpPr>
          <p:cNvPr id="13" name="callout 3"/>
          <p:cNvSpPr/>
          <p:nvPr/>
        </p:nvSpPr>
        <p:spPr>
          <a:xfrm>
            <a:off x="7818120" y="4032504"/>
            <a:ext cx="3824935" cy="960120"/>
          </a:xfrm>
          <a:prstGeom prst="roundRect">
            <a:avLst>
              <a:gd name="adj" fmla="val 7619"/>
            </a:avLst>
          </a:prstGeom>
          <a:solidFill>
            <a:schemeClr val="bg2"/>
          </a:solidFill>
          <a:ln w="12700">
            <a:solidFill>
              <a:schemeClr val="bg2">
                <a:alpha val="0"/>
              </a:schemeClr>
            </a:solidFill>
            <a:prstDash val="solid"/>
          </a:ln>
        </p:spPr>
      </p:sp>
      <p:sp>
        <p:nvSpPr>
          <p:cNvPr id="14" name="callout big 3"/>
          <p:cNvSpPr txBox="1"/>
          <p:nvPr/>
        </p:nvSpPr>
        <p:spPr>
          <a:xfrm>
            <a:off x="8001000" y="4032504"/>
            <a:ext cx="1417320" cy="960120"/>
          </a:xfrm>
          <a:prstGeom prst="rect">
            <a:avLst/>
          </a:prstGeom>
          <a:noFill/>
          <a:ln/>
        </p:spPr>
        <p:txBody>
          <a:bodyPr wrap="square" lIns="0" tIns="0" rIns="0" bIns="0" rtlCol="0" anchor="ctr"/>
          <a:lstStyle/>
          <a:p>
            <a:pPr indent="0" marL="0">
              <a:buNone/>
            </a:pPr>
            <a:r>
              <a:rPr lang="en-US" sz="1900" b="1" dirty="0">
                <a:solidFill>
                  <a:schemeClr val="tx1"/>
                </a:solidFill>
              </a:rPr>
              <a:t>3 drones</a:t>
            </a:r>
            <a:endParaRPr lang="en-US" sz="1900" dirty="0"/>
          </a:p>
        </p:txBody>
      </p:sp>
      <p:sp>
        <p:nvSpPr>
          <p:cNvPr id="15" name="callout text 3"/>
          <p:cNvSpPr txBox="1"/>
          <p:nvPr/>
        </p:nvSpPr>
        <p:spPr>
          <a:xfrm>
            <a:off x="9464040" y="4032504"/>
            <a:ext cx="2041855" cy="960120"/>
          </a:xfrm>
          <a:prstGeom prst="rect">
            <a:avLst/>
          </a:prstGeom>
          <a:noFill/>
          <a:ln/>
        </p:spPr>
        <p:txBody>
          <a:bodyPr wrap="square" lIns="0" tIns="0" rIns="0" bIns="0" rtlCol="0" anchor="ctr"/>
          <a:lstStyle/>
          <a:p>
            <a:pPr indent="0" marL="0">
              <a:buNone/>
            </a:pPr>
            <a:r>
              <a:rPr lang="en-US" sz="1400" dirty="0">
                <a:solidFill>
                  <a:schemeClr val="tx1"/>
                </a:solidFill>
              </a:rPr>
              <a:t>every scheduler 52–65 s; FedEx with its own merge 101 s</a:t>
            </a:r>
            <a:endParaRPr lang="en-US" sz="1400" dirty="0"/>
          </a:p>
        </p:txBody>
      </p:sp>
      <p:sp>
        <p:nvSpPr>
          <p:cNvPr id="16" name="callout 4"/>
          <p:cNvSpPr/>
          <p:nvPr/>
        </p:nvSpPr>
        <p:spPr>
          <a:xfrm>
            <a:off x="7818120" y="5111496"/>
            <a:ext cx="3824935" cy="960120"/>
          </a:xfrm>
          <a:prstGeom prst="roundRect">
            <a:avLst>
              <a:gd name="adj" fmla="val 7619"/>
            </a:avLst>
          </a:prstGeom>
          <a:solidFill>
            <a:schemeClr val="bg2"/>
          </a:solidFill>
          <a:ln w="12700">
            <a:solidFill>
              <a:schemeClr val="bg2">
                <a:alpha val="0"/>
              </a:schemeClr>
            </a:solidFill>
            <a:prstDash val="solid"/>
          </a:ln>
        </p:spPr>
      </p:sp>
      <p:sp>
        <p:nvSpPr>
          <p:cNvPr id="17" name="callout big 4"/>
          <p:cNvSpPr txBox="1"/>
          <p:nvPr/>
        </p:nvSpPr>
        <p:spPr>
          <a:xfrm>
            <a:off x="8001000" y="5111496"/>
            <a:ext cx="1417320" cy="960120"/>
          </a:xfrm>
          <a:prstGeom prst="rect">
            <a:avLst/>
          </a:prstGeom>
          <a:noFill/>
          <a:ln/>
        </p:spPr>
        <p:txBody>
          <a:bodyPr wrap="square" lIns="0" tIns="0" rIns="0" bIns="0" rtlCol="0" anchor="ctr"/>
          <a:lstStyle/>
          <a:p>
            <a:pPr indent="0" marL="0">
              <a:buNone/>
            </a:pPr>
            <a:r>
              <a:rPr lang="en-US" sz="1900" b="1" dirty="0">
                <a:solidFill>
                  <a:schemeClr val="tx1"/>
                </a:solidFill>
              </a:rPr>
              <a:t>No drone</a:t>
            </a:r>
            <a:endParaRPr lang="en-US" sz="1900" dirty="0"/>
          </a:p>
        </p:txBody>
      </p:sp>
      <p:sp>
        <p:nvSpPr>
          <p:cNvPr id="18" name="callout text 4"/>
          <p:cNvSpPr txBox="1"/>
          <p:nvPr/>
        </p:nvSpPr>
        <p:spPr>
          <a:xfrm>
            <a:off x="9464040" y="5111496"/>
            <a:ext cx="2041855" cy="960120"/>
          </a:xfrm>
          <a:prstGeom prst="rect">
            <a:avLst/>
          </a:prstGeom>
          <a:noFill/>
          <a:ln/>
        </p:spPr>
        <p:txBody>
          <a:bodyPr wrap="square" lIns="0" tIns="0" rIns="0" bIns="0" rtlCol="0" anchor="ctr"/>
          <a:lstStyle/>
          <a:p>
            <a:pPr indent="0" marL="0">
              <a:buNone/>
            </a:pPr>
            <a:r>
              <a:rPr lang="en-US" sz="1400" dirty="0">
                <a:solidFill>
                  <a:schemeClr val="tx1"/>
                </a:solidFill>
              </a:rPr>
              <a:t>0.5 updates per round, 68.6% accuracy (F: 3.5 and 83.1%)</a:t>
            </a:r>
            <a:endParaRPr lang="en-US"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7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RESULTS · WHY IT IS FASTER</a:t>
            </a:r>
            <a:endParaRPr lang="en-US" sz="1200" dirty="0"/>
          </a:p>
        </p:txBody>
      </p:sp>
      <p:sp>
        <p:nvSpPr>
          <p:cNvPr id="3" name="Text 1"/>
          <p:cNvSpPr/>
          <p:nvPr>
            <p:ph idx="102" type="title" hasCustomPrompt="1"/>
          </p:nvPr>
        </p:nvSpPr>
        <p:spPr>
          <a:xfrm>
            <a:off x="548640" y="585216"/>
            <a:ext cx="11094415" cy="658368"/>
          </a:xfrm>
          <a:prstGeom prst="rect">
            <a:avLst/>
          </a:prstGeom>
          <a:noFill/>
          <a:ln/>
        </p:spPr>
        <p:txBody>
          <a:bodyPr wrap="square" lIns="0" tIns="0" rIns="0" bIns="0" rtlCol="0" anchor="t"/>
          <a:lstStyle/>
          <a:p>
            <a:pPr algn="l" indent="0" marL="0">
              <a:buNone/>
            </a:pPr>
            <a:r>
              <a:rPr lang="en-US" sz="3600" b="1" dirty="0">
                <a:solidFill>
                  <a:schemeClr val="tx1"/>
                </a:solidFill>
              </a:rPr>
              <a:t>Why: the right band removes the flying</a:t>
            </a:r>
            <a:endParaRPr lang="en-US" sz="3600" dirty="0"/>
          </a:p>
        </p:txBody>
      </p:sp>
      <p:sp>
        <p:nvSpPr>
          <p:cNvPr id="4" name="Text 1"/>
          <p:cNvSpPr/>
          <p:nvPr>
            <p:ph idx="103" type="body" hasCustomPrompt="1"/>
          </p:nvPr>
        </p:nvSpPr>
        <p:spPr>
          <a:xfrm>
            <a:off x="548640" y="1298448"/>
            <a:ext cx="11094415" cy="411480"/>
          </a:xfrm>
          <a:prstGeom prst="rect">
            <a:avLst/>
          </a:prstGeom>
          <a:noFill/>
          <a:ln/>
        </p:spPr>
        <p:txBody>
          <a:bodyPr wrap="square" lIns="0" tIns="0" rIns="0" bIns="0" rtlCol="0" anchor="t"/>
          <a:lstStyle/>
          <a:p>
            <a:pPr indent="0" marL="0">
              <a:buNone/>
            </a:pPr>
            <a:r>
              <a:rPr lang="en-US" sz="1700" dirty="0">
                <a:solidFill>
                  <a:schemeClr val="accent3"/>
                </a:solidFill>
              </a:rPr>
              <a:t>Every scheduler needs about the same number of rounds (1.65–1.84); FeRRy's rounds are just shorter.</a:t>
            </a:r>
            <a:endParaRPr lang="en-US" sz="1700" dirty="0"/>
          </a:p>
        </p:txBody>
      </p:sp>
      <p:graphicFrame>
        <p:nvGraphicFramePr>
          <p:cNvPr id="5" name="mission time chart" descr=""/>
          <p:cNvGraphicFramePr/>
          <p:nvPr/>
        </p:nvGraphicFramePr>
        <p:xfrm>
          <a:off x="457200" y="1783080"/>
          <a:ext cx="7223760" cy="4434840"/>
        </p:xfrm>
        <a:graphic xmlns:a="http://schemas.openxmlformats.org/drawingml/2006/main">
          <a:graphicData uri="http://schemas.openxmlformats.org/drawingml/2006/chart">
            <c:chart xmlns:c="http://schemas.openxmlformats.org/drawingml/2006/chart" r:id="rId1"/>
          </a:graphicData>
        </a:graphic>
      </p:graphicFrame>
      <p:sp>
        <p:nvSpPr>
          <p:cNvPr id="6" name="callout 1"/>
          <p:cNvSpPr/>
          <p:nvPr/>
        </p:nvSpPr>
        <p:spPr>
          <a:xfrm>
            <a:off x="8001000" y="1920240"/>
            <a:ext cx="3642055" cy="1280160"/>
          </a:xfrm>
          <a:prstGeom prst="roundRect">
            <a:avLst>
              <a:gd name="adj" fmla="val 5714"/>
            </a:avLst>
          </a:prstGeom>
          <a:solidFill>
            <a:schemeClr val="bg2"/>
          </a:solidFill>
          <a:ln w="12700">
            <a:solidFill>
              <a:schemeClr val="bg2">
                <a:alpha val="0"/>
              </a:schemeClr>
            </a:solidFill>
            <a:prstDash val="solid"/>
          </a:ln>
        </p:spPr>
      </p:sp>
      <p:sp>
        <p:nvSpPr>
          <p:cNvPr id="7" name="callout big 1"/>
          <p:cNvSpPr txBox="1"/>
          <p:nvPr/>
        </p:nvSpPr>
        <p:spPr>
          <a:xfrm>
            <a:off x="8229600" y="2029968"/>
            <a:ext cx="3184855" cy="502920"/>
          </a:xfrm>
          <a:prstGeom prst="rect">
            <a:avLst/>
          </a:prstGeom>
          <a:noFill/>
          <a:ln/>
        </p:spPr>
        <p:txBody>
          <a:bodyPr wrap="square" lIns="0" tIns="0" rIns="0" bIns="0" rtlCol="0" anchor="ctr"/>
          <a:lstStyle/>
          <a:p>
            <a:pPr indent="0" marL="0">
              <a:buNone/>
            </a:pPr>
            <a:r>
              <a:rPr lang="en-US" sz="2600" b="1" dirty="0">
                <a:solidFill>
                  <a:schemeClr val="accent1"/>
                </a:solidFill>
              </a:rPr>
              <a:t>89%</a:t>
            </a:r>
            <a:endParaRPr lang="en-US" sz="2600" dirty="0"/>
          </a:p>
        </p:txBody>
      </p:sp>
      <p:sp>
        <p:nvSpPr>
          <p:cNvPr id="8" name="callout text 1"/>
          <p:cNvSpPr txBox="1"/>
          <p:nvPr/>
        </p:nvSpPr>
        <p:spPr>
          <a:xfrm>
            <a:off x="8229600" y="2542032"/>
            <a:ext cx="3184855" cy="594360"/>
          </a:xfrm>
          <a:prstGeom prst="rect">
            <a:avLst/>
          </a:prstGeom>
          <a:noFill/>
          <a:ln/>
        </p:spPr>
        <p:txBody>
          <a:bodyPr wrap="square" lIns="0" tIns="0" rIns="0" bIns="0" rtlCol="0" anchor="t"/>
          <a:lstStyle/>
          <a:p>
            <a:pPr indent="0" marL="0">
              <a:buNone/>
            </a:pPr>
            <a:r>
              <a:rPr lang="en-US" sz="1400" dirty="0">
                <a:solidFill>
                  <a:schemeClr val="tx1"/>
                </a:solidFill>
              </a:rPr>
              <a:t>of F's missions fly the narrow band at 6 devices</a:t>
            </a:r>
            <a:endParaRPr lang="en-US" sz="1400" dirty="0"/>
          </a:p>
        </p:txBody>
      </p:sp>
      <p:sp>
        <p:nvSpPr>
          <p:cNvPr id="9" name="callout 2"/>
          <p:cNvSpPr/>
          <p:nvPr/>
        </p:nvSpPr>
        <p:spPr>
          <a:xfrm>
            <a:off x="8001000" y="3337560"/>
            <a:ext cx="3642055" cy="1280160"/>
          </a:xfrm>
          <a:prstGeom prst="roundRect">
            <a:avLst>
              <a:gd name="adj" fmla="val 5714"/>
            </a:avLst>
          </a:prstGeom>
          <a:solidFill>
            <a:schemeClr val="bg2"/>
          </a:solidFill>
          <a:ln w="12700">
            <a:solidFill>
              <a:schemeClr val="bg2">
                <a:alpha val="0"/>
              </a:schemeClr>
            </a:solidFill>
            <a:prstDash val="solid"/>
          </a:ln>
        </p:spPr>
      </p:sp>
      <p:sp>
        <p:nvSpPr>
          <p:cNvPr id="10" name="callout big 2"/>
          <p:cNvSpPr txBox="1"/>
          <p:nvPr/>
        </p:nvSpPr>
        <p:spPr>
          <a:xfrm>
            <a:off x="8229600" y="3447288"/>
            <a:ext cx="3184855" cy="502920"/>
          </a:xfrm>
          <a:prstGeom prst="rect">
            <a:avLst/>
          </a:prstGeom>
          <a:noFill/>
          <a:ln/>
        </p:spPr>
        <p:txBody>
          <a:bodyPr wrap="square" lIns="0" tIns="0" rIns="0" bIns="0" rtlCol="0" anchor="ctr"/>
          <a:lstStyle/>
          <a:p>
            <a:pPr indent="0" marL="0">
              <a:buNone/>
            </a:pPr>
            <a:r>
              <a:rPr lang="en-US" sz="2600" b="1" dirty="0">
                <a:solidFill>
                  <a:schemeClr val="accent1"/>
                </a:solidFill>
              </a:rPr>
              <a:t>15 s vs ~140 s</a:t>
            </a:r>
            <a:endParaRPr lang="en-US" sz="2600" dirty="0"/>
          </a:p>
        </p:txBody>
      </p:sp>
      <p:sp>
        <p:nvSpPr>
          <p:cNvPr id="11" name="callout text 2"/>
          <p:cNvSpPr txBox="1"/>
          <p:nvPr/>
        </p:nvSpPr>
        <p:spPr>
          <a:xfrm>
            <a:off x="8229600" y="3959352"/>
            <a:ext cx="3184855" cy="594360"/>
          </a:xfrm>
          <a:prstGeom prst="rect">
            <a:avLst/>
          </a:prstGeom>
          <a:noFill/>
          <a:ln/>
        </p:spPr>
        <p:txBody>
          <a:bodyPr wrap="square" lIns="0" tIns="0" rIns="0" bIns="0" rtlCol="0" anchor="t"/>
          <a:lstStyle/>
          <a:p>
            <a:pPr indent="0" marL="0">
              <a:buNone/>
            </a:pPr>
            <a:r>
              <a:rPr lang="en-US" sz="1400" dirty="0">
                <a:solidFill>
                  <a:schemeClr val="tx1"/>
                </a:solidFill>
              </a:rPr>
              <a:t>flying between stops, F vs the baselines</a:t>
            </a:r>
            <a:endParaRPr lang="en-US" sz="1400" dirty="0"/>
          </a:p>
        </p:txBody>
      </p:sp>
      <p:sp>
        <p:nvSpPr>
          <p:cNvPr id="12" name="callout 3"/>
          <p:cNvSpPr/>
          <p:nvPr/>
        </p:nvSpPr>
        <p:spPr>
          <a:xfrm>
            <a:off x="8001000" y="4754880"/>
            <a:ext cx="3642055" cy="1280160"/>
          </a:xfrm>
          <a:prstGeom prst="roundRect">
            <a:avLst>
              <a:gd name="adj" fmla="val 5714"/>
            </a:avLst>
          </a:prstGeom>
          <a:solidFill>
            <a:schemeClr val="bg2"/>
          </a:solidFill>
          <a:ln w="12700">
            <a:solidFill>
              <a:schemeClr val="bg2">
                <a:alpha val="0"/>
              </a:schemeClr>
            </a:solidFill>
            <a:prstDash val="solid"/>
          </a:ln>
        </p:spPr>
      </p:sp>
      <p:sp>
        <p:nvSpPr>
          <p:cNvPr id="13" name="callout big 3"/>
          <p:cNvSpPr txBox="1"/>
          <p:nvPr/>
        </p:nvSpPr>
        <p:spPr>
          <a:xfrm>
            <a:off x="8229600" y="4864608"/>
            <a:ext cx="3184855" cy="502920"/>
          </a:xfrm>
          <a:prstGeom prst="rect">
            <a:avLst/>
          </a:prstGeom>
          <a:noFill/>
          <a:ln/>
        </p:spPr>
        <p:txBody>
          <a:bodyPr wrap="square" lIns="0" tIns="0" rIns="0" bIns="0" rtlCol="0" anchor="ctr"/>
          <a:lstStyle/>
          <a:p>
            <a:pPr indent="0" marL="0">
              <a:buNone/>
            </a:pPr>
            <a:r>
              <a:rPr lang="en-US" sz="2600" b="1" dirty="0">
                <a:solidFill>
                  <a:schemeClr val="accent1"/>
                </a:solidFill>
              </a:rPr>
              <a:t>≈ 265 s</a:t>
            </a:r>
            <a:endParaRPr lang="en-US" sz="2600" dirty="0"/>
          </a:p>
        </p:txBody>
      </p:sp>
      <p:sp>
        <p:nvSpPr>
          <p:cNvPr id="14" name="callout text 3"/>
          <p:cNvSpPr txBox="1"/>
          <p:nvPr/>
        </p:nvSpPr>
        <p:spPr>
          <a:xfrm>
            <a:off x="8229600" y="5376672"/>
            <a:ext cx="3184855" cy="594360"/>
          </a:xfrm>
          <a:prstGeom prst="rect">
            <a:avLst/>
          </a:prstGeom>
          <a:noFill/>
          <a:ln/>
        </p:spPr>
        <p:txBody>
          <a:bodyPr wrap="square" lIns="0" tIns="0" rIns="0" bIns="0" rtlCol="0" anchor="t"/>
          <a:lstStyle/>
          <a:p>
            <a:pPr indent="0" marL="0">
              <a:buNone/>
            </a:pPr>
            <a:r>
              <a:rPr lang="en-US" sz="1400" dirty="0">
                <a:solidFill>
                  <a:schemeClr val="tx1"/>
                </a:solidFill>
              </a:rPr>
              <a:t>F pinned to the wide band: no faster than FedEx's route; pinned to narrow, 196 s</a:t>
            </a:r>
            <a:endParaRPr lang="en-US"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7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RESULTS · WHY IT IS FASTER</a:t>
            </a:r>
            <a:endParaRPr lang="en-US" sz="1200" dirty="0"/>
          </a:p>
        </p:txBody>
      </p:sp>
      <p:sp>
        <p:nvSpPr>
          <p:cNvPr id="3" name="Text 1"/>
          <p:cNvSpPr/>
          <p:nvPr>
            <p:ph idx="102" type="title" hasCustomPrompt="1"/>
          </p:nvPr>
        </p:nvSpPr>
        <p:spPr>
          <a:xfrm>
            <a:off x="548640" y="585216"/>
            <a:ext cx="11094415" cy="658368"/>
          </a:xfrm>
          <a:prstGeom prst="rect">
            <a:avLst/>
          </a:prstGeom>
          <a:noFill/>
          <a:ln/>
        </p:spPr>
        <p:txBody>
          <a:bodyPr wrap="square" lIns="0" tIns="0" rIns="0" bIns="0" rtlCol="0" anchor="t"/>
          <a:lstStyle/>
          <a:p>
            <a:pPr algn="l" indent="0" marL="0">
              <a:buNone/>
            </a:pPr>
            <a:r>
              <a:rPr lang="en-US" sz="3600" b="1" dirty="0">
                <a:solidFill>
                  <a:schemeClr val="tx1"/>
                </a:solidFill>
              </a:rPr>
              <a:t>The band choice adapts to the field</a:t>
            </a:r>
            <a:endParaRPr lang="en-US" sz="3600" dirty="0"/>
          </a:p>
        </p:txBody>
      </p:sp>
      <p:sp>
        <p:nvSpPr>
          <p:cNvPr id="4" name="Text 1"/>
          <p:cNvSpPr/>
          <p:nvPr>
            <p:ph idx="103" type="body" hasCustomPrompt="1"/>
          </p:nvPr>
        </p:nvSpPr>
        <p:spPr>
          <a:xfrm>
            <a:off x="548640" y="1298448"/>
            <a:ext cx="11094415" cy="411480"/>
          </a:xfrm>
          <a:prstGeom prst="rect">
            <a:avLst/>
          </a:prstGeom>
          <a:noFill/>
          <a:ln/>
        </p:spPr>
        <p:txBody>
          <a:bodyPr wrap="square" lIns="0" tIns="0" rIns="0" bIns="0" rtlCol="0" anchor="t"/>
          <a:lstStyle/>
          <a:p>
            <a:pPr indent="0" marL="0">
              <a:buNone/>
            </a:pPr>
            <a:r>
              <a:rPr lang="en-US" sz="1700" dirty="0">
                <a:solidFill>
                  <a:schemeClr val="accent3"/>
                </a:solidFill>
              </a:rPr>
              <a:t>Share of F's plans flying each band. Few devices and a loose budget favour narrow; many devices, wide.</a:t>
            </a:r>
            <a:endParaRPr lang="en-US" sz="1700" dirty="0"/>
          </a:p>
        </p:txBody>
      </p:sp>
      <p:graphicFrame>
        <p:nvGraphicFramePr>
          <p:cNvPr id="5" name="band share chart" descr=""/>
          <p:cNvGraphicFramePr/>
          <p:nvPr/>
        </p:nvGraphicFramePr>
        <p:xfrm>
          <a:off x="457200" y="1783080"/>
          <a:ext cx="7589520" cy="4434840"/>
        </p:xfrm>
        <a:graphic xmlns:a="http://schemas.openxmlformats.org/drawingml/2006/main">
          <a:graphicData uri="http://schemas.openxmlformats.org/drawingml/2006/chart">
            <c:chart xmlns:c="http://schemas.openxmlformats.org/drawingml/2006/chart" r:id="rId1"/>
          </a:graphicData>
        </a:graphic>
      </p:graphicFrame>
      <p:sp>
        <p:nvSpPr>
          <p:cNvPr id="6" name="near optimal"/>
          <p:cNvSpPr/>
          <p:nvPr/>
        </p:nvSpPr>
        <p:spPr>
          <a:xfrm>
            <a:off x="8321040" y="1920240"/>
            <a:ext cx="3322015" cy="2011680"/>
          </a:xfrm>
          <a:prstGeom prst="roundRect">
            <a:avLst>
              <a:gd name="adj" fmla="val 3636"/>
            </a:avLst>
          </a:prstGeom>
          <a:solidFill>
            <a:schemeClr val="bg2"/>
          </a:solidFill>
          <a:ln w="12700">
            <a:solidFill>
              <a:schemeClr val="bg2">
                <a:alpha val="0"/>
              </a:schemeClr>
            </a:solidFill>
            <a:prstDash val="solid"/>
          </a:ln>
        </p:spPr>
      </p:sp>
      <p:sp>
        <p:nvSpPr>
          <p:cNvPr id="7" name="Near the best possible"/>
          <p:cNvSpPr txBox="1"/>
          <p:nvPr/>
        </p:nvSpPr>
        <p:spPr>
          <a:xfrm>
            <a:off x="8549640" y="2057400"/>
            <a:ext cx="2864815" cy="1737360"/>
          </a:xfrm>
          <a:prstGeom prst="rect">
            <a:avLst/>
          </a:prstGeom>
          <a:noFill/>
          <a:ln/>
        </p:spPr>
        <p:txBody>
          <a:bodyPr wrap="square" lIns="0" tIns="0" rIns="0" bIns="0" rtlCol="0" anchor="ctr"/>
          <a:lstStyle/>
          <a:p>
            <a:pPr indent="0" marL="0">
              <a:spcAft>
                <a:spcPts val="400"/>
              </a:spcAft>
              <a:buNone/>
            </a:pPr>
            <a:r>
              <a:rPr lang="en-US" sz="1700" b="1" dirty="0">
                <a:solidFill>
                  <a:schemeClr val="tx1"/>
                </a:solidFill>
              </a:rPr>
              <a:t>Near the best possible</a:t>
            </a:r>
            <a:endParaRPr lang="en-US" sz="1700" dirty="0"/>
          </a:p>
          <a:p>
            <a:pPr indent="0" marL="0">
              <a:buNone/>
            </a:pPr>
            <a:r>
              <a:rPr lang="en-US" sz="1400" dirty="0">
                <a:solidFill>
                  <a:schemeClr val="tx1"/>
                </a:solidFill>
              </a:rPr>
              <a:t>Serves as many devices as an exhaustive search at the knee budget, and 4 points fewer under stress.</a:t>
            </a:r>
            <a:endParaRPr lang="en-US" sz="1700" dirty="0"/>
          </a:p>
        </p:txBody>
      </p:sp>
      <p:sp>
        <p:nvSpPr>
          <p:cNvPr id="8" name="no fixed rule"/>
          <p:cNvSpPr/>
          <p:nvPr/>
        </p:nvSpPr>
        <p:spPr>
          <a:xfrm>
            <a:off x="8321040" y="4114800"/>
            <a:ext cx="3322015" cy="2011680"/>
          </a:xfrm>
          <a:prstGeom prst="roundRect">
            <a:avLst>
              <a:gd name="adj" fmla="val 3636"/>
            </a:avLst>
          </a:prstGeom>
          <a:solidFill>
            <a:schemeClr val="accent1">
              <a:alpha val="14000"/>
            </a:schemeClr>
          </a:solidFill>
          <a:ln w="12700">
            <a:solidFill>
              <a:schemeClr val="accent1">
                <a:alpha val="0"/>
              </a:schemeClr>
            </a:solidFill>
            <a:prstDash val="solid"/>
          </a:ln>
        </p:spPr>
      </p:sp>
      <p:sp>
        <p:nvSpPr>
          <p:cNvPr id="9" name="No fixed band works everywhere"/>
          <p:cNvSpPr txBox="1"/>
          <p:nvPr/>
        </p:nvSpPr>
        <p:spPr>
          <a:xfrm>
            <a:off x="8549640" y="4251960"/>
            <a:ext cx="2864815" cy="1783080"/>
          </a:xfrm>
          <a:prstGeom prst="rect">
            <a:avLst/>
          </a:prstGeom>
          <a:noFill/>
          <a:ln/>
        </p:spPr>
        <p:txBody>
          <a:bodyPr wrap="square" lIns="0" tIns="0" rIns="0" bIns="0" rtlCol="0" anchor="ctr"/>
          <a:lstStyle/>
          <a:p>
            <a:pPr indent="0" marL="0">
              <a:spcAft>
                <a:spcPts val="400"/>
              </a:spcAft>
              <a:buNone/>
            </a:pPr>
            <a:r>
              <a:rPr lang="en-US" sz="1700" b="1" dirty="0">
                <a:solidFill>
                  <a:schemeClr val="tx1"/>
                </a:solidFill>
              </a:rPr>
              <a:t>No fixed band works everywhere</a:t>
            </a:r>
            <a:endParaRPr lang="en-US" sz="1700" dirty="0"/>
          </a:p>
          <a:p>
            <a:pPr indent="0" marL="0">
              <a:buNone/>
            </a:pPr>
            <a:r>
              <a:rPr lang="en-US" sz="1400" dirty="0">
                <a:solidFill>
                  <a:schemeClr val="tx1"/>
                </a:solidFill>
              </a:rPr>
              <a:t>A denser field or a tighter budget pushes F toward wider, faster bands, so the band is decided per mission.</a:t>
            </a:r>
            <a:endParaRPr lang="en-US" sz="17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7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RESULTS · SCALE AND COST</a:t>
            </a:r>
            <a:endParaRPr lang="en-US" sz="1200" dirty="0"/>
          </a:p>
        </p:txBody>
      </p:sp>
      <p:sp>
        <p:nvSpPr>
          <p:cNvPr id="3" name="Text 1"/>
          <p:cNvSpPr/>
          <p:nvPr>
            <p:ph idx="102" type="title" hasCustomPrompt="1"/>
          </p:nvPr>
        </p:nvSpPr>
        <p:spPr>
          <a:xfrm>
            <a:off x="548640" y="585216"/>
            <a:ext cx="11094415" cy="658368"/>
          </a:xfrm>
          <a:prstGeom prst="rect">
            <a:avLst/>
          </a:prstGeom>
          <a:noFill/>
          <a:ln/>
        </p:spPr>
        <p:txBody>
          <a:bodyPr wrap="square" lIns="0" tIns="0" rIns="0" bIns="0" rtlCol="0" anchor="t"/>
          <a:lstStyle/>
          <a:p>
            <a:pPr algn="l" indent="0" marL="0">
              <a:buNone/>
            </a:pPr>
            <a:r>
              <a:rPr lang="en-US" sz="3600" b="1" dirty="0">
                <a:solidFill>
                  <a:schemeClr val="tx1"/>
                </a:solidFill>
              </a:rPr>
              <a:t>It scales, and planning stays cheap</a:t>
            </a:r>
            <a:endParaRPr lang="en-US" sz="3600" dirty="0"/>
          </a:p>
        </p:txBody>
      </p:sp>
      <p:sp>
        <p:nvSpPr>
          <p:cNvPr id="4" name="Text 1"/>
          <p:cNvSpPr/>
          <p:nvPr>
            <p:ph idx="103" type="body" hasCustomPrompt="1"/>
          </p:nvPr>
        </p:nvSpPr>
        <p:spPr>
          <a:xfrm>
            <a:off x="548640" y="1298448"/>
            <a:ext cx="11094415" cy="411480"/>
          </a:xfrm>
          <a:prstGeom prst="rect">
            <a:avLst/>
          </a:prstGeom>
          <a:noFill/>
          <a:ln/>
        </p:spPr>
        <p:txBody>
          <a:bodyPr wrap="square" lIns="0" tIns="0" rIns="0" bIns="0" rtlCol="0" anchor="t"/>
          <a:lstStyle/>
          <a:p>
            <a:pPr indent="0" marL="0">
              <a:buNone/>
            </a:pPr>
            <a:r>
              <a:rPr lang="en-US" sz="1700" dirty="0">
                <a:solidFill>
                  <a:schemeClr val="accent3"/>
                </a:solidFill>
              </a:rPr>
              <a:t>Planner time per mission alone on one host, and time to target as devices and drones are added.</a:t>
            </a:r>
            <a:endParaRPr lang="en-US" sz="1700" dirty="0"/>
          </a:p>
        </p:txBody>
      </p:sp>
      <p:graphicFrame>
        <p:nvGraphicFramePr>
          <p:cNvPr id="5" name="plan time chart" descr=""/>
          <p:cNvGraphicFramePr/>
          <p:nvPr/>
        </p:nvGraphicFramePr>
        <p:xfrm>
          <a:off x="457200" y="1783080"/>
          <a:ext cx="5669280" cy="4434840"/>
        </p:xfrm>
        <a:graphic xmlns:a="http://schemas.openxmlformats.org/drawingml/2006/main">
          <a:graphicData uri="http://schemas.openxmlformats.org/drawingml/2006/chart">
            <c:chart xmlns:c="http://schemas.openxmlformats.org/drawingml/2006/chart" r:id="rId1"/>
          </a:graphicData>
        </a:graphic>
      </p:graphicFrame>
      <p:sp>
        <p:nvSpPr>
          <p:cNvPr id="6" name="24 devices card"/>
          <p:cNvSpPr/>
          <p:nvPr/>
        </p:nvSpPr>
        <p:spPr>
          <a:xfrm>
            <a:off x="6172200" y="1920240"/>
            <a:ext cx="5470855" cy="2148840"/>
          </a:xfrm>
          <a:prstGeom prst="roundRect">
            <a:avLst>
              <a:gd name="adj" fmla="val 3404"/>
            </a:avLst>
          </a:prstGeom>
          <a:solidFill>
            <a:schemeClr val="bg2"/>
          </a:solidFill>
          <a:ln w="12700">
            <a:solidFill>
              <a:schemeClr val="bg2">
                <a:alpha val="0"/>
              </a:schemeClr>
            </a:solidFill>
            <a:prstDash val="solid"/>
          </a:ln>
        </p:spPr>
      </p:sp>
      <p:sp>
        <p:nvSpPr>
          <p:cNvPr id="7" name="24 devices, 1 drone"/>
          <p:cNvSpPr txBox="1"/>
          <p:nvPr/>
        </p:nvSpPr>
        <p:spPr>
          <a:xfrm>
            <a:off x="6446520" y="2029968"/>
            <a:ext cx="4922215" cy="1965960"/>
          </a:xfrm>
          <a:prstGeom prst="rect">
            <a:avLst/>
          </a:prstGeom>
          <a:noFill/>
          <a:ln/>
        </p:spPr>
        <p:txBody>
          <a:bodyPr wrap="square" lIns="0" tIns="0" rIns="0" bIns="0" rtlCol="0" anchor="ctr"/>
          <a:lstStyle/>
          <a:p>
            <a:pPr indent="0" marL="0">
              <a:spcAft>
                <a:spcPts val="400"/>
              </a:spcAft>
              <a:buNone/>
            </a:pPr>
            <a:r>
              <a:rPr lang="en-US" sz="1700" b="1" dirty="0">
                <a:solidFill>
                  <a:schemeClr val="tx1"/>
                </a:solidFill>
              </a:rPr>
              <a:t>24 devices, 1 drone</a:t>
            </a:r>
            <a:endParaRPr lang="en-US" sz="1700" dirty="0"/>
          </a:p>
          <a:p>
            <a:pPr marL="177800" indent="-177800">
              <a:spcAft>
                <a:spcPts val="400"/>
              </a:spcAft>
              <a:buSzPct val="100000"/>
              <a:buChar char="•"/>
            </a:pPr>
            <a:r>
              <a:rPr lang="en-US" sz="1400" dirty="0">
                <a:solidFill>
                  <a:schemeClr val="tx1"/>
                </a:solidFill>
              </a:rPr>
              <a:t>Knee: F 749 s vs H1 951 s and Whittle 911 s (significant)</a:t>
            </a:r>
            <a:endParaRPr lang="en-US" sz="1700" dirty="0"/>
          </a:p>
          <a:p>
            <a:pPr marL="177800" indent="-177800">
              <a:spcAft>
                <a:spcPts val="400"/>
              </a:spcAft>
              <a:buSzPct val="100000"/>
              <a:buChar char="•"/>
            </a:pPr>
            <a:r>
              <a:rPr lang="en-US" sz="1400" dirty="0">
                <a:solidFill>
                  <a:schemeClr val="tx1"/>
                </a:solidFill>
              </a:rPr>
              <a:t>Ties FedEx's route at the knee (752 s) and beats it under stress (661 vs 752 s)</a:t>
            </a:r>
            <a:endParaRPr lang="en-US" sz="1700" dirty="0"/>
          </a:p>
          <a:p>
            <a:pPr marL="177800" indent="-177800">
              <a:spcAft>
                <a:spcPts val="400"/>
              </a:spcAft>
              <a:buSzPct val="100000"/>
              <a:buChar char="•"/>
            </a:pPr>
            <a:r>
              <a:rPr lang="en-US" sz="1400" dirty="0">
                <a:solidFill>
                  <a:schemeClr val="tx1"/>
                </a:solidFill>
              </a:rPr>
              <a:t>At 12 devices no comparison reached significance</a:t>
            </a:r>
            <a:endParaRPr lang="en-US" sz="1700" dirty="0"/>
          </a:p>
        </p:txBody>
      </p:sp>
      <p:sp>
        <p:nvSpPr>
          <p:cNvPr id="8" name="drones card"/>
          <p:cNvSpPr/>
          <p:nvPr/>
        </p:nvSpPr>
        <p:spPr>
          <a:xfrm>
            <a:off x="6172200" y="4251960"/>
            <a:ext cx="5470855" cy="1874520"/>
          </a:xfrm>
          <a:prstGeom prst="roundRect">
            <a:avLst>
              <a:gd name="adj" fmla="val 3902"/>
            </a:avLst>
          </a:prstGeom>
          <a:solidFill>
            <a:schemeClr val="bg2"/>
          </a:solidFill>
          <a:ln w="12700">
            <a:solidFill>
              <a:schemeClr val="bg2">
                <a:alpha val="0"/>
              </a:schemeClr>
            </a:solidFill>
            <a:prstDash val="solid"/>
          </a:ln>
        </p:spPr>
      </p:sp>
      <p:sp>
        <p:nvSpPr>
          <p:cNvPr id="9" name="drones heading"/>
          <p:cNvSpPr txBox="1"/>
          <p:nvPr/>
        </p:nvSpPr>
        <p:spPr>
          <a:xfrm>
            <a:off x="6446520" y="4361688"/>
            <a:ext cx="4922215" cy="329184"/>
          </a:xfrm>
          <a:prstGeom prst="rect">
            <a:avLst/>
          </a:prstGeom>
          <a:noFill/>
          <a:ln/>
        </p:spPr>
        <p:txBody>
          <a:bodyPr wrap="square" lIns="0" tIns="0" rIns="0" bIns="0" rtlCol="0" anchor="ctr"/>
          <a:lstStyle/>
          <a:p>
            <a:pPr indent="0" marL="0">
              <a:buNone/>
            </a:pPr>
            <a:r>
              <a:rPr lang="en-US" sz="1700" b="1" dirty="0">
                <a:solidFill>
                  <a:schemeClr val="tx1"/>
                </a:solidFill>
              </a:rPr>
              <a:t>Adding drones (12 devices, knee)</a:t>
            </a:r>
            <a:endParaRPr lang="en-US" sz="1700" dirty="0"/>
          </a:p>
        </p:txBody>
      </p:sp>
      <p:sp>
        <p:nvSpPr>
          <p:cNvPr id="10" name="drones 1"/>
          <p:cNvSpPr txBox="1"/>
          <p:nvPr/>
        </p:nvSpPr>
        <p:spPr>
          <a:xfrm>
            <a:off x="6446520" y="4800600"/>
            <a:ext cx="1417320" cy="1097280"/>
          </a:xfrm>
          <a:prstGeom prst="rect">
            <a:avLst/>
          </a:prstGeom>
          <a:noFill/>
          <a:ln/>
        </p:spPr>
        <p:txBody>
          <a:bodyPr wrap="square" lIns="0" tIns="0" rIns="0" bIns="0" rtlCol="0" anchor="ctr"/>
          <a:lstStyle/>
          <a:p>
            <a:pPr algn="ctr" indent="0" marL="0">
              <a:buNone/>
            </a:pPr>
            <a:r>
              <a:rPr lang="en-US" sz="2600" b="1" dirty="0">
                <a:solidFill>
                  <a:schemeClr val="tx1"/>
                </a:solidFill>
              </a:rPr>
              <a:t>486 s</a:t>
            </a:r>
            <a:endParaRPr lang="en-US" sz="2600" dirty="0"/>
          </a:p>
          <a:p>
            <a:pPr algn="ctr" indent="0" marL="0">
              <a:buNone/>
            </a:pPr>
            <a:r>
              <a:rPr lang="en-US" sz="1400" dirty="0">
                <a:solidFill>
                  <a:schemeClr val="accent3"/>
                </a:solidFill>
              </a:rPr>
              <a:t>1 drone</a:t>
            </a:r>
            <a:endParaRPr lang="en-US" sz="2600" dirty="0"/>
          </a:p>
        </p:txBody>
      </p:sp>
      <p:sp>
        <p:nvSpPr>
          <p:cNvPr id="11" name="arrow"/>
          <p:cNvSpPr/>
          <p:nvPr/>
        </p:nvSpPr>
        <p:spPr>
          <a:xfrm>
            <a:off x="7909560" y="5193792"/>
            <a:ext cx="243688" cy="0"/>
          </a:xfrm>
          <a:prstGeom prst="line">
            <a:avLst/>
          </a:prstGeom>
          <a:noFill/>
          <a:ln w="19050">
            <a:solidFill>
              <a:schemeClr val="accent3"/>
            </a:solidFill>
            <a:prstDash val="solid"/>
            <a:tailEnd type="triangle"/>
          </a:ln>
        </p:spPr>
      </p:sp>
      <p:sp>
        <p:nvSpPr>
          <p:cNvPr id="12" name="drones 2"/>
          <p:cNvSpPr txBox="1"/>
          <p:nvPr/>
        </p:nvSpPr>
        <p:spPr>
          <a:xfrm>
            <a:off x="8198968" y="4800600"/>
            <a:ext cx="1417320" cy="1097280"/>
          </a:xfrm>
          <a:prstGeom prst="rect">
            <a:avLst/>
          </a:prstGeom>
          <a:noFill/>
          <a:ln/>
        </p:spPr>
        <p:txBody>
          <a:bodyPr wrap="square" lIns="0" tIns="0" rIns="0" bIns="0" rtlCol="0" anchor="ctr"/>
          <a:lstStyle/>
          <a:p>
            <a:pPr algn="ctr" indent="0" marL="0">
              <a:buNone/>
            </a:pPr>
            <a:r>
              <a:rPr lang="en-US" sz="2600" b="1" dirty="0">
                <a:solidFill>
                  <a:schemeClr val="tx1"/>
                </a:solidFill>
              </a:rPr>
              <a:t>226 s</a:t>
            </a:r>
            <a:endParaRPr lang="en-US" sz="2600" dirty="0"/>
          </a:p>
          <a:p>
            <a:pPr algn="ctr" indent="0" marL="0">
              <a:buNone/>
            </a:pPr>
            <a:r>
              <a:rPr lang="en-US" sz="1400" dirty="0">
                <a:solidFill>
                  <a:schemeClr val="accent3"/>
                </a:solidFill>
              </a:rPr>
              <a:t>2 drones</a:t>
            </a:r>
            <a:endParaRPr lang="en-US" sz="2600" dirty="0"/>
          </a:p>
        </p:txBody>
      </p:sp>
      <p:sp>
        <p:nvSpPr>
          <p:cNvPr id="13" name="arrow"/>
          <p:cNvSpPr/>
          <p:nvPr/>
        </p:nvSpPr>
        <p:spPr>
          <a:xfrm>
            <a:off x="9662008" y="5193792"/>
            <a:ext cx="243688" cy="0"/>
          </a:xfrm>
          <a:prstGeom prst="line">
            <a:avLst/>
          </a:prstGeom>
          <a:noFill/>
          <a:ln w="19050">
            <a:solidFill>
              <a:schemeClr val="accent3"/>
            </a:solidFill>
            <a:prstDash val="solid"/>
            <a:tailEnd type="triangle"/>
          </a:ln>
        </p:spPr>
      </p:sp>
      <p:sp>
        <p:nvSpPr>
          <p:cNvPr id="14" name="drones 3"/>
          <p:cNvSpPr txBox="1"/>
          <p:nvPr/>
        </p:nvSpPr>
        <p:spPr>
          <a:xfrm>
            <a:off x="9951415" y="4800600"/>
            <a:ext cx="1417320" cy="1097280"/>
          </a:xfrm>
          <a:prstGeom prst="rect">
            <a:avLst/>
          </a:prstGeom>
          <a:noFill/>
          <a:ln/>
        </p:spPr>
        <p:txBody>
          <a:bodyPr wrap="square" lIns="0" tIns="0" rIns="0" bIns="0" rtlCol="0" anchor="ctr"/>
          <a:lstStyle/>
          <a:p>
            <a:pPr algn="ctr" indent="0" marL="0">
              <a:buNone/>
            </a:pPr>
            <a:r>
              <a:rPr lang="en-US" sz="2600" b="1" dirty="0">
                <a:solidFill>
                  <a:schemeClr val="accent1"/>
                </a:solidFill>
              </a:rPr>
              <a:t>151 s</a:t>
            </a:r>
            <a:endParaRPr lang="en-US" sz="2600" dirty="0"/>
          </a:p>
          <a:p>
            <a:pPr algn="ctr" indent="0" marL="0">
              <a:buNone/>
            </a:pPr>
            <a:r>
              <a:rPr lang="en-US" sz="1400" dirty="0">
                <a:solidFill>
                  <a:schemeClr val="accent3"/>
                </a:solidFill>
              </a:rPr>
              <a:t>3 drones</a:t>
            </a:r>
            <a:endParaRPr lang="en-US" sz="2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7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RESULTS · DESIGN CLAIMS</a:t>
            </a:r>
            <a:endParaRPr lang="en-US" sz="1200" dirty="0"/>
          </a:p>
        </p:txBody>
      </p:sp>
      <p:sp>
        <p:nvSpPr>
          <p:cNvPr id="3" name="Text 1"/>
          <p:cNvSpPr/>
          <p:nvPr>
            <p:ph idx="102" type="title" hasCustomPrompt="1"/>
          </p:nvPr>
        </p:nvSpPr>
        <p:spPr>
          <a:xfrm>
            <a:off x="548640" y="585216"/>
            <a:ext cx="11094415" cy="658368"/>
          </a:xfrm>
          <a:prstGeom prst="rect">
            <a:avLst/>
          </a:prstGeom>
          <a:noFill/>
          <a:ln/>
        </p:spPr>
        <p:txBody>
          <a:bodyPr wrap="square" lIns="0" tIns="0" rIns="0" bIns="0" rtlCol="0" anchor="t"/>
          <a:lstStyle/>
          <a:p>
            <a:pPr algn="l" indent="0" marL="0">
              <a:buNone/>
            </a:pPr>
            <a:r>
              <a:rPr lang="en-US" sz="3600" b="1" dirty="0">
                <a:solidFill>
                  <a:schemeClr val="tx1"/>
                </a:solidFill>
              </a:rPr>
              <a:t>Fresher updates under tight budgets</a:t>
            </a:r>
            <a:endParaRPr lang="en-US" sz="3600" dirty="0"/>
          </a:p>
        </p:txBody>
      </p:sp>
      <p:sp>
        <p:nvSpPr>
          <p:cNvPr id="4" name="Text 1"/>
          <p:cNvSpPr/>
          <p:nvPr>
            <p:ph idx="103" type="body" hasCustomPrompt="1"/>
          </p:nvPr>
        </p:nvSpPr>
        <p:spPr>
          <a:xfrm>
            <a:off x="548640" y="1298448"/>
            <a:ext cx="11094415" cy="411480"/>
          </a:xfrm>
          <a:prstGeom prst="rect">
            <a:avLst/>
          </a:prstGeom>
          <a:noFill/>
          <a:ln/>
        </p:spPr>
        <p:txBody>
          <a:bodyPr wrap="square" lIns="0" tIns="0" rIns="0" bIns="0" rtlCol="0" anchor="t"/>
          <a:lstStyle/>
          <a:p>
            <a:pPr indent="0" marL="0">
              <a:buNone/>
            </a:pPr>
            <a:r>
              <a:rPr lang="en-US" sz="1700" dirty="0">
                <a:solidFill>
                  <a:schemeClr val="accent3"/>
                </a:solidFill>
              </a:rPr>
              <a:t>Age of updates under the stress budget: missions since each device was last merged (lower is better).</a:t>
            </a:r>
            <a:endParaRPr lang="en-US" sz="1700" dirty="0"/>
          </a:p>
        </p:txBody>
      </p:sp>
      <p:graphicFrame>
        <p:nvGraphicFramePr>
          <p:cNvPr id="5" name="age chart" descr=""/>
          <p:cNvGraphicFramePr/>
          <p:nvPr/>
        </p:nvGraphicFramePr>
        <p:xfrm>
          <a:off x="457200" y="1783080"/>
          <a:ext cx="6035040" cy="3657600"/>
        </p:xfrm>
        <a:graphic xmlns:a="http://schemas.openxmlformats.org/drawingml/2006/main">
          <a:graphicData uri="http://schemas.openxmlformats.org/drawingml/2006/chart">
            <c:chart xmlns:c="http://schemas.openxmlformats.org/drawingml/2006/chart" r:id="rId1"/>
          </a:graphicData>
        </a:graphic>
      </p:graphicFrame>
      <p:sp>
        <p:nvSpPr>
          <p:cNvPr id="6" name="age footnote"/>
          <p:cNvSpPr txBox="1"/>
          <p:nvPr/>
        </p:nvSpPr>
        <p:spPr>
          <a:xfrm>
            <a:off x="548640" y="5532120"/>
            <a:ext cx="5669280" cy="274320"/>
          </a:xfrm>
          <a:prstGeom prst="rect">
            <a:avLst/>
          </a:prstGeom>
          <a:noFill/>
          <a:ln/>
        </p:spPr>
        <p:txBody>
          <a:bodyPr wrap="square" lIns="0" tIns="0" rIns="0" bIns="0" rtlCol="0" anchor="ctr"/>
          <a:lstStyle/>
          <a:p>
            <a:pPr indent="0" marL="0">
              <a:buNone/>
            </a:pPr>
            <a:r>
              <a:rPr lang="en-US" sz="1200" i="1" dirty="0">
                <a:solidFill>
                  <a:schemeClr val="accent3"/>
                </a:solidFill>
              </a:rPr>
              <a:t>All three differences are significant (Holm p ≤ 0.009).</a:t>
            </a:r>
            <a:endParaRPr lang="en-US" sz="1200" dirty="0"/>
          </a:p>
        </p:txBody>
      </p:sp>
      <p:sp>
        <p:nvSpPr>
          <p:cNvPr id="7" name="matters card"/>
          <p:cNvSpPr/>
          <p:nvPr/>
        </p:nvSpPr>
        <p:spPr>
          <a:xfrm>
            <a:off x="6400800" y="1874520"/>
            <a:ext cx="5242255" cy="2148840"/>
          </a:xfrm>
          <a:prstGeom prst="roundRect">
            <a:avLst>
              <a:gd name="adj" fmla="val 3404"/>
            </a:avLst>
          </a:prstGeom>
          <a:solidFill>
            <a:schemeClr val="accent2">
              <a:alpha val="12000"/>
            </a:schemeClr>
          </a:solidFill>
          <a:ln w="12700">
            <a:solidFill>
              <a:schemeClr val="accent2">
                <a:alpha val="0"/>
              </a:schemeClr>
            </a:solidFill>
            <a:prstDash val="solid"/>
          </a:ln>
        </p:spPr>
      </p:sp>
      <p:sp>
        <p:nvSpPr>
          <p:cNvPr id="8" name="Design choices that matter"/>
          <p:cNvSpPr txBox="1"/>
          <p:nvPr/>
        </p:nvSpPr>
        <p:spPr>
          <a:xfrm>
            <a:off x="6675120" y="1984248"/>
            <a:ext cx="4693615" cy="1965960"/>
          </a:xfrm>
          <a:prstGeom prst="rect">
            <a:avLst/>
          </a:prstGeom>
          <a:noFill/>
          <a:ln/>
        </p:spPr>
        <p:txBody>
          <a:bodyPr wrap="square" lIns="0" tIns="0" rIns="0" bIns="0" rtlCol="0" anchor="ctr"/>
          <a:lstStyle/>
          <a:p>
            <a:pPr indent="0" marL="0">
              <a:spcAft>
                <a:spcPts val="400"/>
              </a:spcAft>
              <a:buNone/>
            </a:pPr>
            <a:r>
              <a:rPr lang="en-US" sz="1700" b="1" dirty="0">
                <a:solidFill>
                  <a:schemeClr val="tx1"/>
                </a:solidFill>
              </a:rPr>
              <a:t>Design choices that matter</a:t>
            </a:r>
            <a:endParaRPr lang="en-US" sz="1700" dirty="0"/>
          </a:p>
          <a:p>
            <a:pPr marL="177800" indent="-177800">
              <a:spcAft>
                <a:spcPts val="400"/>
              </a:spcAft>
              <a:buSzPct val="100000"/>
              <a:buChar char="•"/>
            </a:pPr>
            <a:r>
              <a:rPr lang="en-US" sz="1400" dirty="0">
                <a:solidFill>
                  <a:schemeClr val="tx1"/>
                </a:solidFill>
              </a:rPr>
              <a:t>Coverage term: without it, rounds closed fall from 99% to 74% (12 devices)</a:t>
            </a:r>
            <a:endParaRPr lang="en-US" sz="1700" dirty="0"/>
          </a:p>
          <a:p>
            <a:pPr marL="177800" indent="-177800">
              <a:spcAft>
                <a:spcPts val="400"/>
              </a:spcAft>
              <a:buSzPct val="100000"/>
              <a:buChar char="•"/>
            </a:pPr>
            <a:r>
              <a:rPr lang="en-US" sz="1400" dirty="0">
                <a:solidFill>
                  <a:schemeClr val="tx1"/>
                </a:solidFill>
              </a:rPr>
              <a:t>About 26% fresher than age-of-information schedulers</a:t>
            </a:r>
            <a:endParaRPr lang="en-US" sz="1700" dirty="0"/>
          </a:p>
          <a:p>
            <a:pPr marL="177800" indent="-177800">
              <a:spcAft>
                <a:spcPts val="400"/>
              </a:spcAft>
              <a:buSzPct val="100000"/>
              <a:buChar char="•"/>
            </a:pPr>
            <a:r>
              <a:rPr lang="en-US" sz="1400" dirty="0">
                <a:solidFill>
                  <a:schemeClr val="tx1"/>
                </a:solidFill>
              </a:rPr>
              <a:t>Adaptive backhaul carrier: age 0.88 → 0.69 missions</a:t>
            </a:r>
            <a:endParaRPr lang="en-US" sz="1700" dirty="0"/>
          </a:p>
        </p:txBody>
      </p:sp>
      <p:sp>
        <p:nvSpPr>
          <p:cNvPr id="9" name="no effect card"/>
          <p:cNvSpPr/>
          <p:nvPr/>
        </p:nvSpPr>
        <p:spPr>
          <a:xfrm>
            <a:off x="6400800" y="4206240"/>
            <a:ext cx="5242255" cy="1920240"/>
          </a:xfrm>
          <a:prstGeom prst="roundRect">
            <a:avLst>
              <a:gd name="adj" fmla="val 3810"/>
            </a:avLst>
          </a:prstGeom>
          <a:solidFill>
            <a:schemeClr val="bg2"/>
          </a:solidFill>
          <a:ln w="12700">
            <a:solidFill>
              <a:schemeClr val="bg2">
                <a:alpha val="0"/>
              </a:schemeClr>
            </a:solidFill>
            <a:prstDash val="solid"/>
          </a:ln>
        </p:spPr>
      </p:sp>
      <p:sp>
        <p:nvSpPr>
          <p:cNvPr id="10" name="No measurable effect at our settings"/>
          <p:cNvSpPr txBox="1"/>
          <p:nvPr/>
        </p:nvSpPr>
        <p:spPr>
          <a:xfrm>
            <a:off x="6675120" y="4315968"/>
            <a:ext cx="4693615" cy="1737360"/>
          </a:xfrm>
          <a:prstGeom prst="rect">
            <a:avLst/>
          </a:prstGeom>
          <a:noFill/>
          <a:ln/>
        </p:spPr>
        <p:txBody>
          <a:bodyPr wrap="square" lIns="0" tIns="0" rIns="0" bIns="0" rtlCol="0" anchor="ctr"/>
          <a:lstStyle/>
          <a:p>
            <a:pPr indent="0" marL="0">
              <a:spcAft>
                <a:spcPts val="400"/>
              </a:spcAft>
              <a:buNone/>
            </a:pPr>
            <a:r>
              <a:rPr lang="en-US" sz="1700" b="1" dirty="0">
                <a:solidFill>
                  <a:schemeClr val="tx1"/>
                </a:solidFill>
              </a:rPr>
              <a:t>No measurable effect at our settings</a:t>
            </a:r>
            <a:endParaRPr lang="en-US" sz="1700" dirty="0"/>
          </a:p>
          <a:p>
            <a:pPr indent="0" marL="0">
              <a:buNone/>
            </a:pPr>
            <a:r>
              <a:rPr lang="en-US" sz="1400" dirty="0">
                <a:solidFill>
                  <a:schemeClr val="tx1"/>
                </a:solidFill>
              </a:rPr>
              <a:t>Pinning the band (on age), the dwell term, the age cap over 4 missions, other merge rules (updates almost always arrive fresh), and FedCS- or Oort-style deadlines.</a:t>
            </a:r>
            <a:endParaRPr lang="en-US" sz="17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7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RESULTS · JOINT RL MODEL</a:t>
            </a:r>
            <a:endParaRPr lang="en-US" sz="1200" dirty="0"/>
          </a:p>
        </p:txBody>
      </p:sp>
      <p:sp>
        <p:nvSpPr>
          <p:cNvPr id="3" name="Text 1"/>
          <p:cNvSpPr/>
          <p:nvPr>
            <p:ph idx="102" type="title" hasCustomPrompt="1"/>
          </p:nvPr>
        </p:nvSpPr>
        <p:spPr>
          <a:xfrm>
            <a:off x="548640" y="585216"/>
            <a:ext cx="11094415" cy="658368"/>
          </a:xfrm>
          <a:prstGeom prst="rect">
            <a:avLst/>
          </a:prstGeom>
          <a:noFill/>
          <a:ln/>
        </p:spPr>
        <p:txBody>
          <a:bodyPr wrap="square" lIns="0" tIns="0" rIns="0" bIns="0" rtlCol="0" anchor="t"/>
          <a:lstStyle/>
          <a:p>
            <a:pPr algn="l" indent="0" marL="0">
              <a:buNone/>
            </a:pPr>
            <a:r>
              <a:rPr lang="en-US" sz="3600" b="1" dirty="0">
                <a:solidFill>
                  <a:schemeClr val="tx1"/>
                </a:solidFill>
              </a:rPr>
              <a:t>Learning helps only inside the plan</a:t>
            </a:r>
            <a:endParaRPr lang="en-US" sz="3600" dirty="0"/>
          </a:p>
        </p:txBody>
      </p:sp>
      <p:sp>
        <p:nvSpPr>
          <p:cNvPr id="4" name="Text 1"/>
          <p:cNvSpPr/>
          <p:nvPr>
            <p:ph idx="103" type="body" hasCustomPrompt="1"/>
          </p:nvPr>
        </p:nvSpPr>
        <p:spPr>
          <a:xfrm>
            <a:off x="548640" y="1298448"/>
            <a:ext cx="11094415" cy="411480"/>
          </a:xfrm>
          <a:prstGeom prst="rect">
            <a:avLst/>
          </a:prstGeom>
          <a:noFill/>
          <a:ln/>
        </p:spPr>
        <p:txBody>
          <a:bodyPr wrap="square" lIns="0" tIns="0" rIns="0" bIns="0" rtlCol="0" anchor="t"/>
          <a:lstStyle/>
          <a:p>
            <a:pPr indent="0" marL="0">
              <a:buNone/>
            </a:pPr>
            <a:r>
              <a:rPr lang="en-US" sz="1700" dirty="0">
                <a:solidFill>
                  <a:schemeClr val="accent3"/>
                </a:solidFill>
              </a:rPr>
              <a:t>Time to 71% accuracy, 6 devices, 1 drone, knee budget. E3 is a learned DQN scheduler with no plan.</a:t>
            </a:r>
            <a:endParaRPr lang="en-US" sz="1700" dirty="0"/>
          </a:p>
        </p:txBody>
      </p:sp>
      <p:graphicFrame>
        <p:nvGraphicFramePr>
          <p:cNvPr id="5" name="learning chart" descr=""/>
          <p:cNvGraphicFramePr/>
          <p:nvPr/>
        </p:nvGraphicFramePr>
        <p:xfrm>
          <a:off x="457200" y="1783080"/>
          <a:ext cx="6035040" cy="3657600"/>
        </p:xfrm>
        <a:graphic xmlns:a="http://schemas.openxmlformats.org/drawingml/2006/main">
          <a:graphicData uri="http://schemas.openxmlformats.org/drawingml/2006/chart">
            <c:chart xmlns:c="http://schemas.openxmlformats.org/drawingml/2006/chart" r:id="rId1"/>
          </a:graphicData>
        </a:graphic>
      </p:graphicFrame>
      <p:sp>
        <p:nvSpPr>
          <p:cNvPr id="6" name="Pre-registered test: flat"/>
          <p:cNvSpPr/>
          <p:nvPr/>
        </p:nvSpPr>
        <p:spPr>
          <a:xfrm>
            <a:off x="6400800" y="1874520"/>
            <a:ext cx="5242255" cy="1325880"/>
          </a:xfrm>
          <a:prstGeom prst="roundRect">
            <a:avLst>
              <a:gd name="adj" fmla="val 5517"/>
            </a:avLst>
          </a:prstGeom>
          <a:solidFill>
            <a:schemeClr val="bg2"/>
          </a:solidFill>
          <a:ln w="12700">
            <a:solidFill>
              <a:schemeClr val="bg2">
                <a:alpha val="0"/>
              </a:schemeClr>
            </a:solidFill>
            <a:prstDash val="solid"/>
          </a:ln>
        </p:spPr>
      </p:sp>
      <p:sp>
        <p:nvSpPr>
          <p:cNvPr id="7" name="Pre-registered test: flat"/>
          <p:cNvSpPr txBox="1"/>
          <p:nvPr/>
        </p:nvSpPr>
        <p:spPr>
          <a:xfrm>
            <a:off x="6675120" y="1965960"/>
            <a:ext cx="4693615" cy="1143000"/>
          </a:xfrm>
          <a:prstGeom prst="rect">
            <a:avLst/>
          </a:prstGeom>
          <a:noFill/>
          <a:ln/>
        </p:spPr>
        <p:txBody>
          <a:bodyPr wrap="square" lIns="0" tIns="0" rIns="0" bIns="0" rtlCol="0" anchor="ctr"/>
          <a:lstStyle/>
          <a:p>
            <a:pPr indent="0" marL="0">
              <a:spcAft>
                <a:spcPts val="400"/>
              </a:spcAft>
              <a:buNone/>
            </a:pPr>
            <a:r>
              <a:rPr lang="en-US" sz="1600" b="1" dirty="0">
                <a:solidFill>
                  <a:schemeClr val="tx1"/>
                </a:solidFill>
              </a:rPr>
              <a:t>Pre-registered test: flat</a:t>
            </a:r>
            <a:endParaRPr lang="en-US" sz="1600" dirty="0"/>
          </a:p>
          <a:p>
            <a:pPr indent="0" marL="0">
              <a:buNone/>
            </a:pPr>
            <a:r>
              <a:rPr lang="en-US" sz="1400" dirty="0">
                <a:solidFill>
                  <a:schemeClr val="tx1"/>
                </a:solidFill>
              </a:rPr>
              <a:t>No discount γ beat γ = 0, and FQ matched FX (and F). FX stays FeRRy's per-stop rule.</a:t>
            </a:r>
            <a:endParaRPr lang="en-US" sz="1600" dirty="0"/>
          </a:p>
        </p:txBody>
      </p:sp>
      <p:sp>
        <p:nvSpPr>
          <p:cNvPr id="8" name="Exploratory: FQ vs E3"/>
          <p:cNvSpPr/>
          <p:nvPr/>
        </p:nvSpPr>
        <p:spPr>
          <a:xfrm>
            <a:off x="6400800" y="3310128"/>
            <a:ext cx="5242255" cy="1325880"/>
          </a:xfrm>
          <a:prstGeom prst="roundRect">
            <a:avLst>
              <a:gd name="adj" fmla="val 5517"/>
            </a:avLst>
          </a:prstGeom>
          <a:solidFill>
            <a:schemeClr val="bg2"/>
          </a:solidFill>
          <a:ln w="12700">
            <a:solidFill>
              <a:schemeClr val="bg2">
                <a:alpha val="0"/>
              </a:schemeClr>
            </a:solidFill>
            <a:prstDash val="solid"/>
          </a:ln>
        </p:spPr>
      </p:sp>
      <p:sp>
        <p:nvSpPr>
          <p:cNvPr id="9" name="Exploratory: FQ vs E3"/>
          <p:cNvSpPr txBox="1"/>
          <p:nvPr/>
        </p:nvSpPr>
        <p:spPr>
          <a:xfrm>
            <a:off x="6675120" y="3401568"/>
            <a:ext cx="4693615" cy="1143000"/>
          </a:xfrm>
          <a:prstGeom prst="rect">
            <a:avLst/>
          </a:prstGeom>
          <a:noFill/>
          <a:ln/>
        </p:spPr>
        <p:txBody>
          <a:bodyPr wrap="square" lIns="0" tIns="0" rIns="0" bIns="0" rtlCol="0" anchor="ctr"/>
          <a:lstStyle/>
          <a:p>
            <a:pPr indent="0" marL="0">
              <a:spcAft>
                <a:spcPts val="400"/>
              </a:spcAft>
              <a:buNone/>
            </a:pPr>
            <a:r>
              <a:rPr lang="en-US" sz="1600" b="1" dirty="0">
                <a:solidFill>
                  <a:schemeClr val="tx1"/>
                </a:solidFill>
              </a:rPr>
              <a:t>Exploratory: FQ vs E3</a:t>
            </a:r>
            <a:endParaRPr lang="en-US" sz="1600" dirty="0"/>
          </a:p>
          <a:p>
            <a:pPr indent="0" marL="0">
              <a:buNone/>
            </a:pPr>
            <a:r>
              <a:rPr lang="en-US" sz="1400" dirty="0">
                <a:solidFill>
                  <a:schemeClr val="tx1"/>
                </a:solidFill>
              </a:rPr>
              <a:t>180 vs 280 s at the knee: 100 s faster (95% CI 63–141 s; Holm p &lt; 0.001). Under stress, 174 vs 211 s, not significant.</a:t>
            </a:r>
            <a:endParaRPr lang="en-US" sz="1600" dirty="0"/>
          </a:p>
        </p:txBody>
      </p:sp>
      <p:sp>
        <p:nvSpPr>
          <p:cNvPr id="10" name="Why"/>
          <p:cNvSpPr/>
          <p:nvPr/>
        </p:nvSpPr>
        <p:spPr>
          <a:xfrm>
            <a:off x="6400800" y="4745736"/>
            <a:ext cx="5242255" cy="1325880"/>
          </a:xfrm>
          <a:prstGeom prst="roundRect">
            <a:avLst>
              <a:gd name="adj" fmla="val 5517"/>
            </a:avLst>
          </a:prstGeom>
          <a:solidFill>
            <a:schemeClr val="accent1">
              <a:alpha val="14000"/>
            </a:schemeClr>
          </a:solidFill>
          <a:ln w="12700">
            <a:solidFill>
              <a:schemeClr val="accent1">
                <a:alpha val="0"/>
              </a:schemeClr>
            </a:solidFill>
            <a:prstDash val="solid"/>
          </a:ln>
        </p:spPr>
      </p:sp>
      <p:sp>
        <p:nvSpPr>
          <p:cNvPr id="11" name="Why"/>
          <p:cNvSpPr txBox="1"/>
          <p:nvPr/>
        </p:nvSpPr>
        <p:spPr>
          <a:xfrm>
            <a:off x="6675120" y="4837176"/>
            <a:ext cx="4693615" cy="1143000"/>
          </a:xfrm>
          <a:prstGeom prst="rect">
            <a:avLst/>
          </a:prstGeom>
          <a:noFill/>
          <a:ln/>
        </p:spPr>
        <p:txBody>
          <a:bodyPr wrap="square" lIns="0" tIns="0" rIns="0" bIns="0" rtlCol="0" anchor="ctr"/>
          <a:lstStyle/>
          <a:p>
            <a:pPr indent="0" marL="0">
              <a:spcAft>
                <a:spcPts val="400"/>
              </a:spcAft>
              <a:buNone/>
            </a:pPr>
            <a:r>
              <a:rPr lang="en-US" sz="1600" b="1" dirty="0">
                <a:solidFill>
                  <a:schemeClr val="tx1"/>
                </a:solidFill>
              </a:rPr>
              <a:t>Why</a:t>
            </a:r>
            <a:endParaRPr lang="en-US" sz="1600" dirty="0"/>
          </a:p>
          <a:p>
            <a:pPr indent="0" marL="0">
              <a:buNone/>
            </a:pPr>
            <a:r>
              <a:rPr lang="en-US" sz="1400" dirty="0">
                <a:solidFill>
                  <a:schemeClr val="tx1"/>
                </a:solidFill>
              </a:rPr>
              <a:t>FQ inherits the plan's band: 15 s of a 155 s mission is flying, vs 144 s of 228 s for E3. The gain is the plan, not the learning.</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7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548640" y="310896"/>
            <a:ext cx="9144000" cy="274320"/>
          </a:xfrm>
          <a:prstGeom prst="rect">
            <a:avLst/>
          </a:prstGeom>
          <a:noFill/>
          <a:ln/>
        </p:spPr>
        <p:txBody>
          <a:bodyPr wrap="square" lIns="0" tIns="0" rIns="0" bIns="0" rtlCol="0" anchor="t"/>
          <a:lstStyle/>
          <a:p>
            <a:pPr indent="0" marL="0">
              <a:buNone/>
            </a:pPr>
            <a:r>
              <a:rPr lang="en-US" sz="1200" b="1" spc="150" kern="0" dirty="0">
                <a:solidFill>
                  <a:schemeClr val="accent2"/>
                </a:solidFill>
              </a:rPr>
              <a:t>LIMITATIONS</a:t>
            </a:r>
            <a:endParaRPr lang="en-US" sz="1200" dirty="0"/>
          </a:p>
        </p:txBody>
      </p:sp>
      <p:sp>
        <p:nvSpPr>
          <p:cNvPr id="3" name="Text 1"/>
          <p:cNvSpPr/>
          <p:nvPr>
            <p:ph idx="102" type="title" hasCustomPrompt="1"/>
          </p:nvPr>
        </p:nvSpPr>
        <p:spPr>
          <a:xfrm>
            <a:off x="548640" y="585216"/>
            <a:ext cx="11094415" cy="658368"/>
          </a:xfrm>
          <a:prstGeom prst="rect">
            <a:avLst/>
          </a:prstGeom>
          <a:noFill/>
          <a:ln/>
        </p:spPr>
        <p:txBody>
          <a:bodyPr wrap="square" lIns="0" tIns="0" rIns="0" bIns="0" rtlCol="0" anchor="t"/>
          <a:lstStyle/>
          <a:p>
            <a:pPr algn="l" indent="0" marL="0">
              <a:buNone/>
            </a:pPr>
            <a:r>
              <a:rPr lang="en-US" sz="3600" b="1" dirty="0">
                <a:solidFill>
                  <a:schemeClr val="tx1"/>
                </a:solidFill>
              </a:rPr>
              <a:t>Limits we measured</a:t>
            </a:r>
            <a:endParaRPr lang="en-US" sz="3600" dirty="0"/>
          </a:p>
        </p:txBody>
      </p:sp>
      <p:sp>
        <p:nvSpPr>
          <p:cNvPr id="4" name="Text 1"/>
          <p:cNvSpPr/>
          <p:nvPr>
            <p:ph idx="103" type="body" hasCustomPrompt="1"/>
          </p:nvPr>
        </p:nvSpPr>
        <p:spPr>
          <a:xfrm>
            <a:off x="548640" y="1298448"/>
            <a:ext cx="11094415" cy="411480"/>
          </a:xfrm>
          <a:prstGeom prst="rect">
            <a:avLst/>
          </a:prstGeom>
          <a:noFill/>
          <a:ln/>
        </p:spPr>
        <p:txBody>
          <a:bodyPr wrap="square" lIns="0" tIns="0" rIns="0" bIns="0" rtlCol="0" anchor="t"/>
          <a:lstStyle/>
          <a:p>
            <a:pPr indent="0" marL="0">
              <a:buNone/>
            </a:pPr>
            <a:r>
              <a:rPr lang="en-US" sz="1700" dirty="0">
                <a:solidFill>
                  <a:schemeClr val="accent3"/>
                </a:solidFill>
              </a:rPr>
              <a:t>Two limits matter most, and each comes from something the plan does not price.</a:t>
            </a:r>
            <a:endParaRPr lang="en-US" sz="1700" dirty="0"/>
          </a:p>
        </p:txBody>
      </p:sp>
      <p:sp>
        <p:nvSpPr>
          <p:cNvPr id="5" name="limit 1"/>
          <p:cNvSpPr/>
          <p:nvPr/>
        </p:nvSpPr>
        <p:spPr>
          <a:xfrm>
            <a:off x="548640" y="1828800"/>
            <a:ext cx="5455768" cy="3977640"/>
          </a:xfrm>
          <a:prstGeom prst="roundRect">
            <a:avLst>
              <a:gd name="adj" fmla="val 1839"/>
            </a:avLst>
          </a:prstGeom>
          <a:solidFill>
            <a:schemeClr val="bg2"/>
          </a:solidFill>
          <a:ln w="12700">
            <a:solidFill>
              <a:schemeClr val="bg2">
                <a:alpha val="0"/>
              </a:schemeClr>
            </a:solidFill>
            <a:prstDash val="solid"/>
          </a:ln>
        </p:spPr>
      </p:sp>
      <p:sp>
        <p:nvSpPr>
          <p:cNvPr id="6" name="Tight budgets: 3 in 10 missions finish late circle"/>
          <p:cNvSpPr/>
          <p:nvPr/>
        </p:nvSpPr>
        <p:spPr>
          <a:xfrm>
            <a:off x="822960" y="2029968"/>
            <a:ext cx="548640" cy="548640"/>
          </a:xfrm>
          <a:prstGeom prst="ellipse">
            <a:avLst/>
          </a:prstGeom>
          <a:solidFill>
            <a:schemeClr val="accent4"/>
          </a:solidFill>
          <a:ln w="12700">
            <a:solidFill>
              <a:schemeClr val="accent4">
                <a:alpha val="0"/>
              </a:schemeClr>
            </a:solidFill>
            <a:prstDash val="solid"/>
          </a:ln>
        </p:spPr>
      </p:sp>
      <p:pic>
        <p:nvPicPr>
          <p:cNvPr id="7" name="Tight budgets: 3 in 10 missions finish late glyph" descr="preencoded.png">    </p:cNvPr>
          <p:cNvPicPr>
            <a:picLocks noChangeAspect="1"/>
          </p:cNvPicPr>
          <p:nvPr/>
        </p:nvPicPr>
        <p:blipFill>
          <a:blip r:embed="rId1"/>
          <a:stretch>
            <a:fillRect/>
          </a:stretch>
        </p:blipFill>
        <p:spPr>
          <a:xfrm>
            <a:off x="943661" y="2150669"/>
            <a:ext cx="307238" cy="307238"/>
          </a:xfrm>
          <a:prstGeom prst="rect">
            <a:avLst/>
          </a:prstGeom>
        </p:spPr>
      </p:pic>
      <p:sp>
        <p:nvSpPr>
          <p:cNvPr id="8" name="Tight budgets: 3 in 10 missions finish late title"/>
          <p:cNvSpPr txBox="1"/>
          <p:nvPr/>
        </p:nvSpPr>
        <p:spPr>
          <a:xfrm>
            <a:off x="1508760" y="2029968"/>
            <a:ext cx="4267048" cy="548640"/>
          </a:xfrm>
          <a:prstGeom prst="rect">
            <a:avLst/>
          </a:prstGeom>
          <a:noFill/>
          <a:ln/>
        </p:spPr>
        <p:txBody>
          <a:bodyPr wrap="square" lIns="0" tIns="0" rIns="0" bIns="0" rtlCol="0" anchor="ctr"/>
          <a:lstStyle/>
          <a:p>
            <a:pPr indent="0" marL="0">
              <a:buNone/>
            </a:pPr>
            <a:r>
              <a:rPr lang="en-US" sz="1900" b="1" dirty="0">
                <a:solidFill>
                  <a:schemeClr val="tx1"/>
                </a:solidFill>
              </a:rPr>
              <a:t>Tight budgets: 3 in 10 missions finish late</a:t>
            </a:r>
            <a:endParaRPr lang="en-US" sz="1900" dirty="0"/>
          </a:p>
        </p:txBody>
      </p:sp>
      <p:sp>
        <p:nvSpPr>
          <p:cNvPr id="9" name="Tight budgets: 3 in 10 missions finish late What happens label"/>
          <p:cNvSpPr txBox="1"/>
          <p:nvPr/>
        </p:nvSpPr>
        <p:spPr>
          <a:xfrm>
            <a:off x="822960" y="2743200"/>
            <a:ext cx="1051560" cy="274320"/>
          </a:xfrm>
          <a:prstGeom prst="rect">
            <a:avLst/>
          </a:prstGeom>
          <a:noFill/>
          <a:ln/>
        </p:spPr>
        <p:txBody>
          <a:bodyPr wrap="square" lIns="0" tIns="0" rIns="0" bIns="0" rtlCol="0" anchor="t"/>
          <a:lstStyle/>
          <a:p>
            <a:pPr indent="0" marL="0">
              <a:buNone/>
            </a:pPr>
            <a:r>
              <a:rPr lang="en-US" sz="1300" b="1" dirty="0">
                <a:solidFill>
                  <a:schemeClr val="accent3"/>
                </a:solidFill>
              </a:rPr>
              <a:t>What happens</a:t>
            </a:r>
            <a:endParaRPr lang="en-US" sz="1300" dirty="0"/>
          </a:p>
        </p:txBody>
      </p:sp>
      <p:sp>
        <p:nvSpPr>
          <p:cNvPr id="10" name="Tight budgets: 3 in 10 missions finish late What happens"/>
          <p:cNvSpPr txBox="1"/>
          <p:nvPr/>
        </p:nvSpPr>
        <p:spPr>
          <a:xfrm>
            <a:off x="1920240" y="2743200"/>
            <a:ext cx="3855568" cy="1097280"/>
          </a:xfrm>
          <a:prstGeom prst="rect">
            <a:avLst/>
          </a:prstGeom>
          <a:noFill/>
          <a:ln/>
        </p:spPr>
        <p:txBody>
          <a:bodyPr wrap="square" lIns="0" tIns="0" rIns="0" bIns="0" rtlCol="0" anchor="t"/>
          <a:lstStyle/>
          <a:p>
            <a:pPr indent="0" marL="0">
              <a:buNone/>
            </a:pPr>
            <a:r>
              <a:rPr lang="en-US" sz="1400" dirty="0">
                <a:solidFill>
                  <a:schemeClr val="tx1"/>
                </a:solidFill>
              </a:rPr>
              <a:t>Under the stress budget, 30% of F's missions overrun, by about 28 s on a 75 s budget. FedEx's route, which never skips a device, overruns in 85%.</a:t>
            </a:r>
            <a:endParaRPr lang="en-US" sz="1400" dirty="0"/>
          </a:p>
        </p:txBody>
      </p:sp>
      <p:sp>
        <p:nvSpPr>
          <p:cNvPr id="11" name="Tight budgets: 3 in 10 missions finish late Why label"/>
          <p:cNvSpPr txBox="1"/>
          <p:nvPr/>
        </p:nvSpPr>
        <p:spPr>
          <a:xfrm>
            <a:off x="822960" y="3886200"/>
            <a:ext cx="1051560" cy="274320"/>
          </a:xfrm>
          <a:prstGeom prst="rect">
            <a:avLst/>
          </a:prstGeom>
          <a:noFill/>
          <a:ln/>
        </p:spPr>
        <p:txBody>
          <a:bodyPr wrap="square" lIns="0" tIns="0" rIns="0" bIns="0" rtlCol="0" anchor="t"/>
          <a:lstStyle/>
          <a:p>
            <a:pPr indent="0" marL="0">
              <a:buNone/>
            </a:pPr>
            <a:r>
              <a:rPr lang="en-US" sz="1300" b="1" dirty="0">
                <a:solidFill>
                  <a:schemeClr val="accent3"/>
                </a:solidFill>
              </a:rPr>
              <a:t>Why</a:t>
            </a:r>
            <a:endParaRPr lang="en-US" sz="1300" dirty="0"/>
          </a:p>
        </p:txBody>
      </p:sp>
      <p:sp>
        <p:nvSpPr>
          <p:cNvPr id="12" name="Tight budgets: 3 in 10 missions finish late Why"/>
          <p:cNvSpPr txBox="1"/>
          <p:nvPr/>
        </p:nvSpPr>
        <p:spPr>
          <a:xfrm>
            <a:off x="1920240" y="3886200"/>
            <a:ext cx="3855568" cy="1371600"/>
          </a:xfrm>
          <a:prstGeom prst="rect">
            <a:avLst/>
          </a:prstGeom>
          <a:noFill/>
          <a:ln/>
        </p:spPr>
        <p:txBody>
          <a:bodyPr wrap="square" lIns="0" tIns="0" rIns="0" bIns="0" rtlCol="0" anchor="t"/>
          <a:lstStyle/>
          <a:p>
            <a:pPr indent="0" marL="0">
              <a:buNone/>
            </a:pPr>
            <a:r>
              <a:rPr lang="en-US" sz="1400" dirty="0">
                <a:solidFill>
                  <a:schemeClr val="tx1"/>
                </a:solidFill>
              </a:rPr>
              <a:t>The plan prices the average signal, but interference and shadowing make the real signal dip, so transfers take longer than planned. Most of F's mission is transfer time (85 of 155 s), and nothing re-checks after the last stop.</a:t>
            </a:r>
            <a:endParaRPr lang="en-US" sz="1400" dirty="0"/>
          </a:p>
        </p:txBody>
      </p:sp>
      <p:sp>
        <p:nvSpPr>
          <p:cNvPr id="13" name="Tight budgets: 3 in 10 missions finish late Next step label"/>
          <p:cNvSpPr txBox="1"/>
          <p:nvPr/>
        </p:nvSpPr>
        <p:spPr>
          <a:xfrm>
            <a:off x="822960" y="5303520"/>
            <a:ext cx="1051560" cy="274320"/>
          </a:xfrm>
          <a:prstGeom prst="rect">
            <a:avLst/>
          </a:prstGeom>
          <a:noFill/>
          <a:ln/>
        </p:spPr>
        <p:txBody>
          <a:bodyPr wrap="square" lIns="0" tIns="0" rIns="0" bIns="0" rtlCol="0" anchor="t"/>
          <a:lstStyle/>
          <a:p>
            <a:pPr indent="0" marL="0">
              <a:buNone/>
            </a:pPr>
            <a:r>
              <a:rPr lang="en-US" sz="1300" b="1" dirty="0">
                <a:solidFill>
                  <a:schemeClr val="accent2"/>
                </a:solidFill>
              </a:rPr>
              <a:t>Next step</a:t>
            </a:r>
            <a:endParaRPr lang="en-US" sz="1300" dirty="0"/>
          </a:p>
        </p:txBody>
      </p:sp>
      <p:sp>
        <p:nvSpPr>
          <p:cNvPr id="14" name="Tight budgets: 3 in 10 missions finish late Next step"/>
          <p:cNvSpPr txBox="1"/>
          <p:nvPr/>
        </p:nvSpPr>
        <p:spPr>
          <a:xfrm>
            <a:off x="1920240" y="5303520"/>
            <a:ext cx="3855568" cy="411480"/>
          </a:xfrm>
          <a:prstGeom prst="rect">
            <a:avLst/>
          </a:prstGeom>
          <a:noFill/>
          <a:ln/>
        </p:spPr>
        <p:txBody>
          <a:bodyPr wrap="square" lIns="0" tIns="0" rIns="0" bIns="0" rtlCol="0" anchor="t"/>
          <a:lstStyle/>
          <a:p>
            <a:pPr indent="0" marL="0">
              <a:buNone/>
            </a:pPr>
            <a:r>
              <a:rPr lang="en-US" sz="1400" dirty="0">
                <a:solidFill>
                  <a:schemeClr val="tx1"/>
                </a:solidFill>
              </a:rPr>
              <a:t>Price the signal's variation, or keep slack in reserve.</a:t>
            </a:r>
            <a:endParaRPr lang="en-US" sz="1400" dirty="0"/>
          </a:p>
        </p:txBody>
      </p:sp>
      <p:sp>
        <p:nvSpPr>
          <p:cNvPr id="15" name="limit 2"/>
          <p:cNvSpPr/>
          <p:nvPr/>
        </p:nvSpPr>
        <p:spPr>
          <a:xfrm>
            <a:off x="6187288" y="1828800"/>
            <a:ext cx="5455768" cy="3977640"/>
          </a:xfrm>
          <a:prstGeom prst="roundRect">
            <a:avLst>
              <a:gd name="adj" fmla="val 1839"/>
            </a:avLst>
          </a:prstGeom>
          <a:solidFill>
            <a:schemeClr val="bg2"/>
          </a:solidFill>
          <a:ln w="12700">
            <a:solidFill>
              <a:schemeClr val="bg2">
                <a:alpha val="0"/>
              </a:schemeClr>
            </a:solidFill>
            <a:prstDash val="solid"/>
          </a:ln>
        </p:spPr>
      </p:sp>
      <p:sp>
        <p:nvSpPr>
          <p:cNvPr id="16" name="Training time: updates are not ready circle"/>
          <p:cNvSpPr/>
          <p:nvPr/>
        </p:nvSpPr>
        <p:spPr>
          <a:xfrm>
            <a:off x="6461608" y="2029968"/>
            <a:ext cx="548640" cy="548640"/>
          </a:xfrm>
          <a:prstGeom prst="ellipse">
            <a:avLst/>
          </a:prstGeom>
          <a:solidFill>
            <a:schemeClr val="accent4"/>
          </a:solidFill>
          <a:ln w="12700">
            <a:solidFill>
              <a:schemeClr val="accent4">
                <a:alpha val="0"/>
              </a:schemeClr>
            </a:solidFill>
            <a:prstDash val="solid"/>
          </a:ln>
        </p:spPr>
      </p:sp>
      <p:pic>
        <p:nvPicPr>
          <p:cNvPr id="17" name="Training time: updates are not ready glyph" descr="preencoded.png">    </p:cNvPr>
          <p:cNvPicPr>
            <a:picLocks noChangeAspect="1"/>
          </p:cNvPicPr>
          <p:nvPr/>
        </p:nvPicPr>
        <p:blipFill>
          <a:blip r:embed="rId2"/>
          <a:stretch>
            <a:fillRect/>
          </a:stretch>
        </p:blipFill>
        <p:spPr>
          <a:xfrm>
            <a:off x="6582308" y="2150669"/>
            <a:ext cx="307238" cy="307238"/>
          </a:xfrm>
          <a:prstGeom prst="rect">
            <a:avLst/>
          </a:prstGeom>
        </p:spPr>
      </p:pic>
      <p:sp>
        <p:nvSpPr>
          <p:cNvPr id="18" name="Training time: updates are not ready title"/>
          <p:cNvSpPr txBox="1"/>
          <p:nvPr/>
        </p:nvSpPr>
        <p:spPr>
          <a:xfrm>
            <a:off x="7147408" y="2029968"/>
            <a:ext cx="4267048" cy="548640"/>
          </a:xfrm>
          <a:prstGeom prst="rect">
            <a:avLst/>
          </a:prstGeom>
          <a:noFill/>
          <a:ln/>
        </p:spPr>
        <p:txBody>
          <a:bodyPr wrap="square" lIns="0" tIns="0" rIns="0" bIns="0" rtlCol="0" anchor="ctr"/>
          <a:lstStyle/>
          <a:p>
            <a:pPr indent="0" marL="0">
              <a:buNone/>
            </a:pPr>
            <a:r>
              <a:rPr lang="en-US" sz="1900" b="1" dirty="0">
                <a:solidFill>
                  <a:schemeClr val="tx1"/>
                </a:solidFill>
              </a:rPr>
              <a:t>Training time: updates are not ready</a:t>
            </a:r>
            <a:endParaRPr lang="en-US" sz="1900" dirty="0"/>
          </a:p>
        </p:txBody>
      </p:sp>
      <p:sp>
        <p:nvSpPr>
          <p:cNvPr id="19" name="Training time: updates are not ready What happens label"/>
          <p:cNvSpPr txBox="1"/>
          <p:nvPr/>
        </p:nvSpPr>
        <p:spPr>
          <a:xfrm>
            <a:off x="6461608" y="2743200"/>
            <a:ext cx="1051560" cy="274320"/>
          </a:xfrm>
          <a:prstGeom prst="rect">
            <a:avLst/>
          </a:prstGeom>
          <a:noFill/>
          <a:ln/>
        </p:spPr>
        <p:txBody>
          <a:bodyPr wrap="square" lIns="0" tIns="0" rIns="0" bIns="0" rtlCol="0" anchor="t"/>
          <a:lstStyle/>
          <a:p>
            <a:pPr indent="0" marL="0">
              <a:buNone/>
            </a:pPr>
            <a:r>
              <a:rPr lang="en-US" sz="1300" b="1" dirty="0">
                <a:solidFill>
                  <a:schemeClr val="accent3"/>
                </a:solidFill>
              </a:rPr>
              <a:t>What happens</a:t>
            </a:r>
            <a:endParaRPr lang="en-US" sz="1300" dirty="0"/>
          </a:p>
        </p:txBody>
      </p:sp>
      <p:sp>
        <p:nvSpPr>
          <p:cNvPr id="20" name="Training time: updates are not ready What happens"/>
          <p:cNvSpPr txBox="1"/>
          <p:nvPr/>
        </p:nvSpPr>
        <p:spPr>
          <a:xfrm>
            <a:off x="7558888" y="2743200"/>
            <a:ext cx="3855568" cy="1097280"/>
          </a:xfrm>
          <a:prstGeom prst="rect">
            <a:avLst/>
          </a:prstGeom>
          <a:noFill/>
          <a:ln/>
        </p:spPr>
        <p:txBody>
          <a:bodyPr wrap="square" lIns="0" tIns="0" rIns="0" bIns="0" rtlCol="0" anchor="t"/>
          <a:lstStyle/>
          <a:p>
            <a:pPr indent="0" marL="0">
              <a:buNone/>
            </a:pPr>
            <a:r>
              <a:rPr lang="en-US" sz="1400" dirty="0">
                <a:solidFill>
                  <a:schemeClr val="tx1"/>
                </a:solidFill>
              </a:rPr>
              <a:t>When devices need time to train, 79% of F's visits find no update ready: 0.7 updates per round instead of 3.5. F reaches the target in 70–75% of trials (H1, FedEx route, FedCS: 85–100%).</a:t>
            </a:r>
            <a:endParaRPr lang="en-US" sz="1400" dirty="0"/>
          </a:p>
        </p:txBody>
      </p:sp>
      <p:sp>
        <p:nvSpPr>
          <p:cNvPr id="21" name="Training time: updates are not ready Why label"/>
          <p:cNvSpPr txBox="1"/>
          <p:nvPr/>
        </p:nvSpPr>
        <p:spPr>
          <a:xfrm>
            <a:off x="6461608" y="3886200"/>
            <a:ext cx="1051560" cy="274320"/>
          </a:xfrm>
          <a:prstGeom prst="rect">
            <a:avLst/>
          </a:prstGeom>
          <a:noFill/>
          <a:ln/>
        </p:spPr>
        <p:txBody>
          <a:bodyPr wrap="square" lIns="0" tIns="0" rIns="0" bIns="0" rtlCol="0" anchor="t"/>
          <a:lstStyle/>
          <a:p>
            <a:pPr indent="0" marL="0">
              <a:buNone/>
            </a:pPr>
            <a:r>
              <a:rPr lang="en-US" sz="1300" b="1" dirty="0">
                <a:solidFill>
                  <a:schemeClr val="accent3"/>
                </a:solidFill>
              </a:rPr>
              <a:t>Why</a:t>
            </a:r>
            <a:endParaRPr lang="en-US" sz="1300" dirty="0"/>
          </a:p>
        </p:txBody>
      </p:sp>
      <p:sp>
        <p:nvSpPr>
          <p:cNvPr id="22" name="Training time: updates are not ready Why"/>
          <p:cNvSpPr txBox="1"/>
          <p:nvPr/>
        </p:nvSpPr>
        <p:spPr>
          <a:xfrm>
            <a:off x="7558888" y="3886200"/>
            <a:ext cx="3855568" cy="1371600"/>
          </a:xfrm>
          <a:prstGeom prst="rect">
            <a:avLst/>
          </a:prstGeom>
          <a:noFill/>
          <a:ln/>
        </p:spPr>
        <p:txBody>
          <a:bodyPr wrap="square" lIns="0" tIns="0" rIns="0" bIns="0" rtlCol="0" anchor="t"/>
          <a:lstStyle/>
          <a:p>
            <a:pPr indent="0" marL="0">
              <a:buNone/>
            </a:pPr>
            <a:r>
              <a:rPr lang="en-US" sz="1400" dirty="0">
                <a:solidFill>
                  <a:schemeClr val="tx1"/>
                </a:solidFill>
              </a:rPr>
              <a:t>The plan assumes every update is waiting. Training (median 68 s) restarts with each new model, and F reaches the field with ~11 s of flying, so it often returns before devices finish. The baselines' ~130 s tours give devices time.</a:t>
            </a:r>
            <a:endParaRPr lang="en-US" sz="1400" dirty="0"/>
          </a:p>
        </p:txBody>
      </p:sp>
      <p:sp>
        <p:nvSpPr>
          <p:cNvPr id="23" name="Training time: updates are not ready Next step label"/>
          <p:cNvSpPr txBox="1"/>
          <p:nvPr/>
        </p:nvSpPr>
        <p:spPr>
          <a:xfrm>
            <a:off x="6461608" y="5303520"/>
            <a:ext cx="1051560" cy="274320"/>
          </a:xfrm>
          <a:prstGeom prst="rect">
            <a:avLst/>
          </a:prstGeom>
          <a:noFill/>
          <a:ln/>
        </p:spPr>
        <p:txBody>
          <a:bodyPr wrap="square" lIns="0" tIns="0" rIns="0" bIns="0" rtlCol="0" anchor="t"/>
          <a:lstStyle/>
          <a:p>
            <a:pPr indent="0" marL="0">
              <a:buNone/>
            </a:pPr>
            <a:r>
              <a:rPr lang="en-US" sz="1300" b="1" dirty="0">
                <a:solidFill>
                  <a:schemeClr val="accent2"/>
                </a:solidFill>
              </a:rPr>
              <a:t>Next step</a:t>
            </a:r>
            <a:endParaRPr lang="en-US" sz="1300" dirty="0"/>
          </a:p>
        </p:txBody>
      </p:sp>
      <p:sp>
        <p:nvSpPr>
          <p:cNvPr id="24" name="Training time: updates are not ready Next step"/>
          <p:cNvSpPr txBox="1"/>
          <p:nvPr/>
        </p:nvSpPr>
        <p:spPr>
          <a:xfrm>
            <a:off x="7558888" y="5303520"/>
            <a:ext cx="3855568" cy="411480"/>
          </a:xfrm>
          <a:prstGeom prst="rect">
            <a:avLst/>
          </a:prstGeom>
          <a:noFill/>
          <a:ln/>
        </p:spPr>
        <p:txBody>
          <a:bodyPr wrap="square" lIns="0" tIns="0" rIns="0" bIns="0" rtlCol="0" anchor="t"/>
          <a:lstStyle/>
          <a:p>
            <a:pPr indent="0" marL="0">
              <a:buNone/>
            </a:pPr>
            <a:r>
              <a:rPr lang="en-US" sz="1400" dirty="0">
                <a:solidFill>
                  <a:schemeClr val="tx1"/>
                </a:solidFill>
              </a:rPr>
              <a:t>Add each device's expected training time to the plan.</a:t>
            </a:r>
            <a:endParaRPr lang="en-US" sz="1400" dirty="0"/>
          </a:p>
        </p:txBody>
      </p:sp>
      <p:sp>
        <p:nvSpPr>
          <p:cNvPr id="25" name="other limits note"/>
          <p:cNvSpPr txBox="1"/>
          <p:nvPr/>
        </p:nvSpPr>
        <p:spPr>
          <a:xfrm>
            <a:off x="548640" y="5879592"/>
            <a:ext cx="11094415" cy="457200"/>
          </a:xfrm>
          <a:prstGeom prst="rect">
            <a:avLst/>
          </a:prstGeom>
          <a:noFill/>
          <a:ln/>
        </p:spPr>
        <p:txBody>
          <a:bodyPr wrap="square" lIns="0" tIns="0" rIns="0" bIns="0" rtlCol="0" anchor="ctr"/>
          <a:lstStyle/>
          <a:p>
            <a:pPr indent="0" marL="0">
              <a:buNone/>
            </a:pPr>
            <a:r>
              <a:rPr lang="en-US" sz="1200" i="1" dirty="0">
                <a:solidFill>
                  <a:schemeClr val="accent3"/>
                </a:solidFill>
              </a:rPr>
              <a:t>Also: flight, radio and energy are simulated (real-radio tests await a testbed), and some studies flew 20 of 40 planned trials. With non-IID data, every scheduler reaches the target in about half the trials.</a:t>
            </a:r>
            <a:endParaRPr lang="en-US" sz="12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7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822960"/>
          </a:xfrm>
          <a:prstGeom prst="rect">
            <a:avLst/>
          </a:prstGeom>
          <a:noFill/>
          <a:ln/>
        </p:spPr>
        <p:txBody>
          <a:bodyPr wrap="square" lIns="0" tIns="0" rIns="0" bIns="0" rtlCol="0" anchor="t"/>
          <a:lstStyle/>
          <a:p>
            <a:pPr algn="l" indent="0" marL="0">
              <a:buNone/>
            </a:pPr>
            <a:r>
              <a:rPr lang="en-US" sz="4000" b="1" dirty="0">
                <a:solidFill>
                  <a:schemeClr val="bg1"/>
                </a:solidFill>
              </a:rPr>
              <a:t>Takeaways and next steps</a:t>
            </a:r>
            <a:endParaRPr lang="en-US" sz="4000" dirty="0"/>
          </a:p>
        </p:txBody>
      </p:sp>
      <p:sp>
        <p:nvSpPr>
          <p:cNvPr id="3" name="takeaway dot 1"/>
          <p:cNvSpPr/>
          <p:nvPr/>
        </p:nvSpPr>
        <p:spPr>
          <a:xfrm>
            <a:off x="731520" y="1737360"/>
            <a:ext cx="502920" cy="502920"/>
          </a:xfrm>
          <a:prstGeom prst="ellipse">
            <a:avLst/>
          </a:prstGeom>
          <a:solidFill>
            <a:schemeClr val="accent1"/>
          </a:solidFill>
          <a:ln w="12700">
            <a:solidFill>
              <a:schemeClr val="accent1">
                <a:alpha val="0"/>
              </a:schemeClr>
            </a:solidFill>
            <a:prstDash val="solid"/>
          </a:ln>
        </p:spPr>
      </p:sp>
      <p:sp>
        <p:nvSpPr>
          <p:cNvPr id="4" name="takeaway number 1"/>
          <p:cNvSpPr txBox="1"/>
          <p:nvPr/>
        </p:nvSpPr>
        <p:spPr>
          <a:xfrm>
            <a:off x="731520" y="1737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akeaway 1"/>
          <p:cNvSpPr txBox="1"/>
          <p:nvPr/>
        </p:nvSpPr>
        <p:spPr>
          <a:xfrm>
            <a:off x="1463040" y="1691640"/>
            <a:ext cx="5120640" cy="1188720"/>
          </a:xfrm>
          <a:prstGeom prst="rect">
            <a:avLst/>
          </a:prstGeom>
          <a:noFill/>
          <a:ln/>
        </p:spPr>
        <p:txBody>
          <a:bodyPr wrap="square" lIns="0" tIns="0" rIns="0" bIns="0" rtlCol="0" anchor="t"/>
          <a:lstStyle/>
          <a:p>
            <a:pPr indent="0" marL="0">
              <a:spcAft>
                <a:spcPts val="400"/>
              </a:spcAft>
              <a:buNone/>
            </a:pPr>
            <a:r>
              <a:rPr lang="en-US" sz="2000" b="1" dirty="0">
                <a:solidFill>
                  <a:schemeClr val="bg1"/>
                </a:solidFill>
              </a:rPr>
              <a:t>Reach is a decision.</a:t>
            </a:r>
            <a:endParaRPr lang="en-US" sz="2000" dirty="0"/>
          </a:p>
          <a:p>
            <a:pPr indent="0" marL="0">
              <a:buNone/>
            </a:pPr>
            <a:r>
              <a:rPr lang="en-US" sz="1600" dirty="0">
                <a:solidFill>
                  <a:schemeClr val="bg2"/>
                </a:solidFill>
              </a:rPr>
              <a:t>Choosing the band with the route made FeRRy 27–31% faster to target accuracy.</a:t>
            </a:r>
            <a:endParaRPr lang="en-US" sz="2000" dirty="0"/>
          </a:p>
        </p:txBody>
      </p:sp>
      <p:sp>
        <p:nvSpPr>
          <p:cNvPr id="6" name="takeaway dot 2"/>
          <p:cNvSpPr/>
          <p:nvPr/>
        </p:nvSpPr>
        <p:spPr>
          <a:xfrm>
            <a:off x="731520" y="3108960"/>
            <a:ext cx="502920" cy="502920"/>
          </a:xfrm>
          <a:prstGeom prst="ellipse">
            <a:avLst/>
          </a:prstGeom>
          <a:solidFill>
            <a:schemeClr val="accent1"/>
          </a:solidFill>
          <a:ln w="12700">
            <a:solidFill>
              <a:schemeClr val="accent1">
                <a:alpha val="0"/>
              </a:schemeClr>
            </a:solidFill>
            <a:prstDash val="solid"/>
          </a:ln>
        </p:spPr>
      </p:sp>
      <p:sp>
        <p:nvSpPr>
          <p:cNvPr id="7" name="takeaway number 2"/>
          <p:cNvSpPr txBox="1"/>
          <p:nvPr/>
        </p:nvSpPr>
        <p:spPr>
          <a:xfrm>
            <a:off x="731520" y="31089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8" name="takeaway 2"/>
          <p:cNvSpPr txBox="1"/>
          <p:nvPr/>
        </p:nvSpPr>
        <p:spPr>
          <a:xfrm>
            <a:off x="1463040" y="3063240"/>
            <a:ext cx="5120640" cy="1188720"/>
          </a:xfrm>
          <a:prstGeom prst="rect">
            <a:avLst/>
          </a:prstGeom>
          <a:noFill/>
          <a:ln/>
        </p:spPr>
        <p:txBody>
          <a:bodyPr wrap="square" lIns="0" tIns="0" rIns="0" bIns="0" rtlCol="0" anchor="t"/>
          <a:lstStyle/>
          <a:p>
            <a:pPr indent="0" marL="0">
              <a:spcAft>
                <a:spcPts val="400"/>
              </a:spcAft>
              <a:buNone/>
            </a:pPr>
            <a:r>
              <a:rPr lang="en-US" sz="2000" b="1" dirty="0">
                <a:solidFill>
                  <a:schemeClr val="bg1"/>
                </a:solidFill>
              </a:rPr>
              <a:t>The gain comes from the plan.</a:t>
            </a:r>
            <a:endParaRPr lang="en-US" sz="2000" dirty="0"/>
          </a:p>
          <a:p>
            <a:pPr indent="0" marL="0">
              <a:buNone/>
            </a:pPr>
            <a:r>
              <a:rPr lang="en-US" sz="1600" dirty="0">
                <a:solidFill>
                  <a:schemeClr val="bg2"/>
                </a:solidFill>
              </a:rPr>
              <a:t>Learning inside it matched a fixed rule, and reached the target 36% sooner than a learned scheduler with no plan.</a:t>
            </a:r>
            <a:endParaRPr lang="en-US" sz="2000" dirty="0"/>
          </a:p>
        </p:txBody>
      </p:sp>
      <p:sp>
        <p:nvSpPr>
          <p:cNvPr id="9" name="takeaway dot 3"/>
          <p:cNvSpPr/>
          <p:nvPr/>
        </p:nvSpPr>
        <p:spPr>
          <a:xfrm>
            <a:off x="731520" y="4480560"/>
            <a:ext cx="502920" cy="502920"/>
          </a:xfrm>
          <a:prstGeom prst="ellipse">
            <a:avLst/>
          </a:prstGeom>
          <a:solidFill>
            <a:schemeClr val="accent1"/>
          </a:solidFill>
          <a:ln w="12700">
            <a:solidFill>
              <a:schemeClr val="accent1">
                <a:alpha val="0"/>
              </a:schemeClr>
            </a:solidFill>
            <a:prstDash val="solid"/>
          </a:ln>
        </p:spPr>
      </p:sp>
      <p:sp>
        <p:nvSpPr>
          <p:cNvPr id="10" name="takeaway number 3"/>
          <p:cNvSpPr txBox="1"/>
          <p:nvPr/>
        </p:nvSpPr>
        <p:spPr>
          <a:xfrm>
            <a:off x="731520" y="44805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1" name="takeaway 3"/>
          <p:cNvSpPr txBox="1"/>
          <p:nvPr/>
        </p:nvSpPr>
        <p:spPr>
          <a:xfrm>
            <a:off x="1463040" y="4434840"/>
            <a:ext cx="5120640" cy="1188720"/>
          </a:xfrm>
          <a:prstGeom prst="rect">
            <a:avLst/>
          </a:prstGeom>
          <a:noFill/>
          <a:ln/>
        </p:spPr>
        <p:txBody>
          <a:bodyPr wrap="square" lIns="0" tIns="0" rIns="0" bIns="0" rtlCol="0" anchor="t"/>
          <a:lstStyle/>
          <a:p>
            <a:pPr indent="0" marL="0">
              <a:spcAft>
                <a:spcPts val="400"/>
              </a:spcAft>
              <a:buNone/>
            </a:pPr>
            <a:r>
              <a:rPr lang="en-US" sz="2000" b="1" dirty="0">
                <a:solidFill>
                  <a:schemeClr val="bg1"/>
                </a:solidFill>
              </a:rPr>
              <a:t>Fresh and cheap.</a:t>
            </a:r>
            <a:endParaRPr lang="en-US" sz="2000" dirty="0"/>
          </a:p>
          <a:p>
            <a:pPr indent="0" marL="0">
              <a:buNone/>
            </a:pPr>
            <a:r>
              <a:rPr lang="en-US" sz="1600" dirty="0">
                <a:solidFill>
                  <a:schemeClr val="bg2"/>
                </a:solidFill>
              </a:rPr>
              <a:t>Updates stay about a quarter fresher under tight budgets, and 96 devices plan in 1.5 s.</a:t>
            </a:r>
            <a:endParaRPr lang="en-US" sz="2000" dirty="0"/>
          </a:p>
        </p:txBody>
      </p:sp>
      <p:sp>
        <p:nvSpPr>
          <p:cNvPr id="12" name="next steps card"/>
          <p:cNvSpPr/>
          <p:nvPr/>
        </p:nvSpPr>
        <p:spPr>
          <a:xfrm>
            <a:off x="7178040" y="1691640"/>
            <a:ext cx="4480560" cy="3611880"/>
          </a:xfrm>
          <a:prstGeom prst="roundRect">
            <a:avLst>
              <a:gd name="adj" fmla="val 2532"/>
            </a:avLst>
          </a:prstGeom>
          <a:solidFill>
            <a:schemeClr val="bg1">
              <a:alpha val="8000"/>
            </a:schemeClr>
          </a:solidFill>
          <a:ln w="15875">
            <a:solidFill>
              <a:schemeClr val="accent5"/>
            </a:solidFill>
            <a:prstDash val="solid"/>
          </a:ln>
        </p:spPr>
      </p:sp>
      <p:sp>
        <p:nvSpPr>
          <p:cNvPr id="13" name="next steps"/>
          <p:cNvSpPr txBox="1"/>
          <p:nvPr/>
        </p:nvSpPr>
        <p:spPr>
          <a:xfrm>
            <a:off x="7498080" y="1874520"/>
            <a:ext cx="3840480" cy="3566160"/>
          </a:xfrm>
          <a:prstGeom prst="rect">
            <a:avLst/>
          </a:prstGeom>
          <a:noFill/>
          <a:ln/>
        </p:spPr>
        <p:txBody>
          <a:bodyPr wrap="square" lIns="0" tIns="0" rIns="0" bIns="0" rtlCol="0" anchor="t"/>
          <a:lstStyle/>
          <a:p>
            <a:pPr indent="0" marL="0">
              <a:spcAft>
                <a:spcPts val="1200"/>
              </a:spcAft>
              <a:buNone/>
            </a:pPr>
            <a:r>
              <a:rPr lang="en-US" sz="2200" b="1" dirty="0">
                <a:solidFill>
                  <a:schemeClr val="accent1"/>
                </a:solidFill>
              </a:rPr>
              <a:t>Next steps</a:t>
            </a:r>
            <a:endParaRPr lang="en-US" sz="2200" dirty="0"/>
          </a:p>
          <a:p>
            <a:pPr marL="177800" indent="-177800">
              <a:spcAft>
                <a:spcPts val="1600"/>
              </a:spcAft>
              <a:buSzPct val="100000"/>
              <a:buChar char="•"/>
            </a:pPr>
            <a:r>
              <a:rPr lang="en-US" sz="1800" dirty="0">
                <a:solidFill>
                  <a:schemeClr val="bg1"/>
                </a:solidFill>
              </a:rPr>
              <a:t>Price channel variation in the plan</a:t>
            </a:r>
            <a:endParaRPr lang="en-US" sz="2200" dirty="0"/>
          </a:p>
          <a:p>
            <a:pPr marL="177800" indent="-177800">
              <a:spcAft>
                <a:spcPts val="1600"/>
              </a:spcAft>
              <a:buSzPct val="100000"/>
              <a:buChar char="•"/>
            </a:pPr>
            <a:r>
              <a:rPr lang="en-US" sz="1800" dirty="0">
                <a:solidFill>
                  <a:schemeClr val="bg1"/>
                </a:solidFill>
              </a:rPr>
              <a:t>Add device training time to the plan</a:t>
            </a:r>
            <a:endParaRPr lang="en-US" sz="2200" dirty="0"/>
          </a:p>
          <a:p>
            <a:pPr marL="177800" indent="-177800">
              <a:spcAft>
                <a:spcPts val="1600"/>
              </a:spcAft>
              <a:buSzPct val="100000"/>
              <a:buChar char="•"/>
            </a:pPr>
            <a:r>
              <a:rPr lang="en-US" sz="1800" dirty="0">
                <a:solidFill>
                  <a:schemeClr val="bg1"/>
                </a:solidFill>
              </a:rPr>
              <a:t>Validate the band trade over the air on a UAV testbed</a:t>
            </a:r>
            <a:endParaRPr lang="en-US" sz="2200" dirty="0"/>
          </a:p>
          <a:p>
            <a:pPr marL="177800" indent="-177800">
              <a:spcAft>
                <a:spcPts val="1600"/>
              </a:spcAft>
              <a:buSzPct val="100000"/>
              <a:buChar char="•"/>
            </a:pPr>
            <a:r>
              <a:rPr lang="en-US" sz="1800" dirty="0">
                <a:solidFill>
                  <a:schemeClr val="bg1"/>
                </a:solidFill>
              </a:rPr>
              <a:t>Coordinate drones that share spectrum and a dock</a:t>
            </a:r>
            <a:endParaRPr lang="en-US" sz="2200" dirty="0"/>
          </a:p>
        </p:txBody>
      </p:sp>
    </p:spTree>
  </p:cSld>
  <p:clrMapOvr>
    <a:masterClrMapping/>
  </p:clrMapOvr>
</p:sld>
</file>

<file path=ppt/theme/theme1.xml><?xml version="1.0" encoding="utf-8"?>
<a:theme xmlns:a="http://schemas.openxmlformats.org/drawingml/2006/main" name="FeRRy Field">
  <a:themeElements>
    <a:clrScheme name="FeRRy Field">
      <a:dk1>
        <a:srgbClr val="1B2430"/>
      </a:dk1>
      <a:lt1>
        <a:srgbClr val="FFFFFF"/>
      </a:lt1>
      <a:dk2>
        <a:srgbClr val="102A3A"/>
      </a:dk2>
      <a:lt2>
        <a:srgbClr val="EEF2F5"/>
      </a:lt2>
      <a:accent1>
        <a:srgbClr val="D9681A"/>
      </a:accent1>
      <a:accent2>
        <a:srgbClr val="1F7A8C"/>
      </a:accent2>
      <a:accent3>
        <a:srgbClr val="5E6B78"/>
      </a:accent3>
      <a:accent4>
        <a:srgbClr val="C2453D"/>
      </a:accent4>
      <a:accent5>
        <a:srgbClr val="3B98A6"/>
      </a:accent5>
      <a:accent6>
        <a:srgbClr val="0D2F3D"/>
      </a:accent6>
      <a:hlink>
        <a:srgbClr val="1F7A8C"/>
      </a:hlink>
      <a:folHlink>
        <a:srgbClr val="5E6B78"/>
      </a:folHlink>
    </a:clrScheme>
    <a:fontScheme name="FeRRy Fie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FeRRy: results overview</dc:title>
  <dc:subject>RF-aware mission planning for federated learning with drones as data mules</dc:subject>
  <dc:creator>PptxGenJS</dc:creator>
  <cp:lastModifiedBy>PptxGenJS</cp:lastModifiedBy>
  <cp:revision>1</cp:revision>
  <dcterms:created xsi:type="dcterms:W3CDTF">2026-10-09T03:55:44Z</dcterms:created>
  <dcterms:modified xsi:type="dcterms:W3CDTF">2026-10-09T03:55:44Z</dcterms:modified>
</cp:coreProperties>
</file>