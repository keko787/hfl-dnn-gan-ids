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5"/>
    <p:sldMasterId id="2147483664"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81" r:id="rId37"/>
    <p:sldId id="278" r:id="rId30"/>
    <p:sldId id="279" r:id="rId31"/>
    <p:sldId id="280" r:id="rId32"/>
  </p:sldIdLst>
  <p:sldSz cy="5143500" cx="9144000"/>
  <p:notesSz cx="6858000" cy="9144000"/>
  <p:embeddedFontLst>
    <p:embeddedFont>
      <p:font typeface="Quattrocento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769CC3-A8CD-444A-9587-5658892A25C0}">
  <a:tblStyle styleId="{BE769CC3-A8CD-444A-9587-5658892A25C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font" Target="fonts/QuattrocentoSans-regular.fntdata"/><Relationship Id="rId34" Type="http://schemas.openxmlformats.org/officeDocument/2006/relationships/font" Target="fonts/QuattrocentoSans-bold.fntdata"/><Relationship Id="rId35" Type="http://schemas.openxmlformats.org/officeDocument/2006/relationships/font" Target="fonts/QuattrocentoSans-italic.fntdata"/><Relationship Id="rId36" Type="http://schemas.openxmlformats.org/officeDocument/2006/relationships/font" Target="fonts/QuattrocentoSans-boldItalic.fntdata"/><Relationship Id="rId37"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value</c:v>
                </c:pt>
              </c:strCache>
            </c:strRef>
          </c:tx>
          <c:dPt>
            <c:idx val="0"/>
            <c:spPr>
              <a:solidFill>
                <a:schemeClr val="accent1"/>
              </a:solidFill>
              <a:ln>
                <a:noFill/>
              </a:ln>
            </c:spPr>
          </c:dPt>
          <c:dPt>
            <c:idx val="1"/>
            <c:spPr>
              <a:solidFill>
                <a:schemeClr val="accent1"/>
              </a:solidFill>
              <a:ln>
                <a:noFill/>
              </a:ln>
            </c:spPr>
          </c:dPt>
          <c:dPt>
            <c:idx val="2"/>
            <c:spPr>
              <a:solidFill>
                <a:schemeClr val="accent1"/>
              </a:solidFill>
              <a:ln>
                <a:noFill/>
              </a:ln>
            </c:spPr>
          </c:dPt>
          <c:dPt>
            <c:idx val="3"/>
            <c:spPr>
              <a:solidFill>
                <a:srgbClr val="AEB6BF"/>
              </a:solidFill>
              <a:ln>
                <a:noFill/>
              </a:ln>
            </c:spPr>
          </c:dPt>
          <c:dPt>
            <c:idx val="4"/>
            <c:spPr>
              <a:solidFill>
                <a:srgbClr val="AEB6BF"/>
              </a:solidFill>
              <a:ln>
                <a:noFill/>
              </a:ln>
            </c:spPr>
          </c:dPt>
          <c:dPt>
            <c:idx val="5"/>
            <c:spPr>
              <a:solidFill>
                <a:srgbClr val="AEB6BF"/>
              </a:solidFill>
              <a:ln>
                <a:noFill/>
              </a:ln>
            </c:spPr>
          </c:dPt>
          <c:dPt>
            <c:idx val="6"/>
            <c:spPr>
              <a:solidFill>
                <a:srgbClr val="AEB6BF"/>
              </a:solidFill>
              <a:ln>
                <a:noFill/>
              </a:ln>
            </c:spPr>
          </c:dPt>
          <c:dPt>
            <c:idx val="7"/>
            <c:spPr>
              <a:solidFill>
                <a:srgbClr val="AEB6BF"/>
              </a:solidFill>
              <a:ln>
                <a:noFill/>
              </a:ln>
            </c:spPr>
          </c:dPt>
          <c:dPt>
            <c:idx val="8"/>
            <c:spPr>
              <a:solidFill>
                <a:srgbClr val="AEB6BF"/>
              </a:solidFill>
              <a:ln>
                <a:noFill/>
              </a:ln>
            </c:spPr>
          </c:dPt>
          <c:dPt>
            <c:idx val="9"/>
            <c:spPr>
              <a:solidFill>
                <a:srgbClr val="AEB6BF"/>
              </a:solidFill>
              <a:ln>
                <a:noFill/>
              </a:ln>
            </c:spPr>
          </c:dPt>
          <c:cat>
            <c:strRef>
              <c:f>Sheet1!$A$2:$A$11</c:f>
              <c:strCache>
                <c:ptCount val="10"/>
                <c:pt idx="0">
                  <c:v>FeRRy F</c:v>
                </c:pt>
                <c:pt idx="1">
                  <c:v>FeRRy FX</c:v>
                </c:pt>
                <c:pt idx="2">
                  <c:v>FeRRy FQ*</c:v>
                </c:pt>
                <c:pt idx="3">
                  <c:v>FedEx route</c:v>
                </c:pt>
                <c:pt idx="4">
                  <c:v>Oort</c:v>
                </c:pt>
                <c:pt idx="5">
                  <c:v>FedCS</c:v>
                </c:pt>
                <c:pt idx="6">
                  <c:v>Whittle (Cui)</c:v>
                </c:pt>
                <c:pt idx="7">
                  <c:v>DQN (Chen)</c:v>
                </c:pt>
                <c:pt idx="8">
                  <c:v>MAX-AoI</c:v>
                </c:pt>
                <c:pt idx="9">
                  <c:v>H1</c:v>
                </c:pt>
              </c:strCache>
            </c:strRef>
          </c:cat>
          <c:val>
            <c:numRef>
              <c:f>Sheet1!$B$2:$B$11</c:f>
              <c:numCache>
                <c:formatCode>General</c:formatCode>
                <c:ptCount val="10"/>
                <c:pt idx="0">
                  <c:v>37.4</c:v>
                </c:pt>
                <c:pt idx="1">
                  <c:v>33.7</c:v>
                </c:pt>
                <c:pt idx="2">
                  <c:v>34.5</c:v>
                </c:pt>
                <c:pt idx="3">
                  <c:v>48.0</c:v>
                </c:pt>
                <c:pt idx="4">
                  <c:v>48.4</c:v>
                </c:pt>
                <c:pt idx="5">
                  <c:v>49.5</c:v>
                </c:pt>
                <c:pt idx="6">
                  <c:v>50.3</c:v>
                </c:pt>
                <c:pt idx="7">
                  <c:v>50.4</c:v>
                </c:pt>
                <c:pt idx="8">
                  <c:v>50.6</c:v>
                </c:pt>
                <c:pt idx="9">
                  <c:v>50.6</c:v>
                </c:pt>
              </c:numCache>
            </c:numRef>
          </c:val>
        </c:ser>
        <c:dLbls>
          <c:numFmt formatCode="0.0&quot; kJ&quot;" sourceLinked="0"/>
          <c:txPr>
            <a:bodyPr/>
            <a:lstStyle/>
            <a:p>
              <a:pPr>
                <a:defRPr sz="900">
                  <a:solidFill>
                    <a:schemeClr val="dk1"/>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noFill/>
          </a:ln>
        </c:spPr>
        <c:txPr>
          <a:bodyPr/>
          <a:lstStyle/>
          <a:p>
            <a:pPr>
              <a:defRPr sz="1000">
                <a:solidFill>
                  <a:schemeClr val="dk1"/>
                </a:solidFill>
              </a:defRPr>
            </a:pPr>
          </a:p>
        </c:txPr>
        <c:crossAx val="-2113994440"/>
        <c:crosses val="autoZero"/>
        <c:auto val="1"/>
        <c:lblAlgn val="ctr"/>
        <c:lblOffset val="100"/>
        <c:noMultiLvlLbl val="0"/>
      </c:catAx>
      <c:valAx>
        <c:axId val="-2113994440"/>
        <c:scaling>
          <c:max val="56.672000000000004"/>
          <c:min val="0.0"/>
        </c:scaling>
        <c:delete/>
        <c:axPos val="b"/>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FeRRy F</c:v>
                </c:pt>
              </c:strCache>
            </c:strRef>
          </c:tx>
          <c:spPr>
            <a:solidFill>
              <a:schemeClr val="accent1"/>
            </a:solidFill>
            <a:ln>
              <a:noFill/>
            </a:ln>
          </c:spPr>
          <c:cat>
            <c:strRef>
              <c:f>Sheet1!$A$2:$A$5</c:f>
              <c:strCache>
                <c:ptCount val="4"/>
                <c:pt idx="0">
                  <c:v>Stress · 75 s
F beats 1 of 7</c:v>
                </c:pt>
                <c:pt idx="1">
                  <c:v>Knee · 150 s
F beats 7 of 7</c:v>
                </c:pt>
                <c:pt idx="2">
                  <c:v>Relaxed · 300 or 1800 s
F beats 7 of 7</c:v>
                </c:pt>
                <c:pt idx="3">
                  <c:v>3 drones · knee
F beats 0 of 7</c:v>
                </c:pt>
              </c:strCache>
            </c:strRef>
          </c:cat>
          <c:val>
            <c:numRef>
              <c:f>Sheet1!$B$2:$B$5</c:f>
              <c:numCache>
                <c:formatCode>General</c:formatCode>
                <c:ptCount val="4"/>
                <c:pt idx="0">
                  <c:v>178</c:v>
                </c:pt>
                <c:pt idx="1">
                  <c:v>194</c:v>
                </c:pt>
                <c:pt idx="2">
                  <c:v>194</c:v>
                </c:pt>
                <c:pt idx="3">
                  <c:v>52</c:v>
                </c:pt>
              </c:numCache>
            </c:numRef>
          </c:val>
        </c:ser>
        <c:ser>
          <c:idx val="1"/>
          <c:order val="1"/>
          <c:tx>
            <c:strRef>
              <c:f>Sheet1!$C$1</c:f>
              <c:strCache>
                <c:ptCount val="1"/>
                <c:pt idx="0">
                  <c:v>Fastest baseline</c:v>
                </c:pt>
              </c:strCache>
            </c:strRef>
          </c:tx>
          <c:spPr>
            <a:solidFill>
              <a:srgbClr val="5E6B78"/>
            </a:solidFill>
            <a:ln>
              <a:noFill/>
            </a:ln>
          </c:spPr>
          <c:cat>
            <c:strRef>
              <c:f>Sheet1!$A$2:$A$5</c:f>
              <c:strCache>
                <c:ptCount val="4"/>
                <c:pt idx="0">
                  <c:v>Stress · 75 s
F beats 1 of 7</c:v>
                </c:pt>
                <c:pt idx="1">
                  <c:v>Knee · 150 s
F beats 7 of 7</c:v>
                </c:pt>
                <c:pt idx="2">
                  <c:v>Relaxed · 300 or 1800 s
F beats 7 of 7</c:v>
                </c:pt>
                <c:pt idx="3">
                  <c:v>3 drones · knee
F beats 0 of 7</c:v>
                </c:pt>
              </c:strCache>
            </c:strRef>
          </c:cat>
          <c:val>
            <c:numRef>
              <c:f>Sheet1!$C$2:$C$5</c:f>
              <c:numCache>
                <c:formatCode>General</c:formatCode>
                <c:ptCount val="4"/>
                <c:pt idx="0">
                  <c:v>198</c:v>
                </c:pt>
                <c:pt idx="1">
                  <c:v>264</c:v>
                </c:pt>
                <c:pt idx="2">
                  <c:v>261</c:v>
                </c:pt>
                <c:pt idx="3">
                  <c:v>55</c:v>
                </c:pt>
              </c:numCache>
            </c:numRef>
          </c:val>
        </c:ser>
        <c:ser>
          <c:idx val="2"/>
          <c:order val="2"/>
          <c:tx>
            <c:strRef>
              <c:f>Sheet1!$D$1</c:f>
              <c:strCache>
                <c:ptCount val="1"/>
                <c:pt idx="0">
                  <c:v>Baseline mean (7)</c:v>
                </c:pt>
              </c:strCache>
            </c:strRef>
          </c:tx>
          <c:spPr>
            <a:solidFill>
              <a:srgbClr val="AEB6BF"/>
            </a:solidFill>
            <a:ln>
              <a:noFill/>
            </a:ln>
          </c:spPr>
          <c:cat>
            <c:strRef>
              <c:f>Sheet1!$A$2:$A$5</c:f>
              <c:strCache>
                <c:ptCount val="4"/>
                <c:pt idx="0">
                  <c:v>Stress · 75 s
F beats 1 of 7</c:v>
                </c:pt>
                <c:pt idx="1">
                  <c:v>Knee · 150 s
F beats 7 of 7</c:v>
                </c:pt>
                <c:pt idx="2">
                  <c:v>Relaxed · 300 or 1800 s
F beats 7 of 7</c:v>
                </c:pt>
                <c:pt idx="3">
                  <c:v>3 drones · knee
F beats 0 of 7</c:v>
                </c:pt>
              </c:strCache>
            </c:strRef>
          </c:cat>
          <c:val>
            <c:numRef>
              <c:f>Sheet1!$D$2:$D$5</c:f>
              <c:numCache>
                <c:formatCode>General</c:formatCode>
                <c:ptCount val="4"/>
                <c:pt idx="0">
                  <c:v>224</c:v>
                </c:pt>
                <c:pt idx="1">
                  <c:v>276</c:v>
                </c:pt>
                <c:pt idx="2">
                  <c:v>277</c:v>
                </c:pt>
                <c:pt idx="3">
                  <c:v>63</c:v>
                </c:pt>
              </c:numCache>
            </c:numRef>
          </c:val>
        </c:ser>
        <c:dLbls>
          <c:numFmt formatCode="0" sourceLinked="0"/>
          <c:txPr>
            <a:bodyPr/>
            <a:lstStyle/>
            <a:p>
              <a:pPr>
                <a:defRPr sz="900">
                  <a:solidFill>
                    <a:schemeClr val="dk1"/>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none"/>
        <c:minorTickMark val="none"/>
        <c:tickLblPos val="nextTo"/>
        <c:spPr>
          <a:ln>
            <a:solidFill>
              <a:srgbClr val="D5DBE1"/>
            </a:solidFill>
          </a:ln>
        </c:spPr>
        <c:txPr>
          <a:bodyPr/>
          <a:lstStyle/>
          <a:p>
            <a:pPr>
              <a:defRPr sz="950">
                <a:solidFill>
                  <a:schemeClr val="dk1"/>
                </a:solidFill>
              </a:defRPr>
            </a:pPr>
          </a:p>
        </c:txPr>
        <c:crossAx val="-2113994440"/>
        <c:crosses val="autoZero"/>
        <c:auto val="1"/>
        <c:lblAlgn val="ctr"/>
        <c:lblOffset val="100"/>
        <c:noMultiLvlLbl val="0"/>
      </c:catAx>
      <c:valAx>
        <c:axId val="-2113994440"/>
        <c:scaling>
          <c:max val="330.0"/>
          <c:min val="0.0"/>
        </c:scaling>
        <c:delete/>
        <c:axPos val="l"/>
        <c:majorTickMark val="out"/>
        <c:minorTickMark val="none"/>
        <c:tickLblPos val="nextTo"/>
        <c:crossAx val="-2068027336"/>
        <c:crosses val="autoZero"/>
      </c:valAx>
    </c:plotArea>
    <c:legend>
      <c:legendPos val="t"/>
      <c:overlay val="0"/>
      <c:txPr>
        <a:bodyPr/>
        <a:lstStyle/>
        <a:p>
          <a:pPr>
            <a:defRPr sz="950">
              <a:solidFill>
                <a:schemeClr val="dk1"/>
              </a:solidFill>
            </a:defRPr>
          </a:pPr>
        </a:p>
      </c:txPr>
    </c:legend>
    <c:dispBlanksAs val="gap"/>
  </c:chart>
  <c:txPr>
    <a:bodyPr/>
    <a:lstStyle/>
    <a:p>
      <a:pPr>
        <a:defRPr sz="95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6 baselines (obey the budget)</c:v>
                </c:pt>
              </c:strCache>
            </c:strRef>
          </c:tx>
          <c:spPr>
            <a:ln w="19050">
              <a:solidFill>
                <a:srgbClr val="AEB6BF"/>
              </a:solidFill>
            </a:ln>
          </c:spPr>
          <c:marker>
            <c:symbol val="circle"/>
            <c:size val="5"/>
            <c:spPr>
              <a:solidFill>
                <a:srgbClr val="AEB6BF"/>
              </a:solidFill>
              <a:ln>
                <a:solidFill>
                  <a:srgbClr val="AEB6BF"/>
                </a:solidFill>
              </a:ln>
            </c:spPr>
          </c:marker>
          <c:cat>
            <c:strRef>
              <c:f>Sheet1!$A$2:$A$5</c:f>
              <c:strCache>
                <c:ptCount val="4"/>
                <c:pt idx="0">
                  <c:v>75 s
stress</c:v>
                </c:pt>
                <c:pt idx="1">
                  <c:v>150 s
knee</c:v>
                </c:pt>
                <c:pt idx="2">
                  <c:v>300 s
relaxed</c:v>
                </c:pt>
                <c:pt idx="3">
                  <c:v>1800 s
12× knee</c:v>
                </c:pt>
              </c:strCache>
            </c:strRef>
          </c:cat>
          <c:val>
            <c:numRef>
              <c:f>Sheet1!$B$2:$B$5</c:f>
              <c:numCache>
                <c:formatCode>General</c:formatCode>
                <c:ptCount val="4"/>
                <c:pt idx="0">
                  <c:v>220.4</c:v>
                </c:pt>
                <c:pt idx="1">
                  <c:v>281.8</c:v>
                </c:pt>
                <c:pt idx="2">
                  <c:v>286.0</c:v>
                </c:pt>
                <c:pt idx="3">
                  <c:v>286.0</c:v>
                </c:pt>
              </c:numCache>
            </c:numRef>
          </c:val>
          <c:smooth val="0"/>
        </c:ser>
        <c:ser>
          <c:idx val="1"/>
          <c:order val="1"/>
          <c:tx>
            <c:strRef>
              <c:f>Sheet1!$C$1</c:f>
              <c:strCache>
                <c:ptCount val="1"/>
                <c:pt idx="0">
                  <c:v>MAX-AoI</c:v>
                </c:pt>
              </c:strCache>
            </c:strRef>
          </c:tx>
          <c:spPr>
            <a:ln w="19050">
              <a:solidFill>
                <a:srgbClr val="AEB6BF"/>
              </a:solidFill>
            </a:ln>
          </c:spPr>
          <c:marker>
            <c:symbol val="circle"/>
            <c:size val="5"/>
            <c:spPr>
              <a:solidFill>
                <a:srgbClr val="AEB6BF"/>
              </a:solidFill>
              <a:ln>
                <a:solidFill>
                  <a:srgbClr val="AEB6BF"/>
                </a:solidFill>
              </a:ln>
            </c:spPr>
          </c:marker>
          <c:cat>
            <c:strRef>
              <c:f>Sheet1!$A$2:$A$5</c:f>
              <c:strCache>
                <c:ptCount val="4"/>
                <c:pt idx="0">
                  <c:v>75 s
stress</c:v>
                </c:pt>
                <c:pt idx="1">
                  <c:v>150 s
knee</c:v>
                </c:pt>
                <c:pt idx="2">
                  <c:v>300 s
relaxed</c:v>
                </c:pt>
                <c:pt idx="3">
                  <c:v>1800 s
12× knee</c:v>
                </c:pt>
              </c:strCache>
            </c:strRef>
          </c:cat>
          <c:val>
            <c:numRef>
              <c:f>Sheet1!$C$2:$C$5</c:f>
              <c:numCache>
                <c:formatCode>General</c:formatCode>
                <c:ptCount val="4"/>
                <c:pt idx="0">
                  <c:v>238.5</c:v>
                </c:pt>
                <c:pt idx="1">
                  <c:v>281.8</c:v>
                </c:pt>
                <c:pt idx="2">
                  <c:v>286.0</c:v>
                </c:pt>
                <c:pt idx="3">
                  <c:v>286.0</c:v>
                </c:pt>
              </c:numCache>
            </c:numRef>
          </c:val>
          <c:smooth val="0"/>
        </c:ser>
        <c:ser>
          <c:idx val="2"/>
          <c:order val="2"/>
          <c:tx>
            <c:strRef>
              <c:f>Sheet1!$D$1</c:f>
              <c:strCache>
                <c:ptCount val="1"/>
                <c:pt idx="0">
                  <c:v>Oort</c:v>
                </c:pt>
              </c:strCache>
            </c:strRef>
          </c:tx>
          <c:spPr>
            <a:ln w="19050">
              <a:solidFill>
                <a:srgbClr val="AEB6BF"/>
              </a:solidFill>
            </a:ln>
          </c:spPr>
          <c:marker>
            <c:symbol val="circle"/>
            <c:size val="5"/>
            <c:spPr>
              <a:solidFill>
                <a:srgbClr val="AEB6BF"/>
              </a:solidFill>
              <a:ln>
                <a:solidFill>
                  <a:srgbClr val="AEB6BF"/>
                </a:solidFill>
              </a:ln>
            </c:spPr>
          </c:marker>
          <c:cat>
            <c:strRef>
              <c:f>Sheet1!$A$2:$A$5</c:f>
              <c:strCache>
                <c:ptCount val="4"/>
                <c:pt idx="0">
                  <c:v>75 s
stress</c:v>
                </c:pt>
                <c:pt idx="1">
                  <c:v>150 s
knee</c:v>
                </c:pt>
                <c:pt idx="2">
                  <c:v>300 s
relaxed</c:v>
                </c:pt>
                <c:pt idx="3">
                  <c:v>1800 s
12× knee</c:v>
                </c:pt>
              </c:strCache>
            </c:strRef>
          </c:cat>
          <c:val>
            <c:numRef>
              <c:f>Sheet1!$D$2:$D$5</c:f>
              <c:numCache>
                <c:formatCode>General</c:formatCode>
                <c:ptCount val="4"/>
                <c:pt idx="0">
                  <c:v>228.8</c:v>
                </c:pt>
                <c:pt idx="1">
                  <c:v>265.8</c:v>
                </c:pt>
                <c:pt idx="2">
                  <c:v>267.2</c:v>
                </c:pt>
                <c:pt idx="3">
                  <c:v>267.2</c:v>
                </c:pt>
              </c:numCache>
            </c:numRef>
          </c:val>
          <c:smooth val="0"/>
        </c:ser>
        <c:ser>
          <c:idx val="3"/>
          <c:order val="3"/>
          <c:tx>
            <c:strRef>
              <c:f>Sheet1!$E$1</c:f>
              <c:strCache>
                <c:ptCount val="1"/>
                <c:pt idx="0">
                  <c:v>Whittle (Cui)</c:v>
                </c:pt>
              </c:strCache>
            </c:strRef>
          </c:tx>
          <c:spPr>
            <a:ln w="19050">
              <a:solidFill>
                <a:srgbClr val="AEB6BF"/>
              </a:solidFill>
            </a:ln>
          </c:spPr>
          <c:marker>
            <c:symbol val="circle"/>
            <c:size val="5"/>
            <c:spPr>
              <a:solidFill>
                <a:srgbClr val="AEB6BF"/>
              </a:solidFill>
              <a:ln>
                <a:solidFill>
                  <a:srgbClr val="AEB6BF"/>
                </a:solidFill>
              </a:ln>
            </c:spPr>
          </c:marker>
          <c:cat>
            <c:strRef>
              <c:f>Sheet1!$A$2:$A$5</c:f>
              <c:strCache>
                <c:ptCount val="4"/>
                <c:pt idx="0">
                  <c:v>75 s
stress</c:v>
                </c:pt>
                <c:pt idx="1">
                  <c:v>150 s
knee</c:v>
                </c:pt>
                <c:pt idx="2">
                  <c:v>300 s
relaxed</c:v>
                </c:pt>
                <c:pt idx="3">
                  <c:v>1800 s
12× knee</c:v>
                </c:pt>
              </c:strCache>
            </c:strRef>
          </c:cat>
          <c:val>
            <c:numRef>
              <c:f>Sheet1!$E$2:$E$5</c:f>
              <c:numCache>
                <c:formatCode>General</c:formatCode>
                <c:ptCount val="4"/>
                <c:pt idx="0">
                  <c:v>209.0</c:v>
                </c:pt>
                <c:pt idx="1">
                  <c:v>279.6</c:v>
                </c:pt>
                <c:pt idx="2">
                  <c:v>281.0</c:v>
                </c:pt>
                <c:pt idx="3">
                  <c:v>281.0</c:v>
                </c:pt>
              </c:numCache>
            </c:numRef>
          </c:val>
          <c:smooth val="0"/>
        </c:ser>
        <c:ser>
          <c:idx val="4"/>
          <c:order val="4"/>
          <c:tx>
            <c:strRef>
              <c:f>Sheet1!$F$1</c:f>
              <c:strCache>
                <c:ptCount val="1"/>
                <c:pt idx="0">
                  <c:v>FedCS</c:v>
                </c:pt>
              </c:strCache>
            </c:strRef>
          </c:tx>
          <c:spPr>
            <a:ln w="19050">
              <a:solidFill>
                <a:srgbClr val="AEB6BF"/>
              </a:solidFill>
            </a:ln>
          </c:spPr>
          <c:marker>
            <c:symbol val="circle"/>
            <c:size val="5"/>
            <c:spPr>
              <a:solidFill>
                <a:srgbClr val="AEB6BF"/>
              </a:solidFill>
              <a:ln>
                <a:solidFill>
                  <a:srgbClr val="AEB6BF"/>
                </a:solidFill>
              </a:ln>
            </c:spPr>
          </c:marker>
          <c:cat>
            <c:strRef>
              <c:f>Sheet1!$A$2:$A$5</c:f>
              <c:strCache>
                <c:ptCount val="4"/>
                <c:pt idx="0">
                  <c:v>75 s
stress</c:v>
                </c:pt>
                <c:pt idx="1">
                  <c:v>150 s
knee</c:v>
                </c:pt>
                <c:pt idx="2">
                  <c:v>300 s
relaxed</c:v>
                </c:pt>
                <c:pt idx="3">
                  <c:v>1800 s
12× knee</c:v>
                </c:pt>
              </c:strCache>
            </c:strRef>
          </c:cat>
          <c:val>
            <c:numRef>
              <c:f>Sheet1!$F$2:$F$5</c:f>
              <c:numCache>
                <c:formatCode>General</c:formatCode>
                <c:ptCount val="4"/>
                <c:pt idx="0">
                  <c:v>197.6</c:v>
                </c:pt>
                <c:pt idx="1">
                  <c:v>274.6</c:v>
                </c:pt>
                <c:pt idx="2">
                  <c:v>261.0</c:v>
                </c:pt>
                <c:pt idx="3">
                  <c:v>261.0</c:v>
                </c:pt>
              </c:numCache>
            </c:numRef>
          </c:val>
          <c:smooth val="0"/>
        </c:ser>
        <c:ser>
          <c:idx val="5"/>
          <c:order val="5"/>
          <c:tx>
            <c:strRef>
              <c:f>Sheet1!$G$1</c:f>
              <c:strCache>
                <c:ptCount val="1"/>
                <c:pt idx="0">
                  <c:v>DQN (Chen)</c:v>
                </c:pt>
              </c:strCache>
            </c:strRef>
          </c:tx>
          <c:spPr>
            <a:ln w="19050">
              <a:solidFill>
                <a:srgbClr val="AEB6BF"/>
              </a:solidFill>
            </a:ln>
          </c:spPr>
          <c:marker>
            <c:symbol val="circle"/>
            <c:size val="5"/>
            <c:spPr>
              <a:solidFill>
                <a:srgbClr val="AEB6BF"/>
              </a:solidFill>
              <a:ln>
                <a:solidFill>
                  <a:srgbClr val="AEB6BF"/>
                </a:solidFill>
              </a:ln>
            </c:spPr>
          </c:marker>
          <c:cat>
            <c:strRef>
              <c:f>Sheet1!$A$2:$A$5</c:f>
              <c:strCache>
                <c:ptCount val="4"/>
                <c:pt idx="0">
                  <c:v>75 s
stress</c:v>
                </c:pt>
                <c:pt idx="1">
                  <c:v>150 s
knee</c:v>
                </c:pt>
                <c:pt idx="2">
                  <c:v>300 s
relaxed</c:v>
                </c:pt>
                <c:pt idx="3">
                  <c:v>1800 s
12× knee</c:v>
                </c:pt>
              </c:strCache>
            </c:strRef>
          </c:cat>
          <c:val>
            <c:numRef>
              <c:f>Sheet1!$G$2:$G$5</c:f>
              <c:numCache>
                <c:formatCode>General</c:formatCode>
                <c:ptCount val="4"/>
                <c:pt idx="0">
                  <c:v>211.1</c:v>
                </c:pt>
                <c:pt idx="1">
                  <c:v>279.9</c:v>
                </c:pt>
                <c:pt idx="2">
                  <c:v>289.7</c:v>
                </c:pt>
                <c:pt idx="3">
                  <c:v>289.9</c:v>
                </c:pt>
              </c:numCache>
            </c:numRef>
          </c:val>
          <c:smooth val="0"/>
        </c:ser>
        <c:ser>
          <c:idx val="6"/>
          <c:order val="6"/>
          <c:tx>
            <c:strRef>
              <c:f>Sheet1!$H$1</c:f>
              <c:strCache>
                <c:ptCount val="1"/>
                <c:pt idx="0">
                  <c:v>FedEx route (ignores it)</c:v>
                </c:pt>
              </c:strCache>
            </c:strRef>
          </c:tx>
          <c:spPr>
            <a:ln w="25400">
              <a:solidFill>
                <a:srgbClr val="5E6B78"/>
              </a:solidFill>
              <a:prstDash val="dash"/>
            </a:ln>
          </c:spPr>
          <c:marker>
            <c:symbol val="circle"/>
            <c:size val="5"/>
            <c:spPr>
              <a:solidFill>
                <a:srgbClr val="5E6B78"/>
              </a:solidFill>
              <a:ln>
                <a:solidFill>
                  <a:srgbClr val="5E6B78"/>
                </a:solidFill>
              </a:ln>
            </c:spPr>
          </c:marker>
          <c:cat>
            <c:strRef>
              <c:f>Sheet1!$A$2:$A$5</c:f>
              <c:strCache>
                <c:ptCount val="4"/>
                <c:pt idx="0">
                  <c:v>75 s
stress</c:v>
                </c:pt>
                <c:pt idx="1">
                  <c:v>150 s
knee</c:v>
                </c:pt>
                <c:pt idx="2">
                  <c:v>300 s
relaxed</c:v>
                </c:pt>
                <c:pt idx="3">
                  <c:v>1800 s
12× knee</c:v>
                </c:pt>
              </c:strCache>
            </c:strRef>
          </c:cat>
          <c:val>
            <c:numRef>
              <c:f>Sheet1!$H$2:$H$5</c:f>
              <c:numCache>
                <c:formatCode>General</c:formatCode>
                <c:ptCount val="4"/>
                <c:pt idx="0">
                  <c:v>264.5</c:v>
                </c:pt>
                <c:pt idx="1">
                  <c:v>264.5</c:v>
                </c:pt>
                <c:pt idx="2">
                  <c:v>264.5</c:v>
                </c:pt>
                <c:pt idx="3">
                  <c:v>264.5</c:v>
                </c:pt>
              </c:numCache>
            </c:numRef>
          </c:val>
          <c:smooth val="0"/>
        </c:ser>
        <c:ser>
          <c:idx val="7"/>
          <c:order val="7"/>
          <c:tx>
            <c:strRef>
              <c:f>Sheet1!$I$1</c:f>
              <c:strCache>
                <c:ptCount val="1"/>
                <c:pt idx="0">
                  <c:v>FeRRy FQ*</c:v>
                </c:pt>
              </c:strCache>
            </c:strRef>
          </c:tx>
          <c:spPr>
            <a:ln w="22225">
              <a:solidFill>
                <a:srgbClr val="F0B086"/>
              </a:solidFill>
              <a:prstDash val="sysDot"/>
            </a:ln>
          </c:spPr>
          <c:marker>
            <c:symbol val="circle"/>
            <c:size val="5"/>
            <c:spPr>
              <a:solidFill>
                <a:srgbClr val="F0B086"/>
              </a:solidFill>
              <a:ln>
                <a:solidFill>
                  <a:srgbClr val="F0B086"/>
                </a:solidFill>
              </a:ln>
            </c:spPr>
          </c:marker>
          <c:cat>
            <c:strRef>
              <c:f>Sheet1!$A$2:$A$5</c:f>
              <c:strCache>
                <c:ptCount val="4"/>
                <c:pt idx="0">
                  <c:v>75 s
stress</c:v>
                </c:pt>
                <c:pt idx="1">
                  <c:v>150 s
knee</c:v>
                </c:pt>
                <c:pt idx="2">
                  <c:v>300 s
relaxed</c:v>
                </c:pt>
                <c:pt idx="3">
                  <c:v>1800 s
12× knee</c:v>
                </c:pt>
              </c:strCache>
            </c:strRef>
          </c:cat>
          <c:val>
            <c:numRef>
              <c:f>Sheet1!$I$2:$I$5</c:f>
              <c:numCache>
                <c:formatCode>General</c:formatCode>
                <c:ptCount val="4"/>
                <c:pt idx="0">
                  <c:v>181.6</c:v>
                </c:pt>
                <c:pt idx="1">
                  <c:v>180.3</c:v>
                </c:pt>
                <c:pt idx="2">
                  <c:v>179.3</c:v>
                </c:pt>
                <c:pt idx="3">
                  <c:v>179.3</c:v>
                </c:pt>
              </c:numCache>
            </c:numRef>
          </c:val>
          <c:smooth val="0"/>
        </c:ser>
        <c:ser>
          <c:idx val="8"/>
          <c:order val="8"/>
          <c:tx>
            <c:strRef>
              <c:f>Sheet1!$J$1</c:f>
              <c:strCache>
                <c:ptCount val="1"/>
                <c:pt idx="0">
                  <c:v>FeRRy FX</c:v>
                </c:pt>
              </c:strCache>
            </c:strRef>
          </c:tx>
          <c:spPr>
            <a:ln w="22225">
              <a:solidFill>
                <a:srgbClr val="E88D4F"/>
              </a:solidFill>
              <a:prstDash val="dash"/>
            </a:ln>
          </c:spPr>
          <c:marker>
            <c:symbol val="circle"/>
            <c:size val="5"/>
            <c:spPr>
              <a:solidFill>
                <a:srgbClr val="E88D4F"/>
              </a:solidFill>
              <a:ln>
                <a:solidFill>
                  <a:srgbClr val="E88D4F"/>
                </a:solidFill>
              </a:ln>
            </c:spPr>
          </c:marker>
          <c:cat>
            <c:strRef>
              <c:f>Sheet1!$A$2:$A$5</c:f>
              <c:strCache>
                <c:ptCount val="4"/>
                <c:pt idx="0">
                  <c:v>75 s
stress</c:v>
                </c:pt>
                <c:pt idx="1">
                  <c:v>150 s
knee</c:v>
                </c:pt>
                <c:pt idx="2">
                  <c:v>300 s
relaxed</c:v>
                </c:pt>
                <c:pt idx="3">
                  <c:v>1800 s
12× knee</c:v>
                </c:pt>
              </c:strCache>
            </c:strRef>
          </c:cat>
          <c:val>
            <c:numRef>
              <c:f>Sheet1!$J$2:$J$5</c:f>
              <c:numCache>
                <c:formatCode>General</c:formatCode>
                <c:ptCount val="4"/>
                <c:pt idx="0">
                  <c:v>175.3</c:v>
                </c:pt>
                <c:pt idx="1">
                  <c:v>178.1</c:v>
                </c:pt>
                <c:pt idx="2">
                  <c:v>178.1</c:v>
                </c:pt>
                <c:pt idx="3">
                  <c:v>178.1</c:v>
                </c:pt>
              </c:numCache>
            </c:numRef>
          </c:val>
          <c:smooth val="0"/>
        </c:ser>
        <c:ser>
          <c:idx val="9"/>
          <c:order val="9"/>
          <c:tx>
            <c:strRef>
              <c:f>Sheet1!$K$1</c:f>
              <c:strCache>
                <c:ptCount val="1"/>
                <c:pt idx="0">
                  <c:v>FeRRy F</c:v>
                </c:pt>
              </c:strCache>
            </c:strRef>
          </c:tx>
          <c:spPr>
            <a:ln w="38100">
              <a:solidFill>
                <a:schemeClr val="accent1"/>
              </a:solidFill>
            </a:ln>
          </c:spPr>
          <c:marker>
            <c:symbol val="circle"/>
            <c:size val="7"/>
            <c:spPr>
              <a:solidFill>
                <a:schemeClr val="accent1"/>
              </a:solidFill>
              <a:ln>
                <a:solidFill>
                  <a:schemeClr val="accent1"/>
                </a:solidFill>
              </a:ln>
            </c:spPr>
          </c:marker>
          <c:dLbls>
            <c:numFmt formatCode="0" sourceLinked="0"/>
            <c:txPr>
              <a:bodyPr/>
              <a:lstStyle/>
              <a:p>
                <a:pPr>
                  <a:defRPr sz="950" b="1">
                    <a:solidFill>
                      <a:schemeClr val="accent1"/>
                    </a:solidFill>
                  </a:defRPr>
                </a:pPr>
              </a:p>
            </c:txPr>
            <c:dLblPos val="t"/>
            <c:showLegendKey val="0"/>
            <c:showVal val="1"/>
            <c:showCatName val="0"/>
            <c:showSerName val="0"/>
            <c:showPercent val="0"/>
            <c:showBubbleSize val="0"/>
            <c:showLeaderLines val="1"/>
          </c:dLbls>
          <c:cat>
            <c:strRef>
              <c:f>Sheet1!$A$2:$A$5</c:f>
              <c:strCache>
                <c:ptCount val="4"/>
                <c:pt idx="0">
                  <c:v>75 s
stress</c:v>
                </c:pt>
                <c:pt idx="1">
                  <c:v>150 s
knee</c:v>
                </c:pt>
                <c:pt idx="2">
                  <c:v>300 s
relaxed</c:v>
                </c:pt>
                <c:pt idx="3">
                  <c:v>1800 s
12× knee</c:v>
                </c:pt>
              </c:strCache>
            </c:strRef>
          </c:cat>
          <c:val>
            <c:numRef>
              <c:f>Sheet1!$K$2:$K$5</c:f>
              <c:numCache>
                <c:formatCode>General</c:formatCode>
                <c:ptCount val="4"/>
                <c:pt idx="0">
                  <c:v>178.0</c:v>
                </c:pt>
                <c:pt idx="1">
                  <c:v>194.0</c:v>
                </c:pt>
                <c:pt idx="2">
                  <c:v>194.0</c:v>
                </c:pt>
                <c:pt idx="3">
                  <c:v>194.0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a:solidFill>
              <a:srgbClr val="D5DBE1"/>
            </a:solidFill>
          </a:ln>
        </c:spPr>
        <c:txPr>
          <a:bodyPr/>
          <a:lstStyle/>
          <a:p>
            <a:pPr>
              <a:defRPr sz="950">
                <a:solidFill>
                  <a:schemeClr val="dk1"/>
                </a:solidFill>
              </a:defRPr>
            </a:pPr>
          </a:p>
        </c:txPr>
        <c:crossAx val="2140495176"/>
        <c:crosses val="autoZero"/>
        <c:auto val="1"/>
        <c:lblAlgn val="ctr"/>
        <c:lblOffset val="100"/>
        <c:noMultiLvlLbl val="0"/>
      </c:catAx>
      <c:valAx>
        <c:axId val="2140495176"/>
        <c:scaling>
          <c:max val="300.0"/>
          <c:min val="150.0"/>
        </c:scaling>
        <c:delete val="0"/>
        <c:axPos val="l"/>
        <c:majorGridlines>
          <c:spPr>
            <a:ln w="9525">
              <a:solidFill>
                <a:srgbClr val="E3E8EC"/>
              </a:solidFill>
            </a:ln>
          </c:spPr>
        </c:majorGridlines>
        <c:numFmt formatCode="0&quot; s&quot;" sourceLinked="0"/>
        <c:majorTickMark val="none"/>
        <c:minorTickMark val="none"/>
        <c:tickLblPos val="nextTo"/>
        <c:spPr>
          <a:ln>
            <a:noFill/>
          </a:ln>
        </c:spPr>
        <c:txPr>
          <a:bodyPr/>
          <a:lstStyle/>
          <a:p>
            <a:pPr>
              <a:defRPr sz="900">
                <a:solidFill>
                  <a:schemeClr val="accent3"/>
                </a:solidFill>
              </a:defRPr>
            </a:pPr>
          </a:p>
        </c:txPr>
        <c:crossAx val="2118791784"/>
        <c:crosses val="autoZero"/>
        <c:majorUnit val="50.0"/>
      </c:valAx>
    </c:plotArea>
    <c:legend>
      <c:legendPos val="t"/>
      <c:legendEntry>
        <c:idx val="5"/>
        <c:delete val="1"/>
      </c:legendEntry>
      <c:legendEntry>
        <c:idx val="4"/>
        <c:delete val="1"/>
      </c:legendEntry>
      <c:legendEntry>
        <c:idx val="3"/>
        <c:delete val="1"/>
      </c:legendEntry>
      <c:legendEntry>
        <c:idx val="2"/>
        <c:delete val="1"/>
      </c:legendEntry>
      <c:legendEntry>
        <c:idx val="1"/>
        <c:delete val="1"/>
      </c:legendEntry>
      <c:layout/>
      <c:overlay val="0"/>
      <c:txPr>
        <a:bodyPr/>
        <a:lstStyle/>
        <a:p>
          <a:pPr>
            <a:defRPr sz="900">
              <a:solidFill>
                <a:schemeClr val="dk1"/>
              </a:solidFill>
            </a:defRPr>
          </a:pPr>
        </a:p>
      </c:txPr>
    </c:legend>
    <c:plotVisOnly val="1"/>
    <c:dispBlanksAs val="gap"/>
    <c:showDLblsOverMax val="0"/>
  </c:chart>
  <c:txPr>
    <a:bodyPr/>
    <a:lstStyle/>
    <a:p>
      <a:pPr>
        <a:defRPr sz="95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cba64de7ce9da8d_3_1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hcba64de7ce9da8d_3_1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FeRRy stands for Federated RF-aware Routing (RF is radio frequency). It plans drone (UAV) missions that carry federated-learning updates to and from devices that cannot reach the server.</a:t>
            </a:r>
            <a:br>
              <a:rPr lang="en" sz="1100"/>
            </a:br>
            <a:br>
              <a:rPr lang="en" sz="1100"/>
            </a:br>
            <a:r>
              <a:rPr lang="en" sz="1100"/>
              <a:t>Plan for the talk: the problem and the idea, related work, the two methods that matter (the two decision clocks and the joint RL model), how I tested it, and then the results, including the limits I measured.</a:t>
            </a:r>
            <a:endParaRPr/>
          </a:p>
        </p:txBody>
      </p:sp>
      <p:sp>
        <p:nvSpPr>
          <p:cNvPr id="68" name="Google Shape;68;hcba64de7ce9da8d_3_1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cba64de7ce9da8d_3_3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hcba64de7ce9da8d_3_3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If you remember one slide, it is this one.</a:t>
            </a:r>
            <a:br>
              <a:rPr lang="en" sz="1100"/>
            </a:br>
            <a:br>
              <a:rPr lang="en" sz="1100"/>
            </a:br>
            <a:r>
              <a:rPr lang="en" sz="1100"/>
              <a:t>Headline: with six devices and one drone at a moderate budget, FeRRy reaches the target accuracy 27 to 31 percent sooner than each of seven baseline schedulers. Under tight budgets it keeps model updates about a quarter fresher than age-of-information schedulers. Planning is cheap: 1.5 seconds for 96 devices.</a:t>
            </a:r>
            <a:br>
              <a:rPr lang="en" sz="1100"/>
            </a:br>
            <a:br>
              <a:rPr lang="en" sz="1100"/>
            </a:br>
            <a:r>
              <a:rPr lang="en" sz="1100"/>
              <a:t>The reason is simple: FeRRy's plan picks a narrow radio band that reaches far, so the drone barely has to fly between stops.</a:t>
            </a:r>
            <a:br>
              <a:rPr lang="en" sz="1100"/>
            </a:br>
            <a:br>
              <a:rPr lang="en" sz="1100"/>
            </a:br>
            <a:r>
              <a:rPr lang="en" sz="1100"/>
              <a:t>I also report where it falls short. First, under tight budgets 3 in 10 missions finish late, because the plan prices the average radio signal and real signal dips make transfers take longer. Second, the plan assumes every device's update is ready when the drone arrives; when devices need time to train, the drone comes back too soon and often finds nothing ready. Slide 20 explains both.</a:t>
            </a:r>
            <a:endParaRPr/>
          </a:p>
        </p:txBody>
      </p:sp>
      <p:sp>
        <p:nvSpPr>
          <p:cNvPr id="88" name="Google Shape;88;hcba64de7ce9da8d_3_3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cba64de7ce9da8d_3_5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hcba64de7ce9da8d_3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Background for anyone new to federated learning. FL trains one shared model across many devices without collecting their data in one place.</a:t>
            </a:r>
            <a:br>
              <a:rPr lang="en" sz="1100"/>
            </a:br>
            <a:br>
              <a:rPr lang="en" sz="1100"/>
            </a:br>
            <a:r>
              <a:rPr lang="en" sz="1100"/>
              <a:t>One round has five steps. The server sends the current shared model, the global model, to each device. Each device trains it briefly on its own private data. Each device sends back only its update, meaning how the model changed, not the data. The server averages the updates into a new global model; the standard averaging rule is FedAvg, reference 1. Then the loop repeats, and one full loop is a round.</a:t>
            </a:r>
            <a:br>
              <a:rPr lang="en" sz="1100"/>
            </a:br>
            <a:br>
              <a:rPr lang="en" sz="1100"/>
            </a:br>
            <a:r>
              <a:rPr lang="en" sz="1100"/>
              <a:t>Two reasons people use it: raw data stays on the device, and an update is much smaller than the data behind it.</a:t>
            </a:r>
            <a:br>
              <a:rPr lang="en" sz="1100"/>
            </a:br>
            <a:br>
              <a:rPr lang="en" sz="1100"/>
            </a:br>
            <a:r>
              <a:rPr lang="en" sz="1100"/>
              <a:t>The catch is the assumption in the orange box: in every round the server must be able to reach the devices and hear back. The next slide shows what happens when that fails.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cba64de7ce9da8d_3_10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hcba64de7ce9da8d_3_10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FL lets devices train a shared model without sending their raw data, but every device still has to reach the server.</a:t>
            </a:r>
            <a:br>
              <a:rPr lang="en" sz="1100"/>
            </a:br>
            <a:br>
              <a:rPr lang="en" sz="1100"/>
            </a:br>
            <a:r>
              <a:rPr lang="en" sz="1100"/>
              <a:t>In disaster zones, wildfires or tactical settings, that fails: connectivity is denied, disrupted, intermittent or limited. Devices out of range are skipped repeatedly, their updates are lost, and rounds stall.</a:t>
            </a:r>
            <a:br>
              <a:rPr lang="en" sz="1100"/>
            </a:br>
            <a:br>
              <a:rPr lang="en" sz="1100"/>
            </a:br>
            <a:r>
              <a:rPr lang="en" sz="1100"/>
              <a:t>I measured this directly: with no drone, FL over the degraded link merged half an update per round and ended at 68.6 percent accuracy, barely above the 66.7 percent you get by calling every network flow benign.</a:t>
            </a:r>
            <a:br>
              <a:rPr lang="en" sz="1100"/>
            </a:br>
            <a:br>
              <a:rPr lang="en" sz="1100"/>
            </a:br>
            <a:r>
              <a:rPr lang="en" sz="1100"/>
              <a:t>So the gap is not faster FL communication; it is FL that keeps going when the network is fragmented.</a:t>
            </a:r>
            <a:endParaRPr/>
          </a:p>
        </p:txBody>
      </p:sp>
      <p:sp>
        <p:nvSpPr>
          <p:cNvPr id="156" name="Google Shape;156;hcba64de7ce9da8d_3_10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cba64de7ce9da8d_3_14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hcba64de7ce9da8d_3_14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Drones acting as data mules can fly model updates between isolated devices and the server. But a drone has limited flight time, and its radio decides how far it reaches.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The key observation: the radio band is itself a decision. Same carrier, same transmit power. A wide 20 MHz band transfers fast but only reaches about 60 m, so the drone needs many stops and spends most of its time flying. A narrow 1.4 MHz band reaches about 232 m: one stop can cover the whole field, at the cost of longer transfers while hovering.</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Rings are drawn to scale over the 200 by 200 m test field. Which band wins depends on the number of devices, their positions and the time left, so FeRRy chooses band and route together before each flight.</a:t>
            </a:r>
            <a:endParaRPr/>
          </a:p>
        </p:txBody>
      </p:sp>
      <p:sp>
        <p:nvSpPr>
          <p:cNvPr id="200" name="Google Shape;200;hcba64de7ce9da8d_3_14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hcba64de7ce9da8d_3_18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hcba64de7ce9da8d_3_18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Four contributions.</a:t>
            </a:r>
            <a:br>
              <a:rPr lang="en" sz="1100"/>
            </a:br>
            <a:br>
              <a:rPr lang="en" sz="1100"/>
            </a:br>
            <a:r>
              <a:rPr lang="en" sz="1100"/>
              <a:t>One: I treat the contact band, which sets how far a drone reaches and how fast it transfers, as a decision made jointly with the route under a mission budget.</a:t>
            </a:r>
            <a:br>
              <a:rPr lang="en" sz="1100"/>
            </a:br>
            <a:br>
              <a:rPr lang="en" sz="1100"/>
            </a:br>
            <a:r>
              <a:rPr lang="en" sz="1100"/>
              <a:t>Two: a two-clock design. A clock here just means a moment when the system decides: once at the dock before takeoff, and again at every stop in flight (slide 10). The same feasibility test gates the plan made at the dock and the decisions made at each stop in flight. Learning is bounded: it only ranks options the test already admits.</a:t>
            </a:r>
            <a:br>
              <a:rPr lang="en" sz="1100"/>
            </a:br>
            <a:br>
              <a:rPr lang="en" sz="1100"/>
            </a:br>
            <a:r>
              <a:rPr lang="en" sz="1100"/>
              <a:t>Three: a multi-process prototype that trains a real model, and FerrySim, a simulator built from the same code, which trains the learned parts and scales to 96 devices.</a:t>
            </a:r>
            <a:br>
              <a:rPr lang="en" sz="1100"/>
            </a:br>
            <a:br>
              <a:rPr lang="en" sz="1100"/>
            </a:br>
            <a:r>
              <a:rPr lang="en" sz="1100"/>
              <a:t>Four: a pre-registered comparison against seven complete schedulers, with paired seeds and multiplicity correction. I report where FeRRy wins, why, which parts show no effect, and where it falls short.</a:t>
            </a:r>
            <a:endParaRPr/>
          </a:p>
        </p:txBody>
      </p:sp>
      <p:sp>
        <p:nvSpPr>
          <p:cNvPr id="238" name="Google Shape;238;hcba64de7ce9da8d_3_18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cba64de7ce9da8d_3_209: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hcba64de7ce9da8d_3_209: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Five lines of prior work, each solving part of the problem.</a:t>
            </a:r>
            <a:br>
              <a:rPr lang="en" sz="1100"/>
            </a:br>
            <a:br>
              <a:rPr lang="en" sz="1100"/>
            </a:br>
            <a:r>
              <a:rPr lang="en" sz="1100"/>
              <a:t>Hierarchical and relay FL aggregate at the edge and forward updates over unreliable links, but assume some network path eventually exists.</a:t>
            </a:r>
            <a:br>
              <a:rPr lang="en" sz="1100"/>
            </a:br>
            <a:br>
              <a:rPr lang="en" sz="1100"/>
            </a:br>
            <a:r>
              <a:rPr lang="en" sz="1100"/>
              <a:t>UAV-assisted FL brings in mobility. The closest precedent is FedEx, where mobile transporters physically carry models. But FedEx uses preplanned tours and fixed radio conditions, with no deadlines or in-flight adaptation.</a:t>
            </a:r>
            <a:br>
              <a:rPr lang="en" sz="1100"/>
            </a:br>
            <a:br>
              <a:rPr lang="en" sz="1100"/>
            </a:br>
            <a:r>
              <a:rPr lang="en" sz="1100"/>
              <a:t>RF-aware trajectory learning is well studied; I do not claim it as new. What differs is that in FeRRy the radio choice changes whether and how long an FL update takes to transport.</a:t>
            </a:r>
            <a:br>
              <a:rPr lang="en" sz="1100"/>
            </a:br>
            <a:br>
              <a:rPr lang="en" sz="1100"/>
            </a:br>
            <a:r>
              <a:rPr lang="en" sz="1100"/>
              <a:t>Client selection and freshness methods such as FedCS, Oort and age-of-information scheduling rank devices, but ignore the physical cost of flying to them.</a:t>
            </a:r>
            <a:br>
              <a:rPr lang="en" sz="1100"/>
            </a:br>
            <a:br>
              <a:rPr lang="en" sz="1100"/>
            </a:br>
            <a:r>
              <a:rPr lang="en" sz="1100"/>
              <a:t>Asynchronous aggregation such as FedBuff and Async-HFL handles stale updates, but assumes they arrive over the network rather than by flight.</a:t>
            </a:r>
            <a:br>
              <a:rPr lang="en" sz="1100"/>
            </a:br>
            <a:br>
              <a:rPr lang="en" sz="1100"/>
            </a:br>
            <a:r>
              <a:rPr lang="en" sz="1100"/>
              <a:t>References: the bracketed numbers match the reference list on the last slide. 1 is FedAvg (slide 3). 2 to 4 are hierarchical and relay FL, 5 to 7 are UAV-assisted FL including FedEx, 8 and 9 are multi-UAV reinforcement learning, 10 to 12 are client selection and freshness, 13 and 14 are asynchronous aggregation.</a:t>
            </a:r>
            <a:endParaRPr/>
          </a:p>
        </p:txBody>
      </p:sp>
      <p:sp>
        <p:nvSpPr>
          <p:cNvPr id="267" name="Google Shape;267;hcba64de7ce9da8d_3_209: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hcba64de7ce9da8d_3_218: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hcba64de7ce9da8d_3_218: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This matrix condenses Table 1 of the paper. Each row is a representative approach; the columns are the six capabilities a drone-carried FL system needs.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Prior work covers some columns: FedEx has physical transport and route decisions; the multi-UAV learning work has RF awareness and in-mission re-planning; client selection has deadlines and freshness.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No prior approach couples them: RF-dependent reach and service time, together with per-device deadlines and in-mission route changes, all under a finite mission budget. That coupling is FeRRy's distinction, not any single column on its own.</a:t>
            </a:r>
            <a:endParaRPr/>
          </a:p>
        </p:txBody>
      </p:sp>
      <p:sp>
        <p:nvSpPr>
          <p:cNvPr id="277" name="Google Shape;277;hcba64de7ce9da8d_3_218: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cba64de7ce9da8d_3_228: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hcba64de7ce9da8d_3_228: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A mission has two passes. At the dock, the drone plans: it picks a radio band and a route. In Pass 1 it flies the route, gives each device the current model and picks up the device's prepared update. It merges those updates on board, weighting stale ones down, flies home and uploads. The server merges across drones into the next global model. In Pass 2 the drone delivers that new model to every device, so each later update has a known base version, and therefore an age.</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 mission budget bounds Pass 1: the plan and every in-flight check require landing and upload within the budget.</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Three layers feed each decision. The RF layer prices options: range, rate and dwell time. The scheduling layer decides. The FL layer supplies value: how old an update is, how much it counts, and how overdue a device is.</a:t>
            </a:r>
            <a:endParaRPr/>
          </a:p>
        </p:txBody>
      </p:sp>
      <p:sp>
        <p:nvSpPr>
          <p:cNvPr id="288" name="Google Shape;288;hcba64de7ce9da8d_3_228: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cba64de7ce9da8d_3_27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hcba64de7ce9da8d_3_27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This is the core of the method: two decision clocks.</a:t>
            </a:r>
            <a:br>
              <a:rPr lang="en" sz="1100"/>
            </a:br>
            <a:br>
              <a:rPr lang="en" sz="1100"/>
            </a:br>
            <a:r>
              <a:rPr lang="en" sz="1100"/>
              <a:t>On the plan clock, once per mission at the dock, the drone chooses a band class and a route together. They have to be chosen together: the band fixes the contact range, the range fixes how devices group into stops, and the stops fix the route. For each band class it clusters devices into stops at that range, searches routes (exact search up to six devices or stops, local search beyond), and commits the plan that serves the most urgency weight, with time and energy breaking ties.</a:t>
            </a:r>
            <a:br>
              <a:rPr lang="en" sz="1100"/>
            </a:br>
            <a:br>
              <a:rPr lang="en" sz="1100"/>
            </a:br>
            <a:r>
              <a:rPr lang="en" sz="1100"/>
              <a:t>On the flight clock, at each stop in Pass 1, the drone measures the actual signal on each band and can change the band and the next stop. Then it serves the devices. If the remaining route no longer fits the budget, it re-plans by trimming.</a:t>
            </a:r>
            <a:br>
              <a:rPr lang="en" sz="1100"/>
            </a:br>
            <a:br>
              <a:rPr lang="en" sz="1100"/>
            </a:br>
            <a:r>
              <a:rPr lang="en" sz="1100"/>
              <a:t>Both clocks share one feasibility test, highlighted in orange. Hard gates always run before any ranking, so a learned rule can only choose among options the test admits.</a:t>
            </a:r>
            <a:br>
              <a:rPr lang="en" sz="1100"/>
            </a:br>
            <a:br>
              <a:rPr lang="en" sz="1100"/>
            </a:br>
            <a:r>
              <a:rPr lang="en" sz="1100"/>
              <a:t>Analogy for newcomers: the plan clock is planning a road trip before you leave, choosing the route and the stops. The flight clock is checking traffic at every stop and adjusting. In both cases the same feasibility test (next slide) says whether an option still fits the deadlines, the time budget and the battery.</a:t>
            </a:r>
            <a:endParaRPr/>
          </a:p>
        </p:txBody>
      </p:sp>
      <p:sp>
        <p:nvSpPr>
          <p:cNvPr id="333" name="Google Shape;333;hcba64de7ce9da8d_3_27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hcba64de7ce9da8d_3_320: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hcba64de7ce9da8d_3_320: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One predicate decides whether a stop may be served next, and it is the only admission rule. It computes when the drone would arrive, when it would finish serving the stop given the transfer rate on the chosen band, and when it would be home with the upload done. The stop is admitted only if the devices meet their deadlines, the drone is home within the budget, and the energy fits.</a:t>
            </a:r>
            <a:br>
              <a:rPr lang="en" sz="1100"/>
            </a:br>
            <a:br>
              <a:rPr lang="en" sz="1100"/>
            </a:br>
            <a:r>
              <a:rPr lang="en" sz="1100"/>
              <a:t>Four ingredients feed it. Deadlines adapt per device: they tighten after a clean contact and loosen after a miss. A coverage weight grows roughly with the square of how many missions a device has gone unserved, so neglected devices become urgent. An age cap forces service after two skipped missions. And merges weight each update by its examples and by one over its age plus one.</a:t>
            </a:r>
            <a:br>
              <a:rPr lang="en" sz="1100"/>
            </a:br>
            <a:br>
              <a:rPr lang="en" sz="1100"/>
            </a:br>
            <a:r>
              <a:rPr lang="en" sz="1100"/>
              <a:t>One caveat: the planner prices the mean signal, not its variation, so real missions can run longer than planned. That is where the budget overruns in the results come from.</a:t>
            </a:r>
            <a:br>
              <a:rPr lang="en" sz="1100"/>
            </a:br>
            <a:br>
              <a:rPr lang="en" sz="1100"/>
            </a:br>
            <a:r>
              <a:rPr lang="en" sz="1100"/>
              <a:t>Why each ingredient exists: adaptive deadlines let reliable devices be visited sooner and give struggling ones slack. The coverage weight makes a long-neglected device urgent. The age cap puts a limit on neglect. The stale-aware merge stops an update trained on an old model from dragging the new model backwards.</a:t>
            </a:r>
            <a:endParaRPr/>
          </a:p>
        </p:txBody>
      </p:sp>
      <p:sp>
        <p:nvSpPr>
          <p:cNvPr id="382" name="Google Shape;382;hcba64de7ce9da8d_3_320: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cba64de7ce9da8d_3_361: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hcba64de7ce9da8d_3_361: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The joint RL model lives on the flight clock. At each stop the drone has a slot where it may change two things together: the band to serve on, and which stop to fly to next. That pair is the joint action.</a:t>
            </a:r>
            <a:br>
              <a:rPr lang="en" sz="1100"/>
            </a:br>
            <a:br>
              <a:rPr lang="en" sz="1100"/>
            </a:br>
            <a:r>
              <a:rPr lang="en" sz="1100"/>
              <a:t>I built three ways to fill that slot. F leaves it empty and flies the plan. FX is a fixed rule: the fastest band that still reaches the planned devices, and the nearest remaining stop that keeps the plan feasible. FQ is learned: a masked double DQN scores every band-and-next-stop pair.</a:t>
            </a:r>
            <a:br>
              <a:rPr lang="en" sz="1100"/>
            </a:br>
            <a:br>
              <a:rPr lang="en" sz="1100"/>
            </a:br>
            <a:r>
              <a:rPr lang="en" sz="1100"/>
              <a:t>Its state includes the signal on each band here and at the next stop, dwell time, deadline slack, plan ages, mission time and energy left, and the interference phase. The mask is the key safety property: a pair is allowed only if the band still reaches what the plan's band reaches, the stop belongs to the plan, and the rest of the flight passes the feasibility test. If nothing is allowed, it falls back to FX. The reward is the merge weight collected minus a time cost, with a penalty at the end for promised devices that were missed. It is trained in FerrySim.</a:t>
            </a:r>
            <a:br>
              <a:rPr lang="en" sz="1100"/>
            </a:br>
            <a:br>
              <a:rPr lang="en" sz="1100"/>
            </a:br>
            <a:r>
              <a:rPr lang="en" sz="1100"/>
              <a:t>Spoiler for the results: FQ performs like FX, so the learning itself adds nothing measurable; the gain comes from the plan it flies inside.</a:t>
            </a:r>
            <a:br>
              <a:rPr lang="en" sz="1100"/>
            </a:br>
            <a:br>
              <a:rPr lang="en" sz="1100"/>
            </a:br>
            <a:r>
              <a:rPr lang="en" sz="1100"/>
              <a:t>Terms for newcomers: RL is reinforcement learning, learning by trial and reward. DQN is a deep Q-network, a neural network that learns how good each option is. The discount factor gamma says how much later rewards count; 0 means only the next stop matters. The mask is a safety filter that removes options that would break the plan before the network picks.</a:t>
            </a:r>
            <a:endParaRPr/>
          </a:p>
        </p:txBody>
      </p:sp>
      <p:sp>
        <p:nvSpPr>
          <p:cNvPr id="424" name="Google Shape;424;hcba64de7ce9da8d_3_361: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hcba64de7ce9da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hcba64de7ce9da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FX is the fixed rule that sits in the same in-flight slot as FQ, the learned score. It makes two choices at every stop in Pass 1, after the drone has taken off and measured the real signal.</a:t>
            </a:r>
          </a:p>
          <a:p/>
          <a:p>
            <a:r>
              <a:t>Rule 1, the band on arrival. FX keeps only the band classes that still reach every device the plan's band reaches, priced at the signal measured on arrival. Of those, it takes the one with the shortest dwell. The plan's own band always qualifies, so FX can never hover longer than F, which sticks to the plan, and can never reach fewer devices. The closest textbook name is a greedy constrained selection; it has no published name.</a:t>
            </a:r>
          </a:p>
          <a:p/>
          <a:p>
            <a:r>
              <a:t>Rule 2, the next stop. FX ranks the remaining stops by straight-line distance and flies to the nearest one that can move to the front while the rest of the plan still passes the same feasibility test the plan uses. If none can, it keeps the plan's next stop. This is the nearest-neighbour heuristic from route construction, with a feasibility filter. The first stop after takeoff is always the plan's, because nothing has been measured yet.</a:t>
            </a:r>
          </a:p>
          <a:p/>
          <a:p>
            <a:r>
              <a:t>Pass 2, delivery, is identical to F. No learning, no randomness, no wall-clock cost.</a:t>
            </a:r>
          </a:p>
          <a:p/>
          <a:p>
            <a:r>
              <a:t>Why it is built this way: an earlier version picked the band that reached the most devices. Narrower bands added a median 60.5 seconds of dwell and some last-stop switches ended past the budget, so it was replaced by the fastest covering band.</a:t>
            </a:r>
          </a:p>
          <a:p/>
          <a:p>
            <a:r>
              <a:t>In the results, FX matches F and FQ on time to target; the learned FQ matched FX rather than beating 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hcba64de7ce9da8d_3_41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hcba64de7ce9da8d_3_41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The prototype runs the server, each drone and each device as separate Python processes talking over TCP, and the devices train a real model: a binary intrusion detector on the CICIoT2023 dataset. Flight time, the radio channel and energy are simulated. FerrySim, built from the same code, trains the learned parts and runs the largest problems.</a:t>
            </a:r>
            <a:br>
              <a:rPr lang="en" sz="1100"/>
            </a:br>
            <a:br>
              <a:rPr lang="en" sz="1100"/>
            </a:br>
            <a:r>
              <a:rPr lang="en" sz="1100"/>
              <a:t>The primary metric is how much simulated time it takes to reach 71 percent test accuracy. That target was fixed in advance from pilot runs; it measures how soon the model becomes useful. Each setting has two budgets: the knee, where more budget stops helping, and a stress budget at half of it.</a:t>
            </a:r>
            <a:br>
              <a:rPr lang="en" sz="1100"/>
            </a:br>
            <a:br>
              <a:rPr lang="en" sz="1100"/>
            </a:br>
            <a:r>
              <a:rPr lang="en" sz="1100"/>
              <a:t>Every comparison is paired by seed, so all schedulers see the same layout, channel and data. A result counts as a claim only if the bootstrap confidence interval excludes zero and the Holm-corrected p-value is below 0.05.</a:t>
            </a:r>
            <a:br>
              <a:rPr lang="en" sz="1100"/>
            </a:br>
            <a:br>
              <a:rPr lang="en" sz="1100"/>
            </a:br>
            <a:r>
              <a:rPr lang="en" sz="1100"/>
              <a:t>I compare against seven complete schedulers: my earlier deadline heuristic H1, MAX age-of-information, Oort, the Whittle index from Cui et al., FedEx's route, FedCS, and a DQN scheduler after Chen et al. All of them fly the wide band.</a:t>
            </a:r>
            <a:endParaRPr/>
          </a:p>
        </p:txBody>
      </p:sp>
      <p:sp>
        <p:nvSpPr>
          <p:cNvPr id="486" name="Google Shape;486;hcba64de7ce9da8d_3_41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cba64de7ce9da8d_3_45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hcba64de7ce9da8d_3_45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The headline result. With six devices, one drone and the knee budget, F reaches 71 percent accuracy in 194 seconds; the seven baselines need 264 to 282 seconds. That is 27 to 31 percent faster, every comparison is a statistically significant claim, and F gets there first in 80 to 90 percent of paired seeds.</a:t>
            </a:r>
            <a:br>
              <a:rPr lang="en" sz="1100"/>
            </a:br>
            <a:br>
              <a:rPr lang="en" sz="1100"/>
            </a:br>
            <a:r>
              <a:rPr lang="en" sz="1100"/>
              <a:t>FX and FQ, the per-stop variants, are not different from F. FQ was flown later in an exploratory comparison, marked with an asterisk.</a:t>
            </a:r>
            <a:br>
              <a:rPr lang="en" sz="1100"/>
            </a:br>
            <a:br>
              <a:rPr lang="en" sz="1100"/>
            </a:br>
            <a:r>
              <a:rPr lang="en" sz="1100"/>
              <a:t>Two context points. With three drones every scheduler gets there in about a minute, except FedEx with its own merge rule at 101 seconds. And with no drone at all, FL over the degraded link merges half an update per round and ends at 68.6 percent accuracy, compared with F's 3.5 updates per round and 83.1 percent.</a:t>
            </a:r>
            <a:br>
              <a:rPr lang="en" sz="1100"/>
            </a:br>
            <a:br>
              <a:rPr lang="en" sz="1100"/>
            </a:br>
            <a:r>
              <a:rPr lang="en" sz="1100"/>
              <a:t>Under the tighter stress budget, only the FedEx route is significantly slower; the other baselines trail by 28 to 60 seconds but stay within budget by leaving devices out.</a:t>
            </a:r>
            <a:br>
              <a:rPr lang="en" sz="1100"/>
            </a:br>
            <a:br>
              <a:rPr lang="en" sz="1100"/>
            </a:br>
            <a:r>
              <a:rPr lang="en" sz="1100"/>
              <a:t>Plain terms: a paired trial runs every scheduler on the same layout, signal and data, so a gap comes from the scheduler and not from luck. Significant means the gap is larger than chance would explain (the 95 percent confidence interval excludes zero and the Holm-corrected p-value is below 0.05). The knee budget is the time budget where giving more time stops helping (slide 13).</a:t>
            </a:r>
            <a:endParaRPr/>
          </a:p>
        </p:txBody>
      </p:sp>
      <p:sp>
        <p:nvSpPr>
          <p:cNvPr id="525" name="Google Shape;525;hcba64de7ce9da8d_3_45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hcba64de7ce9da8d_3_475: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 name="Google Shape;547;hcba64de7ce9da8d_3_475: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Why is FeRRy faster? Not because it needs fewer rounds: every scheduler reaches the target in about 1.7 to 1.8 rounds with nearly the same number of updates. FeRRy's rounds are shorter.</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Every baseline flies the wide band, which only reaches devices from nearby, so about 140 seconds of each mission is transit between stops, the red segment. F's plan chooses the narrow band in 89 percent of missions. Its range covers the field from about one stop, so F spends 15 seconds in transit and most of its time transferring (the teal segment). Missions end up 22 to 26 percent shorter.</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The pinning test confirms the cause: force F onto the wide band and it takes about 265 seconds, the same as FedEx's route. Force it onto narrow and it takes 196 seconds, the same as letting it choose.</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 caveat for questions: these pinned times are descriptive. The band-pinning study's pre-registered metric was the age of updates, which did not differ.</a:t>
            </a:r>
            <a:endParaRPr/>
          </a:p>
        </p:txBody>
      </p:sp>
      <p:sp>
        <p:nvSpPr>
          <p:cNvPr id="548" name="Google Shape;548;hcba64de7ce9da8d_3_475: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hcba64de7ce9da8d_3_49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hcba64de7ce9da8d_3_49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The band choice is not a fixed preference for narrow. It adapts.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With six devices and the knee budget, F picks narrow 89 percent of the time. As the field fills (the field size stays the same, so it gets denser) and as the budget tightens, F shifts toward medium and then wide. With 24 devices under the stress budget it flies wide in about two thirds of missions.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That is the point of treating reach as a decision: no single band is right everywhere.</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The choice is also close to the best possible. In FerrySim, an exhaustive oracle that tries every plan serves the same number of devices at the knee budget, and only 4 points more under stress.</a:t>
            </a:r>
            <a:endParaRPr/>
          </a:p>
        </p:txBody>
      </p:sp>
      <p:sp>
        <p:nvSpPr>
          <p:cNvPr id="567" name="Google Shape;567;hcba64de7ce9da8d_3_49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hcba64de7ce9da8d_3_506: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0" name="Google Shape;580;hcba64de7ce9da8d_3_506: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Scale and cost.</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Planning stays cheap. Alone on one host, a plan takes 0.04 seconds at six devices and 1.5 seconds at 96, with the 95th percentile at 2 seconds. (The small dip at 12 devices is real: the search switches from exhaustive to a cheaper mode as the problem grows.)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At 24 devices, F is significantly faster than H1 and the Whittle index at the knee, ties FedEx's route, and beats it under the stress budget, 661 against 752 seconds. At 12 devices no comparison reached significance.</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Adding drones helps a lot: at 12 devices F's time to target falls from 486 seconds with one drone to 226 with two and 151 with three.</a:t>
            </a:r>
            <a:endParaRPr/>
          </a:p>
        </p:txBody>
      </p:sp>
      <p:sp>
        <p:nvSpPr>
          <p:cNvPr id="581" name="Google Shape;581;hcba64de7ce9da8d_3_506: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hcba64de7ce9da8d_3_524: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hcba64de7ce9da8d_3_524: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Fairness and freshness. Under the stress budget, FeRRy's network age of updates is 0.78 missions, against 1.06 for a MAX age-of-information scheduler and 1.07 for the Whittle index. Removing FeRRy's coverage term pushes it to 1.10. All of these are significant.</a:t>
            </a:r>
            <a:br>
              <a:rPr lang="en" sz="1100"/>
            </a:br>
            <a:br>
              <a:rPr lang="en" sz="1100"/>
            </a:br>
            <a:r>
              <a:rPr lang="en" sz="1100"/>
              <a:t>The coverage term also matters for closing rounds: without it, the round-close rate at 12 devices falls from 99 to 74 percent. On a time-varying backhaul, the adaptive carrier controller lowers the age from 0.88 to 0.69, though it sees the signal that decides each loss, so it is close to an oracle.</a:t>
            </a:r>
            <a:br>
              <a:rPr lang="en" sz="1100"/>
            </a:br>
            <a:br>
              <a:rPr lang="en" sz="1100"/>
            </a:br>
            <a:r>
              <a:rPr lang="en" sz="1100"/>
              <a:t>I also report what showed no measurable effect: pinning the band (on age, its effect is on time), the dwell term, the age cap over four missions, alternative merge rules (they tie because collected updates are almost always current), and the deadline forms from FedCS and Oort, which miss slightly more deadlines, but not significantly.</a:t>
            </a:r>
            <a:endParaRPr/>
          </a:p>
        </p:txBody>
      </p:sp>
      <p:sp>
        <p:nvSpPr>
          <p:cNvPr id="600" name="Google Shape;600;hcba64de7ce9da8d_3_524: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hcba64de7ce9da8d_3_538: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hcba64de7ce9da8d_3_538: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What about the joint RL model?</a:t>
            </a:r>
            <a:br>
              <a:rPr lang="en" sz="1100"/>
            </a:br>
            <a:br>
              <a:rPr lang="en" sz="1100"/>
            </a:br>
            <a:r>
              <a:rPr lang="en" sz="1100"/>
              <a:t>The pre-registered test was flat. In FerrySim no discount factor beat a purely myopic one by the required margin, and in the full system FQ was indistinguishable from the fixed rule FX, and from F. So FX is FeRRy's per-stop rule.</a:t>
            </a:r>
            <a:br>
              <a:rPr lang="en" sz="1100"/>
            </a:br>
            <a:br>
              <a:rPr lang="en" sz="1100"/>
            </a:br>
            <a:r>
              <a:rPr lang="en" sz="1100"/>
              <a:t>I then ran an exploratory comparison, not pre-registered: FQ against E3, a DQN scheduler after Chen et al. that picks every next stop with no plan, on the same 20 seeds. At the knee, FQ reaches the target in 180 seconds against E3's 280: 100 seconds faster, or 36 percent sooner, with a confidence interval of 63 to 141 seconds. Under stress it is faster too, but not significantly.</a:t>
            </a:r>
            <a:br>
              <a:rPr lang="en" sz="1100"/>
            </a:br>
            <a:br>
              <a:rPr lang="en" sz="1100"/>
            </a:br>
            <a:r>
              <a:rPr lang="en" sz="1100"/>
              <a:t>The reason is the plan, not the learning. FQ inherits the plan's band and spends 15 seconds of a 155-second mission in transit; E3 spends 144 of 228. This supports the two-clock structure: plan at the dock, then refine per stop.</a:t>
            </a:r>
            <a:endParaRPr/>
          </a:p>
        </p:txBody>
      </p:sp>
      <p:sp>
        <p:nvSpPr>
          <p:cNvPr id="615" name="Google Shape;615;hcba64de7ce9da8d_3_538: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hcba64de7ce9da8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hcba64de7ce9da8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Same cell as the time-to-target slide: 6 devices, 1 drone, knee budget, 20 paired trials. The bar is the drone energy spent on the missions flown until the model first reached 71% accuracy.</a:t>
            </a:r>
          </a:p>
          <a:p/>
          <a:p>
            <a:r>
              <a:t>FeRRy needs 34 to 37 kJ; every one of the seven baselines needs 48 to 51 kJ. FX saves 30 to 33 percent against each baseline, FQ 28 to 32, F 22 to 26. All 21 FeRRy-versus-baseline gaps are beyond chance: paired Wilcoxon tests, Holm-corrected within each FeRRy arm, with bootstrap confidence intervals that exclude zero. The baseline used more energy in 15 to 19 of the 20 paired runs.</a:t>
            </a:r>
          </a:p>
          <a:p/>
          <a:p>
            <a:r>
              <a:t>Why: energy follows flight time. Every scheduler draws about the same power, 124 to 132 watts, because the drone's motors cost about as much hovering as cruising at 5 m/s. FeRRy's narrow band means one stop covers most devices, so it flies about 15 seconds per mission and hovers about 90; the baselines fly about 140 seconds between short stops. Shorter missions and the same number of updates per mission mean less energy per update: 5.4 kJ for FX, 5.7 for FQ, 6.4 for F, against 7.7 to 8.4 for the baselines (all energy over the four missions divided by all updates merged).</a:t>
            </a:r>
          </a:p>
          <a:p/>
          <a:p>
            <a:r>
              <a:t>FX versus FQ: FQ spends about 5 percent more energy per mission than FX, 20.3 versus 19.3 kJ, and was cheaper in only 3 of 20 paired runs; that gap is borderline at this budget (p = 0.05) and clear under the stress budget (plus 7.5 percent, p = 0.003). FQ flies 6 to 8 seconds longer per mission for the same updates. Its training reward counted updates and time but had zero weight on energy, so it was never told to save it. FX's band rule picks the fastest band that reaches the same devices, which cuts hover time by design.</a:t>
            </a:r>
          </a:p>
          <a:p/>
          <a:p>
            <a:r>
              <a:t>Under the stress budget (75 s) the ranking holds, FeRRy 33 to 34 kJ against 39 to 43 kJ for the budget-respecting baselines and 48 kJ for FedEx's route, but only the FedEx-route gap is beyond chance there. With 3 drones, FeRRy still uses about 16 percent less energy to the target than six of seven baselines, even though times tie.</a:t>
            </a:r>
          </a:p>
          <a:p/>
          <a:p>
            <a:r>
              <a:t>Caveats: energy comes from a rotary-wing model, not a power meter. FQ was flown later, in an exploratory comparison, not a pre-registered one.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hcba64de7ce9da8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hcba64de7ce9da8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question: does FeRRy win only because the time budget handicaps the baselines, so that without a budget it would be on par? I tested it directly by flying the third budget level the study pre-registered but had dropped before the deadline: relaxed, twice the knee, 300 seconds, with all ten schedulers and the same 20 paired seeds.</a:t>
            </a:r>
          </a:p>
          <a:p/>
          <a:p>
            <a:r>
              <a:t>Answer: no. With the budget doubled nobody overruns, the baselines fly their full wide-band tours, and FeRRy still reaches 71% accuracy 26 to 33 percent sooner: 194 seconds against 261 to 290. All seven baselines are slower beyond chance (Holm p at most 0.002). I then flew 1800 seconds, twelve times the knee, as a stand-in for no budget at all: every arm except E3 gave the same result in all 20 trials as at 300 seconds, and E3, the only arm whose choices shift with the budget value, moved by 0.2 seconds on average. So the budget stops mattering somewhere between 150 and 300 seconds. FeRRy's plan does not change at all between 150 and 300 seconds; it already fit at the knee. The baselines get no faster, because their missions are long for a physical reason: one drone covering a 200 by 200 metre field on a 60 metre radio range has to fly about 140 seconds between stops.</a:t>
            </a:r>
          </a:p>
          <a:p/>
          <a:p>
            <a:r>
              <a:t>What does erase the lead is a tight budget. At 75 seconds the baselines' tours are cut short: they visit the nearest devices and come home, their missions shrink from about 225 to about 175 seconds, and since the target needs only one or two rounds, shorter missions get them there sooner. F's lead over them falls to 20 to 60 seconds and only one of seven gaps, FedEx's route, which ignores the budget, stays beyond chance. The same happens at 24 devices: F beats H1 and the Whittle index at the knee, 749 against 911 to 951 seconds, and ties them under stress, 661 against 651 to 662.</a:t>
            </a:r>
          </a:p>
          <a:p/>
          <a:p>
            <a:r>
              <a:t>Extra drones also erase it. With three drones each covers about two devices, flying is short for everyone, the band barely matters, and every scheduler takes 52 to 65 seconds.</a:t>
            </a:r>
          </a:p>
          <a:p/>
          <a:p>
            <a:r>
              <a:t>The cost on FeRRy's side: under the tight budget 30 percent of F's missions overrun, by about 28 seconds, against at most 9 percent for the baselines that obey the budget. FeRRy keeps its long hover on the narrow band, so signal dips push it past the budget.</a:t>
            </a:r>
          </a:p>
          <a:p/>
          <a:p>
            <a:r>
              <a:t>So the trade-off is: FeRRy's advantage is the band choice, which pays off when one drone must cover a sparse field and the budget leaves room for a full mission. It shrinks to a tie when the budget is very tight or when drones are plentiful.</a:t>
            </a:r>
          </a:p>
          <a:p/>
          <a:p>
            <a:r>
              <a:t>Caveat: the 300 and 1800 second cells were flown on 16 October, after the paper deadline, with 20 trials each, and scored as their own families. The 300 second cell is pre-registered; the 1800 second cell is an added check. Neither is part of the submitted results. A truly unbudgeted run, with the feasibility test switched off, was not tried.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hcba64de7ce9da8d_3_553: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hcba64de7ce9da8d_3_553: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Two limits matter most, and both come from something FeRRy's plan does not price.</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First, tight budgets. Under the stress budget (75 seconds for collection at six devices), 30 percent of F's missions finish late. The ones that run late go over by about 28 seconds on average. (Averaged over all missions, including the 70 percent that finish on time, that is 8.5 seconds.) For comparison, FedEx's route, which never skips a device, runs late in 85 percent of missions. The other baselines almost never run late, but they stay inside the budget by leaving devices out: they merge 2.0 to 2.7 updates per round, against F's 3.2.</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Why it happens: the plan prices the average signal on each band. In flight, interference and shadowing make the real signal dip below that average, the transfer rate drops, and each transfer takes longer than planned. F is especially exposed, because its narrow-band missions are mostly transfer time (85 of 155 seconds), which is exactly the part the signal controls; flying time is fixed by distance. The drone re-checks the budget when it leaves each stop, but nothing re-checks after the last stop, so the last stop's extra time, the return and the upload can push the mission past the limit. FX, which switches to a faster band in flight when the signal allows, runs late less often (24 percent). The fix is to price the signal's variation, or to keep some slack in reserve.</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Second, training time. In the main experiments a device's update is always ready when the drone arrives. In the training-time study each device needs time to train (median 68 seconds), and it starts over every time it receives a new model. FeRRy's plan does not know this. Because F reaches the whole field with about 11 seconds of flying, it comes back very soon after delivering a new model, often before devices have finished retraining: 79 percent of its visits find nothing ready, and it merges 0.7 updates per round instead of 3.5. The baselines spend about 130 seconds flying their wide-band tours, which gives devices time to finish, so only 21 to 38 percent of their visits find nothing ready. F reaches the target in only 70 to 75 percent of trials, against 85 to 100 percent for H1, FedEx's route and FedCS. A caution: in that study F's time to target looks faster, but only because it is averaged over the trials that reach it. The fix is to add each device's expected training time to the plan.</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Also: flight, radio and energy are simulated, and several studies flew 20 of their 40 planned trials. With strongly non-IID data, every scheduler reaches the target in about half the trials, and F stays faster than H1 and the Whittle index where both do.</a:t>
            </a:r>
            <a:endParaRPr/>
          </a:p>
        </p:txBody>
      </p:sp>
      <p:sp>
        <p:nvSpPr>
          <p:cNvPr id="645" name="Google Shape;645;hcba64de7ce9da8d_3_553: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hcba64de7ce9da8d_3_582:notes"/>
          <p:cNvSpPr/>
          <p:nvPr>
            <p:ph idx="2" type="sldImg"/>
          </p:nvPr>
        </p:nvSpPr>
        <p:spPr>
          <a:xfrm>
            <a:off x="0" y="0"/>
            <a:ext cx="2250000" cy="225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4" name="Google Shape;674;hcba64de7ce9da8d_3_582:notes"/>
          <p:cNvSpPr txBox="1"/>
          <p:nvPr>
            <p:ph idx="1" type="body"/>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 sz="1200">
                <a:solidFill>
                  <a:schemeClr val="dk1"/>
                </a:solidFill>
                <a:latin typeface="Arial"/>
                <a:ea typeface="Arial"/>
                <a:cs typeface="Arial"/>
                <a:sym typeface="Arial"/>
              </a:rPr>
              <a:t>Three takeaways.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One: treat the drone's reach as a decision. Choosing the band together with the route is what made FeRRy 27 to 31 percent faster.</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Two: the gain comes from the plan. Learning inside the plan matched a fixed rule, and it reached the target 36 percent sooner than a learned scheduler with no plan.</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Three: FeRRy keeps updates fresher under tight budgets and plans cheaply, 1.5 seconds for 96 devices.</a:t>
            </a:r>
            <a:br>
              <a:rPr lang="en" sz="1200">
                <a:solidFill>
                  <a:schemeClr val="dk1"/>
                </a:solidFill>
                <a:latin typeface="Arial"/>
                <a:ea typeface="Arial"/>
                <a:cs typeface="Arial"/>
                <a:sym typeface="Arial"/>
              </a:rPr>
            </a:b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Next steps follow from the limits: price the channel's variation, add training time to the plan, validate over the air on a UAV testbed, and coordinate drones that share spectrum and a dock.</a:t>
            </a:r>
            <a:endParaRPr/>
          </a:p>
        </p:txBody>
      </p:sp>
      <p:sp>
        <p:nvSpPr>
          <p:cNvPr id="675" name="Google Shape;675;hcba64de7ce9da8d_3_582:notes"/>
          <p:cNvSpPr txBox="1"/>
          <p:nvPr>
            <p:ph idx="12" type="sldNum"/>
          </p:nvPr>
        </p:nvSpPr>
        <p:spPr>
          <a:xfrm>
            <a:off x="0" y="0"/>
            <a:ext cx="3000000" cy="225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hcba64de7ce9da8d_3_59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1" name="Google Shape;691;hcba64de7ce9da8d_3_5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Reference list for the bracketed citations on slides 3, 7, 8, 13 and 19. Each entry was checked against the publisher or arXiv page. Numbers follow first appearance: 1 is FedAvg (slide 3), 2 to 14 are introduced on the related-work table (slide 7). Two details to be ready for: MAPPO is cited through the original algorithm paper (9), and entries 3, 4 and 9 are cited by arXiv identifier because I did not find a journal or conference version.</a:t>
            </a:r>
            <a:endParaRP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same comparison as the previous slide, drawn as one line per scheduler across the four budgets: 75 seconds (stress), 150 (knee), 300 (relaxed, twice the knee) and 1800 (twelve times the knee, as a stand-in for no budget). The budgets are evenly spaced on the axis, not to scale.</a:t>
            </a:r>
          </a:p>
          <a:p/>
          <a:p>
            <a:r>
              <a:t>FeRRy's lines are flat. F takes 178 seconds at the tight budget and 194 from the knee upward; its plan already fits at 150 seconds, so more budget changes nothing. FX and FQ sit 15 seconds lower and are just as flat.</a:t>
            </a:r>
          </a:p>
          <a:p/>
          <a:p>
            <a:r>
              <a:t>The baselines' lines rise from 75 to 150 seconds and then level off. Under the tight budget their wide-band tours are cut short, so missions are shorter and, because the target needs only one or two rounds, they reach it sooner: 198 to 238 seconds. Given room, they fly full tours and take 261 to 290 seconds, and nothing changes between 300 and 1800 seconds. The dashed line is FedEx's route, which ignores the budget, so it is flat at 264 seconds; it is the one baseline F still beats clearly at 75 seconds.</a:t>
            </a:r>
          </a:p>
          <a:p/>
          <a:p>
            <a:r>
              <a:t>So the gap is smallest when time is tight, 20 to 60 seconds against the baselines that obey the budget, and largest once the budget stops binding, 67 to 96 seconds. FeRRy's advantage is the band choice, not the budget.</a:t>
            </a:r>
          </a:p>
          <a:p/>
          <a:p>
            <a:r>
              <a:t>Means are over trials that reached 71 percent accuracy: all 20, except 18 or 19 for H1, Oort, FedCS and Chen's DQN at 75 seconds. The 300 and 1800 second cells were flown on 16 October, after the paper deadline. FQ is exploratory.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DARK">
  <p:cSld name="TITLE_DARK">
    <p:bg>
      <p:bgPr>
        <a:solidFill>
          <a:schemeClr val="dk2"/>
        </a:solidFill>
      </p:bgPr>
    </p:bg>
    <p:spTree>
      <p:nvGrpSpPr>
        <p:cNvPr id="52" name="Shape 52"/>
        <p:cNvGrpSpPr/>
        <p:nvPr/>
      </p:nvGrpSpPr>
      <p:grpSpPr>
        <a:xfrm>
          <a:off x="0" y="0"/>
          <a:ext cx="0" cy="0"/>
          <a:chOff x="0" y="0"/>
          <a:chExt cx="0" cy="0"/>
        </a:xfrm>
      </p:grpSpPr>
      <p:sp>
        <p:nvSpPr>
          <p:cNvPr id="53" name="Google Shape;53;p14"/>
          <p:cNvSpPr txBox="1"/>
          <p:nvPr>
            <p:ph type="title"/>
          </p:nvPr>
        </p:nvSpPr>
        <p:spPr>
          <a:xfrm>
            <a:off x="548640" y="1303020"/>
            <a:ext cx="4732020" cy="89154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lt1"/>
              </a:buClr>
              <a:buSzPts val="4500"/>
              <a:buFont typeface="Cambria"/>
              <a:buNone/>
              <a:defRPr b="1" i="0" sz="45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14"/>
          <p:cNvSpPr txBox="1"/>
          <p:nvPr>
            <p:ph idx="1" type="body"/>
          </p:nvPr>
        </p:nvSpPr>
        <p:spPr>
          <a:xfrm>
            <a:off x="548640" y="2297430"/>
            <a:ext cx="4526280" cy="89154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400"/>
              </a:spcBef>
              <a:spcAft>
                <a:spcPts val="0"/>
              </a:spcAft>
              <a:buClr>
                <a:schemeClr val="lt2"/>
              </a:buClr>
              <a:buSzPts val="1800"/>
              <a:buFont typeface="Arial"/>
              <a:buNone/>
              <a:defRPr b="0" i="0" sz="1800" u="none" cap="none" strike="noStrike">
                <a:solidFill>
                  <a:schemeClr val="lt2"/>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5" name="Google Shape;55;p14"/>
          <p:cNvSpPr txBox="1"/>
          <p:nvPr>
            <p:ph idx="2" type="body"/>
          </p:nvPr>
        </p:nvSpPr>
        <p:spPr>
          <a:xfrm>
            <a:off x="548640" y="3943350"/>
            <a:ext cx="4800600" cy="27432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200"/>
              </a:spcBef>
              <a:spcAft>
                <a:spcPts val="0"/>
              </a:spcAft>
              <a:buClr>
                <a:schemeClr val="accent1"/>
              </a:buClr>
              <a:buSzPts val="1100"/>
              <a:buFont typeface="Arial"/>
              <a:buNone/>
              <a:defRPr b="1" i="0" sz="1100" u="none" cap="none" strike="noStrike">
                <a:solidFill>
                  <a:schemeClr val="accent1"/>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chemeClr val="lt1"/>
        </a:solidFill>
      </p:bgPr>
    </p:bg>
    <p:spTree>
      <p:nvGrpSpPr>
        <p:cNvPr id="56" name="Shape 56"/>
        <p:cNvGrpSpPr/>
        <p:nvPr/>
      </p:nvGrpSpPr>
      <p:grpSpPr>
        <a:xfrm>
          <a:off x="0" y="0"/>
          <a:ext cx="0" cy="0"/>
          <a:chOff x="0" y="0"/>
          <a:chExt cx="0" cy="0"/>
        </a:xfrm>
      </p:grpSpPr>
      <p:sp>
        <p:nvSpPr>
          <p:cNvPr id="57" name="Google Shape;57;p15"/>
          <p:cNvSpPr/>
          <p:nvPr/>
        </p:nvSpPr>
        <p:spPr>
          <a:xfrm>
            <a:off x="411480" y="4800600"/>
            <a:ext cx="342900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800"/>
              <a:buFont typeface="Calibri"/>
              <a:buNone/>
            </a:pPr>
            <a:r>
              <a:rPr b="0" i="0" lang="en" sz="800" u="none" cap="none" strike="noStrike">
                <a:solidFill>
                  <a:schemeClr val="accent3"/>
                </a:solidFill>
                <a:latin typeface="Calibri"/>
                <a:ea typeface="Calibri"/>
                <a:cs typeface="Calibri"/>
                <a:sym typeface="Calibri"/>
              </a:rPr>
              <a:t>FeRRy  ·  Results overview</a:t>
            </a:r>
            <a:endParaRPr b="0" i="0" sz="800" u="none" cap="none" strike="noStrike">
              <a:solidFill>
                <a:schemeClr val="dk1"/>
              </a:solidFill>
              <a:latin typeface="Calibri"/>
              <a:ea typeface="Calibri"/>
              <a:cs typeface="Calibri"/>
              <a:sym typeface="Calibri"/>
            </a:endParaRPr>
          </a:p>
        </p:txBody>
      </p:sp>
      <p:sp>
        <p:nvSpPr>
          <p:cNvPr id="58" name="Google Shape;58;p15"/>
          <p:cNvSpPr txBox="1"/>
          <p:nvPr>
            <p:ph idx="1" type="body"/>
          </p:nvPr>
        </p:nvSpPr>
        <p:spPr>
          <a:xfrm>
            <a:off x="411480" y="233172"/>
            <a:ext cx="6858000" cy="20574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200"/>
              </a:spcBef>
              <a:spcAft>
                <a:spcPts val="0"/>
              </a:spcAft>
              <a:buClr>
                <a:schemeClr val="accent2"/>
              </a:buClr>
              <a:buSzPts val="900"/>
              <a:buFont typeface="Arial"/>
              <a:buNone/>
              <a:defRPr b="1" i="0" sz="900" u="none" cap="none" strike="noStrike">
                <a:solidFill>
                  <a:schemeClr val="accent2"/>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9" name="Google Shape;59;p15"/>
          <p:cNvSpPr txBox="1"/>
          <p:nvPr>
            <p:ph type="title"/>
          </p:nvPr>
        </p:nvSpPr>
        <p:spPr>
          <a:xfrm>
            <a:off x="411480" y="438912"/>
            <a:ext cx="8320811" cy="493776"/>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dk1"/>
              </a:buClr>
              <a:buSzPts val="2700"/>
              <a:buFont typeface="Cambria"/>
              <a:buNone/>
              <a:defRPr b="1" i="0" sz="2700" u="none" cap="none" strike="noStrike">
                <a:solidFill>
                  <a:schemeClr val="dk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15"/>
          <p:cNvSpPr txBox="1"/>
          <p:nvPr>
            <p:ph idx="2" type="body"/>
          </p:nvPr>
        </p:nvSpPr>
        <p:spPr>
          <a:xfrm>
            <a:off x="411480" y="973836"/>
            <a:ext cx="8320811" cy="30861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300"/>
              </a:spcBef>
              <a:spcAft>
                <a:spcPts val="0"/>
              </a:spcAft>
              <a:buClr>
                <a:schemeClr val="accent3"/>
              </a:buClr>
              <a:buSzPts val="1300"/>
              <a:buFont typeface="Arial"/>
              <a:buNone/>
              <a:defRPr b="0" i="0" sz="1300" u="none" cap="none" strike="noStrike">
                <a:solidFill>
                  <a:schemeClr val="accent3"/>
                </a:solidFill>
                <a:latin typeface="Calibri"/>
                <a:ea typeface="Calibri"/>
                <a:cs typeface="Calibri"/>
                <a:sym typeface="Calibri"/>
              </a:defRPr>
            </a:lvl1pPr>
            <a:lvl2pPr indent="-361950" lvl="1" marL="914400" marR="0" rtl="0" algn="l">
              <a:lnSpc>
                <a:spcPct val="100000"/>
              </a:lnSpc>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lnSpc>
                <a:spcPct val="100000"/>
              </a:lnSpc>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61" name="Google Shape;61;p15"/>
          <p:cNvSpPr txBox="1"/>
          <p:nvPr>
            <p:ph idx="12"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_DARK">
  <p:cSld name="CLOSING_DARK">
    <p:bg>
      <p:bgPr>
        <a:solidFill>
          <a:schemeClr val="dk2"/>
        </a:solidFill>
      </p:bgPr>
    </p:bg>
    <p:spTree>
      <p:nvGrpSpPr>
        <p:cNvPr id="62" name="Shape 62"/>
        <p:cNvGrpSpPr/>
        <p:nvPr/>
      </p:nvGrpSpPr>
      <p:grpSpPr>
        <a:xfrm>
          <a:off x="0" y="0"/>
          <a:ext cx="0" cy="0"/>
          <a:chOff x="0" y="0"/>
          <a:chExt cx="0" cy="0"/>
        </a:xfrm>
      </p:grpSpPr>
      <p:sp>
        <p:nvSpPr>
          <p:cNvPr id="63" name="Google Shape;63;p16"/>
          <p:cNvSpPr txBox="1"/>
          <p:nvPr>
            <p:ph type="title"/>
          </p:nvPr>
        </p:nvSpPr>
        <p:spPr>
          <a:xfrm>
            <a:off x="548640" y="411480"/>
            <a:ext cx="8023860" cy="61722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chemeClr val="lt1"/>
              </a:buClr>
              <a:buSzPts val="3000"/>
              <a:buFont typeface="Cambria"/>
              <a:buNone/>
              <a:defRPr b="1" i="0" sz="3000" u="none" cap="none" strike="noStrike">
                <a:solidFill>
                  <a:schemeClr val="lt1"/>
                </a:solidFill>
                <a:latin typeface="Cambria"/>
                <a:ea typeface="Cambria"/>
                <a:cs typeface="Cambria"/>
                <a:sym typeface="Cambria"/>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4" name="Shape 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rgbClr val="5E6B7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4.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5.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13.png"/><Relationship Id="rId6"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4.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chart" Target="../charts/char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3.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8"/>
          <p:cNvSpPr/>
          <p:nvPr/>
        </p:nvSpPr>
        <p:spPr>
          <a:xfrm>
            <a:off x="4903470" y="514350"/>
            <a:ext cx="4114800" cy="4114800"/>
          </a:xfrm>
          <a:prstGeom prst="ellipse">
            <a:avLst/>
          </a:prstGeom>
          <a:solidFill>
            <a:schemeClr val="accent5">
              <a:alpha val="7843"/>
            </a:schemeClr>
          </a:solidFill>
          <a:ln cap="flat" cmpd="sng" w="19050">
            <a:solidFill>
              <a:schemeClr val="accent5">
                <a:alpha val="8000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1" name="Google Shape;71;p18"/>
          <p:cNvSpPr/>
          <p:nvPr/>
        </p:nvSpPr>
        <p:spPr>
          <a:xfrm>
            <a:off x="5554980" y="1165860"/>
            <a:ext cx="2811780" cy="2811780"/>
          </a:xfrm>
          <a:prstGeom prst="ellipse">
            <a:avLst/>
          </a:prstGeom>
          <a:solidFill>
            <a:schemeClr val="accent5">
              <a:alpha val="7843"/>
            </a:schemeClr>
          </a:solidFill>
          <a:ln cap="flat" cmpd="sng" w="19050">
            <a:solidFill>
              <a:schemeClr val="accent5">
                <a:alpha val="70196"/>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2" name="Google Shape;72;p18"/>
          <p:cNvSpPr/>
          <p:nvPr/>
        </p:nvSpPr>
        <p:spPr>
          <a:xfrm>
            <a:off x="6206490" y="1817370"/>
            <a:ext cx="1508760" cy="1508760"/>
          </a:xfrm>
          <a:prstGeom prst="ellipse">
            <a:avLst/>
          </a:prstGeom>
          <a:solidFill>
            <a:schemeClr val="accent5">
              <a:alpha val="7843"/>
            </a:schemeClr>
          </a:solidFill>
          <a:ln cap="flat" cmpd="sng" w="19050">
            <a:solidFill>
              <a:schemeClr val="accent5">
                <a:alpha val="6000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3" name="Google Shape;73;p18"/>
          <p:cNvSpPr/>
          <p:nvPr/>
        </p:nvSpPr>
        <p:spPr>
          <a:xfrm>
            <a:off x="5596128" y="1618488"/>
            <a:ext cx="123444" cy="123444"/>
          </a:xfrm>
          <a:prstGeom prst="ellipse">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4" name="Google Shape;74;p18"/>
          <p:cNvSpPr/>
          <p:nvPr/>
        </p:nvSpPr>
        <p:spPr>
          <a:xfrm>
            <a:off x="7859268" y="1138428"/>
            <a:ext cx="123444" cy="123444"/>
          </a:xfrm>
          <a:prstGeom prst="ellipse">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5" name="Google Shape;75;p18"/>
          <p:cNvSpPr/>
          <p:nvPr/>
        </p:nvSpPr>
        <p:spPr>
          <a:xfrm>
            <a:off x="8407908" y="2921508"/>
            <a:ext cx="123444" cy="123444"/>
          </a:xfrm>
          <a:prstGeom prst="ellipse">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6" name="Google Shape;76;p18"/>
          <p:cNvSpPr/>
          <p:nvPr/>
        </p:nvSpPr>
        <p:spPr>
          <a:xfrm>
            <a:off x="6281928" y="3675888"/>
            <a:ext cx="123444" cy="123444"/>
          </a:xfrm>
          <a:prstGeom prst="ellipse">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7" name="Google Shape;77;p18"/>
          <p:cNvSpPr/>
          <p:nvPr/>
        </p:nvSpPr>
        <p:spPr>
          <a:xfrm>
            <a:off x="7379208" y="3298698"/>
            <a:ext cx="123444" cy="123444"/>
          </a:xfrm>
          <a:prstGeom prst="ellipse">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8" name="Google Shape;78;p18"/>
          <p:cNvSpPr/>
          <p:nvPr/>
        </p:nvSpPr>
        <p:spPr>
          <a:xfrm>
            <a:off x="5184648" y="2784348"/>
            <a:ext cx="123444" cy="123444"/>
          </a:xfrm>
          <a:prstGeom prst="ellipse">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79" name="Google Shape;79;p18"/>
          <p:cNvSpPr/>
          <p:nvPr/>
        </p:nvSpPr>
        <p:spPr>
          <a:xfrm>
            <a:off x="6652260" y="2263140"/>
            <a:ext cx="617220" cy="617220"/>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80" name="Google Shape;80;p18"/>
          <p:cNvPicPr preferRelativeResize="0"/>
          <p:nvPr/>
        </p:nvPicPr>
        <p:blipFill rotWithShape="1">
          <a:blip r:embed="rId3">
            <a:alphaModFix/>
          </a:blip>
          <a:srcRect b="0" l="0" r="0" t="0"/>
          <a:stretch/>
        </p:blipFill>
        <p:spPr>
          <a:xfrm>
            <a:off x="6788048" y="2398928"/>
            <a:ext cx="345643" cy="345644"/>
          </a:xfrm>
          <a:prstGeom prst="rect">
            <a:avLst/>
          </a:prstGeom>
          <a:noFill/>
          <a:ln>
            <a:noFill/>
          </a:ln>
        </p:spPr>
      </p:pic>
      <p:sp>
        <p:nvSpPr>
          <p:cNvPr id="81" name="Google Shape;81;p18"/>
          <p:cNvSpPr txBox="1"/>
          <p:nvPr>
            <p:ph type="title"/>
          </p:nvPr>
        </p:nvSpPr>
        <p:spPr>
          <a:xfrm>
            <a:off x="548640" y="1303020"/>
            <a:ext cx="4732020" cy="89154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lt1"/>
              </a:buClr>
              <a:buSzPts val="4500"/>
              <a:buFont typeface="Cambria"/>
              <a:buNone/>
            </a:pPr>
            <a:r>
              <a:rPr b="1" lang="en" sz="4500">
                <a:solidFill>
                  <a:schemeClr val="lt1"/>
                </a:solidFill>
              </a:rPr>
              <a:t>FeRRy</a:t>
            </a:r>
            <a:endParaRPr sz="4500"/>
          </a:p>
        </p:txBody>
      </p:sp>
      <p:sp>
        <p:nvSpPr>
          <p:cNvPr id="82" name="Google Shape;82;p18"/>
          <p:cNvSpPr txBox="1"/>
          <p:nvPr>
            <p:ph idx="1" type="body"/>
          </p:nvPr>
        </p:nvSpPr>
        <p:spPr>
          <a:xfrm>
            <a:off x="548640" y="2297430"/>
            <a:ext cx="4526280" cy="8915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2"/>
              </a:buClr>
              <a:buSzPts val="1800"/>
              <a:buNone/>
            </a:pPr>
            <a:r>
              <a:rPr lang="en" sz="1800">
                <a:solidFill>
                  <a:schemeClr val="lt2"/>
                </a:solidFill>
              </a:rPr>
              <a:t>RF-aware mission planning for federated learning with drones as data mules</a:t>
            </a:r>
            <a:endParaRPr sz="1800"/>
          </a:p>
        </p:txBody>
      </p:sp>
      <p:sp>
        <p:nvSpPr>
          <p:cNvPr id="83" name="Google Shape;83;p18"/>
          <p:cNvSpPr txBox="1"/>
          <p:nvPr>
            <p:ph idx="2" type="body"/>
          </p:nvPr>
        </p:nvSpPr>
        <p:spPr>
          <a:xfrm>
            <a:off x="548640" y="3943350"/>
            <a:ext cx="4800600" cy="2743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1"/>
              </a:buClr>
              <a:buSzPts val="1100"/>
              <a:buNone/>
            </a:pPr>
            <a:r>
              <a:rPr b="1" lang="en" sz="1100">
                <a:solidFill>
                  <a:schemeClr val="accent1"/>
                </a:solidFill>
              </a:rPr>
              <a:t>Results overview  ·  IPDPS 2027 submission  ·  October 2026</a:t>
            </a:r>
            <a:endParaRPr sz="1100"/>
          </a:p>
        </p:txBody>
      </p:sp>
      <p:sp>
        <p:nvSpPr>
          <p:cNvPr id="84" name="Google Shape;84;p18"/>
          <p:cNvSpPr txBox="1"/>
          <p:nvPr/>
        </p:nvSpPr>
        <p:spPr>
          <a:xfrm>
            <a:off x="548640" y="3017520"/>
            <a:ext cx="416052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800"/>
              <a:buFont typeface="Arial"/>
              <a:buNone/>
            </a:pPr>
            <a:r>
              <a:rPr b="0" i="0" lang="en" sz="1200" u="none" cap="none" strike="noStrike">
                <a:solidFill>
                  <a:schemeClr val="lt2"/>
                </a:solidFill>
                <a:latin typeface="Calibri"/>
                <a:ea typeface="Calibri"/>
                <a:cs typeface="Calibri"/>
                <a:sym typeface="Calibri"/>
              </a:rPr>
              <a:t>FeRRy = Federated RF-aware Routing (RF is radio frequency). A drone plans where to fly and which radio setting to use, so devices with no network access can still help train a shared AI model.</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THE SHORT VERSION</a:t>
            </a:r>
            <a:endParaRPr sz="900"/>
          </a:p>
        </p:txBody>
      </p:sp>
      <p:sp>
        <p:nvSpPr>
          <p:cNvPr id="91" name="Google Shape;91;p19"/>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FeRRy in one slide</a:t>
            </a:r>
            <a:endParaRPr sz="2700"/>
          </a:p>
        </p:txBody>
      </p:sp>
      <p:sp>
        <p:nvSpPr>
          <p:cNvPr id="92" name="Google Shape;92;p19"/>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Drones carry model updates to devices that can't reach the server. FeRRy decides how far each drone's radio reaches.</a:t>
            </a:r>
            <a:endParaRPr sz="1300"/>
          </a:p>
        </p:txBody>
      </p:sp>
      <p:sp>
        <p:nvSpPr>
          <p:cNvPr id="93" name="Google Shape;93;p19"/>
          <p:cNvSpPr/>
          <p:nvPr/>
        </p:nvSpPr>
        <p:spPr>
          <a:xfrm>
            <a:off x="411480" y="1440180"/>
            <a:ext cx="2681478" cy="1748790"/>
          </a:xfrm>
          <a:prstGeom prst="roundRect">
            <a:avLst>
              <a:gd fmla="val 313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4" name="Google Shape;94;p19"/>
          <p:cNvSpPr txBox="1"/>
          <p:nvPr/>
        </p:nvSpPr>
        <p:spPr>
          <a:xfrm>
            <a:off x="617220" y="1543050"/>
            <a:ext cx="2269998"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4100"/>
              <a:buFont typeface="Calibri"/>
              <a:buNone/>
            </a:pPr>
            <a:r>
              <a:rPr b="1" i="0" lang="en" sz="4100" u="none" cap="none" strike="noStrike">
                <a:solidFill>
                  <a:schemeClr val="accent1"/>
                </a:solidFill>
                <a:latin typeface="Calibri"/>
                <a:ea typeface="Calibri"/>
                <a:cs typeface="Calibri"/>
                <a:sym typeface="Calibri"/>
              </a:rPr>
              <a:t>27–31%</a:t>
            </a:r>
            <a:endParaRPr b="0" i="0" sz="4100" u="none" cap="none" strike="noStrike">
              <a:solidFill>
                <a:schemeClr val="dk1"/>
              </a:solidFill>
              <a:latin typeface="Calibri"/>
              <a:ea typeface="Calibri"/>
              <a:cs typeface="Calibri"/>
              <a:sym typeface="Calibri"/>
            </a:endParaRPr>
          </a:p>
        </p:txBody>
      </p:sp>
      <p:sp>
        <p:nvSpPr>
          <p:cNvPr id="95" name="Google Shape;95;p19"/>
          <p:cNvSpPr txBox="1"/>
          <p:nvPr/>
        </p:nvSpPr>
        <p:spPr>
          <a:xfrm>
            <a:off x="617220" y="2276856"/>
            <a:ext cx="226999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sooner to target accuracy</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accent3"/>
              </a:buClr>
              <a:buSzPts val="1100"/>
              <a:buFont typeface="Calibri"/>
              <a:buNone/>
            </a:pPr>
            <a:r>
              <a:rPr b="0" i="0" lang="en" sz="1100" u="none" cap="none" strike="noStrike">
                <a:solidFill>
                  <a:schemeClr val="accent3"/>
                </a:solidFill>
                <a:latin typeface="Calibri"/>
                <a:ea typeface="Calibri"/>
                <a:cs typeface="Calibri"/>
                <a:sym typeface="Calibri"/>
              </a:rPr>
              <a:t>Target = 71% test accuracy. 6 devices, 1 drone, vs each of 7 existing schedulers (visit-planning rules).</a:t>
            </a:r>
            <a:endParaRPr b="0" i="0" sz="1400" u="none" cap="none" strike="noStrike">
              <a:solidFill>
                <a:schemeClr val="dk1"/>
              </a:solidFill>
              <a:latin typeface="Calibri"/>
              <a:ea typeface="Calibri"/>
              <a:cs typeface="Calibri"/>
              <a:sym typeface="Calibri"/>
            </a:endParaRPr>
          </a:p>
        </p:txBody>
      </p:sp>
      <p:sp>
        <p:nvSpPr>
          <p:cNvPr id="96" name="Google Shape;96;p19"/>
          <p:cNvSpPr/>
          <p:nvPr/>
        </p:nvSpPr>
        <p:spPr>
          <a:xfrm>
            <a:off x="3230118" y="1440180"/>
            <a:ext cx="2681478" cy="1748790"/>
          </a:xfrm>
          <a:prstGeom prst="roundRect">
            <a:avLst>
              <a:gd fmla="val 313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97" name="Google Shape;97;p19"/>
          <p:cNvSpPr txBox="1"/>
          <p:nvPr/>
        </p:nvSpPr>
        <p:spPr>
          <a:xfrm>
            <a:off x="3435858" y="1543050"/>
            <a:ext cx="2269998"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4100"/>
              <a:buFont typeface="Calibri"/>
              <a:buNone/>
            </a:pPr>
            <a:r>
              <a:rPr b="1" i="0" lang="en" sz="4100" u="none" cap="none" strike="noStrike">
                <a:solidFill>
                  <a:schemeClr val="accent1"/>
                </a:solidFill>
                <a:latin typeface="Calibri"/>
                <a:ea typeface="Calibri"/>
                <a:cs typeface="Calibri"/>
                <a:sym typeface="Calibri"/>
              </a:rPr>
              <a:t>~26%</a:t>
            </a:r>
            <a:endParaRPr b="0" i="0" sz="4100" u="none" cap="none" strike="noStrike">
              <a:solidFill>
                <a:schemeClr val="dk1"/>
              </a:solidFill>
              <a:latin typeface="Calibri"/>
              <a:ea typeface="Calibri"/>
              <a:cs typeface="Calibri"/>
              <a:sym typeface="Calibri"/>
            </a:endParaRPr>
          </a:p>
        </p:txBody>
      </p:sp>
      <p:sp>
        <p:nvSpPr>
          <p:cNvPr id="98" name="Google Shape;98;p19"/>
          <p:cNvSpPr txBox="1"/>
          <p:nvPr/>
        </p:nvSpPr>
        <p:spPr>
          <a:xfrm>
            <a:off x="3435858" y="2276856"/>
            <a:ext cx="226999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fresher model updates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accent3"/>
              </a:buClr>
              <a:buSzPts val="1100"/>
              <a:buFont typeface="Calibri"/>
              <a:buNone/>
            </a:pPr>
            <a:r>
              <a:rPr b="0" i="0" lang="en" sz="1100" u="none" cap="none" strike="noStrike">
                <a:solidFill>
                  <a:schemeClr val="accent3"/>
                </a:solidFill>
                <a:latin typeface="Calibri"/>
                <a:ea typeface="Calibri"/>
                <a:cs typeface="Calibri"/>
                <a:sym typeface="Calibri"/>
              </a:rPr>
              <a:t>Update age = missions since a device was last merged. Tight budget: 0.78 vs 1.06 to 1.07 for age-based schedulers.</a:t>
            </a:r>
            <a:endParaRPr b="0" i="0" sz="1400" u="none" cap="none" strike="noStrike">
              <a:solidFill>
                <a:schemeClr val="dk1"/>
              </a:solidFill>
              <a:latin typeface="Calibri"/>
              <a:ea typeface="Calibri"/>
              <a:cs typeface="Calibri"/>
              <a:sym typeface="Calibri"/>
            </a:endParaRPr>
          </a:p>
        </p:txBody>
      </p:sp>
      <p:sp>
        <p:nvSpPr>
          <p:cNvPr id="99" name="Google Shape;99;p19"/>
          <p:cNvSpPr/>
          <p:nvPr/>
        </p:nvSpPr>
        <p:spPr>
          <a:xfrm>
            <a:off x="6048756" y="1440180"/>
            <a:ext cx="2681478" cy="1748790"/>
          </a:xfrm>
          <a:prstGeom prst="roundRect">
            <a:avLst>
              <a:gd fmla="val 313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00" name="Google Shape;100;p19"/>
          <p:cNvSpPr txBox="1"/>
          <p:nvPr/>
        </p:nvSpPr>
        <p:spPr>
          <a:xfrm>
            <a:off x="6254496" y="1543050"/>
            <a:ext cx="2269998"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4100"/>
              <a:buFont typeface="Calibri"/>
              <a:buNone/>
            </a:pPr>
            <a:r>
              <a:rPr b="1" i="0" lang="en" sz="4100" u="none" cap="none" strike="noStrike">
                <a:solidFill>
                  <a:schemeClr val="accent1"/>
                </a:solidFill>
                <a:latin typeface="Calibri"/>
                <a:ea typeface="Calibri"/>
                <a:cs typeface="Calibri"/>
                <a:sym typeface="Calibri"/>
              </a:rPr>
              <a:t>1.5 s</a:t>
            </a:r>
            <a:endParaRPr b="0" i="0" sz="4100" u="none" cap="none" strike="noStrike">
              <a:solidFill>
                <a:schemeClr val="dk1"/>
              </a:solidFill>
              <a:latin typeface="Calibri"/>
              <a:ea typeface="Calibri"/>
              <a:cs typeface="Calibri"/>
              <a:sym typeface="Calibri"/>
            </a:endParaRPr>
          </a:p>
        </p:txBody>
      </p:sp>
      <p:sp>
        <p:nvSpPr>
          <p:cNvPr id="101" name="Google Shape;101;p19"/>
          <p:cNvSpPr txBox="1"/>
          <p:nvPr/>
        </p:nvSpPr>
        <p:spPr>
          <a:xfrm>
            <a:off x="6254496" y="2276856"/>
            <a:ext cx="2269998"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to plan a mission</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accent3"/>
              </a:buClr>
              <a:buSzPts val="1100"/>
              <a:buFont typeface="Calibri"/>
              <a:buNone/>
            </a:pPr>
            <a:r>
              <a:rPr b="0" i="0" lang="en" sz="1100" u="none" cap="none" strike="noStrike">
                <a:solidFill>
                  <a:schemeClr val="accent3"/>
                </a:solidFill>
                <a:latin typeface="Calibri"/>
                <a:ea typeface="Calibri"/>
                <a:cs typeface="Calibri"/>
                <a:sym typeface="Calibri"/>
              </a:rPr>
              <a:t>Choosing the band, the stops and the route for 96 devices, on one computer.</a:t>
            </a:r>
            <a:endParaRPr b="0" i="0" sz="1400" u="none" cap="none" strike="noStrike">
              <a:solidFill>
                <a:schemeClr val="dk1"/>
              </a:solidFill>
              <a:latin typeface="Calibri"/>
              <a:ea typeface="Calibri"/>
              <a:cs typeface="Calibri"/>
              <a:sym typeface="Calibri"/>
            </a:endParaRPr>
          </a:p>
        </p:txBody>
      </p:sp>
      <p:sp>
        <p:nvSpPr>
          <p:cNvPr id="102" name="Google Shape;102;p19"/>
          <p:cNvSpPr/>
          <p:nvPr/>
        </p:nvSpPr>
        <p:spPr>
          <a:xfrm>
            <a:off x="411480" y="342900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03" name="Google Shape;103;p19"/>
          <p:cNvPicPr preferRelativeResize="0"/>
          <p:nvPr/>
        </p:nvPicPr>
        <p:blipFill rotWithShape="1">
          <a:blip r:embed="rId3">
            <a:alphaModFix/>
          </a:blip>
          <a:srcRect b="0" l="0" r="0" t="0"/>
          <a:stretch/>
        </p:blipFill>
        <p:spPr>
          <a:xfrm>
            <a:off x="505023" y="3522543"/>
            <a:ext cx="238110" cy="238110"/>
          </a:xfrm>
          <a:prstGeom prst="rect">
            <a:avLst/>
          </a:prstGeom>
          <a:noFill/>
          <a:ln>
            <a:noFill/>
          </a:ln>
        </p:spPr>
      </p:pic>
      <p:sp>
        <p:nvSpPr>
          <p:cNvPr id="104" name="Google Shape;104;p19"/>
          <p:cNvSpPr txBox="1"/>
          <p:nvPr/>
        </p:nvSpPr>
        <p:spPr>
          <a:xfrm>
            <a:off x="994410" y="3429000"/>
            <a:ext cx="7737881" cy="4251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Why it wins:</a:t>
            </a:r>
            <a:r>
              <a:rPr b="0" i="0" lang="en" sz="1300" u="none" cap="none" strike="noStrike">
                <a:solidFill>
                  <a:schemeClr val="dk1"/>
                </a:solidFill>
                <a:latin typeface="Calibri"/>
                <a:ea typeface="Calibri"/>
                <a:cs typeface="Calibri"/>
                <a:sym typeface="Calibri"/>
              </a:rPr>
              <a:t> the plan picks a narrow radio band that reaches far, so one stop covers most devices and flying between stops drops from ~140 s to 15 s.</a:t>
            </a:r>
            <a:endParaRPr b="0" i="0" sz="1300" u="none" cap="none" strike="noStrike">
              <a:solidFill>
                <a:schemeClr val="dk1"/>
              </a:solidFill>
              <a:latin typeface="Calibri"/>
              <a:ea typeface="Calibri"/>
              <a:cs typeface="Calibri"/>
              <a:sym typeface="Calibri"/>
            </a:endParaRPr>
          </a:p>
        </p:txBody>
      </p:sp>
      <p:sp>
        <p:nvSpPr>
          <p:cNvPr id="105" name="Google Shape;105;p19"/>
          <p:cNvSpPr/>
          <p:nvPr/>
        </p:nvSpPr>
        <p:spPr>
          <a:xfrm>
            <a:off x="411480" y="4011930"/>
            <a:ext cx="425196" cy="425196"/>
          </a:xfrm>
          <a:prstGeom prst="ellipse">
            <a:avLst/>
          </a:prstGeom>
          <a:solidFill>
            <a:schemeClr val="accent4"/>
          </a:solidFill>
          <a:ln cap="flat" cmpd="sng" w="12700">
            <a:solidFill>
              <a:schemeClr val="accent4">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06" name="Google Shape;106;p19"/>
          <p:cNvPicPr preferRelativeResize="0"/>
          <p:nvPr/>
        </p:nvPicPr>
        <p:blipFill rotWithShape="1">
          <a:blip r:embed="rId4">
            <a:alphaModFix/>
          </a:blip>
          <a:srcRect b="0" l="0" r="0" t="0"/>
          <a:stretch/>
        </p:blipFill>
        <p:spPr>
          <a:xfrm>
            <a:off x="505023" y="4105473"/>
            <a:ext cx="238110" cy="238110"/>
          </a:xfrm>
          <a:prstGeom prst="rect">
            <a:avLst/>
          </a:prstGeom>
          <a:noFill/>
          <a:ln>
            <a:noFill/>
          </a:ln>
        </p:spPr>
      </p:pic>
      <p:sp>
        <p:nvSpPr>
          <p:cNvPr id="107" name="Google Shape;107;p19"/>
          <p:cNvSpPr txBox="1"/>
          <p:nvPr/>
        </p:nvSpPr>
        <p:spPr>
          <a:xfrm>
            <a:off x="994410" y="3950208"/>
            <a:ext cx="7737881"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Where it falls short:</a:t>
            </a:r>
            <a:r>
              <a:rPr b="0" i="0" lang="en" sz="1300" u="none" cap="none" strike="noStrike">
                <a:solidFill>
                  <a:schemeClr val="dk1"/>
                </a:solidFill>
                <a:latin typeface="Calibri"/>
                <a:ea typeface="Calibri"/>
                <a:cs typeface="Calibri"/>
                <a:sym typeface="Calibri"/>
              </a:rPr>
              <a:t> 3 in 10 tight-budget missions finish late, because real signal dips slow transfers beyond the plan, and it assumes every device's update is already trained and waiting.</a:t>
            </a:r>
            <a:endParaRPr b="0" i="0" sz="1300" u="none" cap="none" strike="noStrike">
              <a:solidFill>
                <a:schemeClr val="dk1"/>
              </a:solidFill>
              <a:latin typeface="Calibri"/>
              <a:ea typeface="Calibri"/>
              <a:cs typeface="Calibri"/>
              <a:sym typeface="Calibri"/>
            </a:endParaRPr>
          </a:p>
        </p:txBody>
      </p:sp>
      <p:sp>
        <p:nvSpPr>
          <p:cNvPr id="108" name="Google Shape;108;p19"/>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INTRODUCTION · BACKGROUND</a:t>
            </a:r>
            <a:endParaRPr sz="900"/>
          </a:p>
        </p:txBody>
      </p:sp>
      <p:sp>
        <p:nvSpPr>
          <p:cNvPr id="114" name="Google Shape;114;p20"/>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How federated learning normally works</a:t>
            </a:r>
            <a:endParaRPr sz="2700"/>
          </a:p>
        </p:txBody>
      </p:sp>
      <p:sp>
        <p:nvSpPr>
          <p:cNvPr id="115" name="Google Shape;115;p20"/>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Federated learning (FL): devices train one shared model together and share updates, never raw data.</a:t>
            </a:r>
            <a:endParaRPr sz="1300"/>
          </a:p>
        </p:txBody>
      </p:sp>
      <p:sp>
        <p:nvSpPr>
          <p:cNvPr id="116" name="Google Shape;116;p20"/>
          <p:cNvSpPr/>
          <p:nvPr/>
        </p:nvSpPr>
        <p:spPr>
          <a:xfrm>
            <a:off x="411480"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17" name="Google Shape;117;p20"/>
          <p:cNvSpPr/>
          <p:nvPr/>
        </p:nvSpPr>
        <p:spPr>
          <a:xfrm>
            <a:off x="562356" y="1577340"/>
            <a:ext cx="425196" cy="425196"/>
          </a:xfrm>
          <a:prstGeom prst="ellipse">
            <a:avLst/>
          </a:prstGeom>
          <a:solidFill>
            <a:schemeClr val="accent2"/>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18" name="Google Shape;118;p20"/>
          <p:cNvSpPr txBox="1"/>
          <p:nvPr/>
        </p:nvSpPr>
        <p:spPr>
          <a:xfrm>
            <a:off x="1495044"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1</a:t>
            </a:r>
            <a:endParaRPr b="0" i="0" sz="1700" u="none" cap="none" strike="noStrike">
              <a:solidFill>
                <a:schemeClr val="dk1"/>
              </a:solidFill>
              <a:latin typeface="Calibri"/>
              <a:ea typeface="Calibri"/>
              <a:cs typeface="Calibri"/>
              <a:sym typeface="Calibri"/>
            </a:endParaRPr>
          </a:p>
        </p:txBody>
      </p:sp>
      <p:sp>
        <p:nvSpPr>
          <p:cNvPr id="119" name="Google Shape;119;p20"/>
          <p:cNvSpPr txBox="1"/>
          <p:nvPr/>
        </p:nvSpPr>
        <p:spPr>
          <a:xfrm>
            <a:off x="562356"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Send</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server sends the current shared model (the global model) to each device.</a:t>
            </a:r>
            <a:endParaRPr b="0" i="0" sz="1300" u="none" cap="none" strike="noStrike">
              <a:solidFill>
                <a:schemeClr val="dk1"/>
              </a:solidFill>
              <a:latin typeface="Calibri"/>
              <a:ea typeface="Calibri"/>
              <a:cs typeface="Calibri"/>
              <a:sym typeface="Calibri"/>
            </a:endParaRPr>
          </a:p>
        </p:txBody>
      </p:sp>
      <p:sp>
        <p:nvSpPr>
          <p:cNvPr id="120" name="Google Shape;120;p20"/>
          <p:cNvSpPr/>
          <p:nvPr/>
        </p:nvSpPr>
        <p:spPr>
          <a:xfrm rot="5400000">
            <a:off x="1962503"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21" name="Google Shape;121;p20"/>
          <p:cNvSpPr/>
          <p:nvPr/>
        </p:nvSpPr>
        <p:spPr>
          <a:xfrm>
            <a:off x="2114493"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22" name="Google Shape;122;p20"/>
          <p:cNvSpPr/>
          <p:nvPr/>
        </p:nvSpPr>
        <p:spPr>
          <a:xfrm>
            <a:off x="2265369"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23" name="Google Shape;123;p20"/>
          <p:cNvSpPr txBox="1"/>
          <p:nvPr/>
        </p:nvSpPr>
        <p:spPr>
          <a:xfrm>
            <a:off x="3198057"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2</a:t>
            </a:r>
            <a:endParaRPr b="0" i="0" sz="1700" u="none" cap="none" strike="noStrike">
              <a:solidFill>
                <a:schemeClr val="dk1"/>
              </a:solidFill>
              <a:latin typeface="Calibri"/>
              <a:ea typeface="Calibri"/>
              <a:cs typeface="Calibri"/>
              <a:sym typeface="Calibri"/>
            </a:endParaRPr>
          </a:p>
        </p:txBody>
      </p:sp>
      <p:sp>
        <p:nvSpPr>
          <p:cNvPr id="124" name="Google Shape;124;p20"/>
          <p:cNvSpPr txBox="1"/>
          <p:nvPr/>
        </p:nvSpPr>
        <p:spPr>
          <a:xfrm>
            <a:off x="2265369"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Train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Each device trains it a little on its own private data, producing an update.</a:t>
            </a:r>
            <a:endParaRPr b="0" i="0" sz="1300" u="none" cap="none" strike="noStrike">
              <a:solidFill>
                <a:schemeClr val="dk1"/>
              </a:solidFill>
              <a:latin typeface="Calibri"/>
              <a:ea typeface="Calibri"/>
              <a:cs typeface="Calibri"/>
              <a:sym typeface="Calibri"/>
            </a:endParaRPr>
          </a:p>
        </p:txBody>
      </p:sp>
      <p:sp>
        <p:nvSpPr>
          <p:cNvPr id="125" name="Google Shape;125;p20"/>
          <p:cNvSpPr/>
          <p:nvPr/>
        </p:nvSpPr>
        <p:spPr>
          <a:xfrm rot="5400000">
            <a:off x="3665516"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26" name="Google Shape;126;p20"/>
          <p:cNvSpPr/>
          <p:nvPr/>
        </p:nvSpPr>
        <p:spPr>
          <a:xfrm>
            <a:off x="3817506"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27" name="Google Shape;127;p20"/>
          <p:cNvSpPr/>
          <p:nvPr/>
        </p:nvSpPr>
        <p:spPr>
          <a:xfrm>
            <a:off x="3968382"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28" name="Google Shape;128;p20"/>
          <p:cNvSpPr txBox="1"/>
          <p:nvPr/>
        </p:nvSpPr>
        <p:spPr>
          <a:xfrm>
            <a:off x="4901070"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3</a:t>
            </a:r>
            <a:endParaRPr b="0" i="0" sz="1700" u="none" cap="none" strike="noStrike">
              <a:solidFill>
                <a:schemeClr val="dk1"/>
              </a:solidFill>
              <a:latin typeface="Calibri"/>
              <a:ea typeface="Calibri"/>
              <a:cs typeface="Calibri"/>
              <a:sym typeface="Calibri"/>
            </a:endParaRPr>
          </a:p>
        </p:txBody>
      </p:sp>
      <p:sp>
        <p:nvSpPr>
          <p:cNvPr id="129" name="Google Shape;129;p20"/>
          <p:cNvSpPr txBox="1"/>
          <p:nvPr/>
        </p:nvSpPr>
        <p:spPr>
          <a:xfrm>
            <a:off x="3968382"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Return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Each device sends back only that update, never the data.</a:t>
            </a:r>
            <a:endParaRPr b="0" i="0" sz="1300" u="none" cap="none" strike="noStrike">
              <a:solidFill>
                <a:schemeClr val="dk1"/>
              </a:solidFill>
              <a:latin typeface="Calibri"/>
              <a:ea typeface="Calibri"/>
              <a:cs typeface="Calibri"/>
              <a:sym typeface="Calibri"/>
            </a:endParaRPr>
          </a:p>
        </p:txBody>
      </p:sp>
      <p:sp>
        <p:nvSpPr>
          <p:cNvPr id="130" name="Google Shape;130;p20"/>
          <p:cNvSpPr/>
          <p:nvPr/>
        </p:nvSpPr>
        <p:spPr>
          <a:xfrm rot="5400000">
            <a:off x="5368529"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1" name="Google Shape;131;p20"/>
          <p:cNvSpPr/>
          <p:nvPr/>
        </p:nvSpPr>
        <p:spPr>
          <a:xfrm>
            <a:off x="5520518"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2" name="Google Shape;132;p20"/>
          <p:cNvSpPr/>
          <p:nvPr/>
        </p:nvSpPr>
        <p:spPr>
          <a:xfrm>
            <a:off x="5671394"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3" name="Google Shape;133;p20"/>
          <p:cNvSpPr txBox="1"/>
          <p:nvPr/>
        </p:nvSpPr>
        <p:spPr>
          <a:xfrm>
            <a:off x="6604082"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4</a:t>
            </a:r>
            <a:endParaRPr b="0" i="0" sz="1700" u="none" cap="none" strike="noStrike">
              <a:solidFill>
                <a:schemeClr val="dk1"/>
              </a:solidFill>
              <a:latin typeface="Calibri"/>
              <a:ea typeface="Calibri"/>
              <a:cs typeface="Calibri"/>
              <a:sym typeface="Calibri"/>
            </a:endParaRPr>
          </a:p>
        </p:txBody>
      </p:sp>
      <p:sp>
        <p:nvSpPr>
          <p:cNvPr id="134" name="Google Shape;134;p20"/>
          <p:cNvSpPr txBox="1"/>
          <p:nvPr/>
        </p:nvSpPr>
        <p:spPr>
          <a:xfrm>
            <a:off x="5671394"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Merge</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server averages the updates into a new, better global model (FedAvg [1]).</a:t>
            </a:r>
            <a:endParaRPr b="0" i="0" sz="1300" u="none" cap="none" strike="noStrike">
              <a:solidFill>
                <a:schemeClr val="dk1"/>
              </a:solidFill>
              <a:latin typeface="Calibri"/>
              <a:ea typeface="Calibri"/>
              <a:cs typeface="Calibri"/>
              <a:sym typeface="Calibri"/>
            </a:endParaRPr>
          </a:p>
        </p:txBody>
      </p:sp>
      <p:sp>
        <p:nvSpPr>
          <p:cNvPr id="135" name="Google Shape;135;p20"/>
          <p:cNvSpPr/>
          <p:nvPr/>
        </p:nvSpPr>
        <p:spPr>
          <a:xfrm rot="5400000">
            <a:off x="7071541"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6" name="Google Shape;136;p20"/>
          <p:cNvSpPr/>
          <p:nvPr/>
        </p:nvSpPr>
        <p:spPr>
          <a:xfrm>
            <a:off x="7223531"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7" name="Google Shape;137;p20"/>
          <p:cNvSpPr/>
          <p:nvPr/>
        </p:nvSpPr>
        <p:spPr>
          <a:xfrm>
            <a:off x="7374407"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38" name="Google Shape;138;p20"/>
          <p:cNvSpPr txBox="1"/>
          <p:nvPr/>
        </p:nvSpPr>
        <p:spPr>
          <a:xfrm>
            <a:off x="8307095"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5</a:t>
            </a:r>
            <a:endParaRPr b="0" i="0" sz="1700" u="none" cap="none" strike="noStrike">
              <a:solidFill>
                <a:schemeClr val="dk1"/>
              </a:solidFill>
              <a:latin typeface="Calibri"/>
              <a:ea typeface="Calibri"/>
              <a:cs typeface="Calibri"/>
              <a:sym typeface="Calibri"/>
            </a:endParaRPr>
          </a:p>
        </p:txBody>
      </p:sp>
      <p:sp>
        <p:nvSpPr>
          <p:cNvPr id="139" name="Google Shape;139;p20"/>
          <p:cNvSpPr txBox="1"/>
          <p:nvPr/>
        </p:nvSpPr>
        <p:spPr>
          <a:xfrm>
            <a:off x="7374407"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Repeat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One loop is a round. Repeat until the model is accurate enough.</a:t>
            </a:r>
            <a:endParaRPr b="0" i="0" sz="1300" u="none" cap="none" strike="noStrike">
              <a:solidFill>
                <a:schemeClr val="dk1"/>
              </a:solidFill>
              <a:latin typeface="Calibri"/>
              <a:ea typeface="Calibri"/>
              <a:cs typeface="Calibri"/>
              <a:sym typeface="Calibri"/>
            </a:endParaRPr>
          </a:p>
        </p:txBody>
      </p:sp>
      <p:sp>
        <p:nvSpPr>
          <p:cNvPr id="140" name="Google Shape;140;p20"/>
          <p:cNvSpPr txBox="1"/>
          <p:nvPr/>
        </p:nvSpPr>
        <p:spPr>
          <a:xfrm>
            <a:off x="411480" y="3305556"/>
            <a:ext cx="548640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Why people use it, and what it quietly assumes</a:t>
            </a:r>
            <a:endParaRPr b="0" i="0" sz="1300" u="none" cap="none" strike="noStrike">
              <a:solidFill>
                <a:schemeClr val="dk1"/>
              </a:solidFill>
              <a:latin typeface="Calibri"/>
              <a:ea typeface="Calibri"/>
              <a:cs typeface="Calibri"/>
              <a:sym typeface="Calibri"/>
            </a:endParaRPr>
          </a:p>
        </p:txBody>
      </p:sp>
      <p:sp>
        <p:nvSpPr>
          <p:cNvPr id="141" name="Google Shape;141;p20"/>
          <p:cNvSpPr/>
          <p:nvPr/>
        </p:nvSpPr>
        <p:spPr>
          <a:xfrm>
            <a:off x="411480" y="3600450"/>
            <a:ext cx="2682164" cy="994410"/>
          </a:xfrm>
          <a:prstGeom prst="roundRect">
            <a:avLst>
              <a:gd fmla="val 5517" name="adj"/>
            </a:avLst>
          </a:prstGeom>
          <a:solidFill>
            <a:schemeClr val="accent2">
              <a:alpha val="12157"/>
            </a:schemeClr>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2" name="Google Shape;142;p20"/>
          <p:cNvSpPr txBox="1"/>
          <p:nvPr/>
        </p:nvSpPr>
        <p:spPr>
          <a:xfrm>
            <a:off x="582930" y="3682746"/>
            <a:ext cx="2339264"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Privacy stays local</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Raw data (patient records, camera footage, network logs) never leaves the device.</a:t>
            </a:r>
            <a:endParaRPr b="0" i="0" sz="1300" u="none" cap="none" strike="noStrike">
              <a:solidFill>
                <a:schemeClr val="dk1"/>
              </a:solidFill>
              <a:latin typeface="Calibri"/>
              <a:ea typeface="Calibri"/>
              <a:cs typeface="Calibri"/>
              <a:sym typeface="Calibri"/>
            </a:endParaRPr>
          </a:p>
        </p:txBody>
      </p:sp>
      <p:sp>
        <p:nvSpPr>
          <p:cNvPr id="143" name="Google Shape;143;p20"/>
          <p:cNvSpPr/>
          <p:nvPr/>
        </p:nvSpPr>
        <p:spPr>
          <a:xfrm>
            <a:off x="3230803" y="3600450"/>
            <a:ext cx="2682164" cy="994410"/>
          </a:xfrm>
          <a:prstGeom prst="roundRect">
            <a:avLst>
              <a:gd fmla="val 5517" name="adj"/>
            </a:avLst>
          </a:prstGeom>
          <a:solidFill>
            <a:schemeClr val="accent2">
              <a:alpha val="12157"/>
            </a:schemeClr>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4" name="Google Shape;144;p20"/>
          <p:cNvSpPr txBox="1"/>
          <p:nvPr/>
        </p:nvSpPr>
        <p:spPr>
          <a:xfrm>
            <a:off x="3402253" y="3682746"/>
            <a:ext cx="2339264"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Less to send</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An update is much smaller than the data it came from, so little has to cross the network.</a:t>
            </a:r>
            <a:endParaRPr b="0" i="0" sz="1300" u="none" cap="none" strike="noStrike">
              <a:solidFill>
                <a:schemeClr val="dk1"/>
              </a:solidFill>
              <a:latin typeface="Calibri"/>
              <a:ea typeface="Calibri"/>
              <a:cs typeface="Calibri"/>
              <a:sym typeface="Calibri"/>
            </a:endParaRPr>
          </a:p>
        </p:txBody>
      </p:sp>
      <p:sp>
        <p:nvSpPr>
          <p:cNvPr id="145" name="Google Shape;145;p20"/>
          <p:cNvSpPr/>
          <p:nvPr/>
        </p:nvSpPr>
        <p:spPr>
          <a:xfrm>
            <a:off x="6050128" y="3600450"/>
            <a:ext cx="2682164" cy="994410"/>
          </a:xfrm>
          <a:prstGeom prst="roundRect">
            <a:avLst>
              <a:gd fmla="val 5517" name="adj"/>
            </a:avLst>
          </a:prstGeom>
          <a:solidFill>
            <a:schemeClr val="accent1">
              <a:alpha val="14118"/>
            </a:schemeClr>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46" name="Google Shape;146;p20"/>
          <p:cNvSpPr txBox="1"/>
          <p:nvPr/>
        </p:nvSpPr>
        <p:spPr>
          <a:xfrm>
            <a:off x="6221578" y="3682746"/>
            <a:ext cx="2339264"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The hidden assumption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Every round, the server must reach the devices and hear back.</a:t>
            </a:r>
            <a:r>
              <a:rPr b="0" i="0" lang="en" sz="1100" u="none" cap="none" strike="noStrike">
                <a:solidFill>
                  <a:schemeClr val="dk1"/>
                </a:solidFill>
                <a:latin typeface="Calibri"/>
                <a:ea typeface="Calibri"/>
                <a:cs typeface="Calibri"/>
                <a:sym typeface="Calibri"/>
              </a:rPr>
              <a:t> Next: what happens when it cannot.</a:t>
            </a:r>
            <a:endParaRPr b="0" i="0" sz="1300" u="none" cap="none" strike="noStrike">
              <a:solidFill>
                <a:schemeClr val="dk1"/>
              </a:solidFill>
              <a:latin typeface="Calibri"/>
              <a:ea typeface="Calibri"/>
              <a:cs typeface="Calibri"/>
              <a:sym typeface="Calibri"/>
            </a:endParaRPr>
          </a:p>
        </p:txBody>
      </p:sp>
      <p:sp>
        <p:nvSpPr>
          <p:cNvPr id="147" name="Google Shape;147;p20"/>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pic>
        <p:nvPicPr>
          <p:cNvPr descr="image.png" id="148" name="Google Shape;148;p20"/>
          <p:cNvPicPr preferRelativeResize="0"/>
          <p:nvPr/>
        </p:nvPicPr>
        <p:blipFill rotWithShape="1">
          <a:blip r:embed="rId3">
            <a:alphaModFix/>
          </a:blip>
          <a:srcRect b="0" l="0" r="0" t="0"/>
          <a:stretch/>
        </p:blipFill>
        <p:spPr>
          <a:xfrm>
            <a:off x="658368" y="1673352"/>
            <a:ext cx="237744" cy="237744"/>
          </a:xfrm>
          <a:prstGeom prst="rect">
            <a:avLst/>
          </a:prstGeom>
          <a:noFill/>
          <a:ln>
            <a:noFill/>
          </a:ln>
        </p:spPr>
      </p:pic>
      <p:pic>
        <p:nvPicPr>
          <p:cNvPr descr="image.png" id="149" name="Google Shape;149;p20"/>
          <p:cNvPicPr preferRelativeResize="0"/>
          <p:nvPr/>
        </p:nvPicPr>
        <p:blipFill rotWithShape="1">
          <a:blip r:embed="rId4">
            <a:alphaModFix/>
          </a:blip>
          <a:srcRect b="0" l="0" r="0" t="0"/>
          <a:stretch/>
        </p:blipFill>
        <p:spPr>
          <a:xfrm>
            <a:off x="2359152" y="1673352"/>
            <a:ext cx="237744" cy="237744"/>
          </a:xfrm>
          <a:prstGeom prst="rect">
            <a:avLst/>
          </a:prstGeom>
          <a:noFill/>
          <a:ln>
            <a:noFill/>
          </a:ln>
        </p:spPr>
      </p:pic>
      <p:pic>
        <p:nvPicPr>
          <p:cNvPr descr="upload.png" id="150" name="Google Shape;150;p20"/>
          <p:cNvPicPr preferRelativeResize="0"/>
          <p:nvPr/>
        </p:nvPicPr>
        <p:blipFill rotWithShape="1">
          <a:blip r:embed="rId5">
            <a:alphaModFix/>
          </a:blip>
          <a:srcRect b="0" l="0" r="0" t="0"/>
          <a:stretch/>
        </p:blipFill>
        <p:spPr>
          <a:xfrm>
            <a:off x="4059936" y="1673352"/>
            <a:ext cx="237744" cy="237744"/>
          </a:xfrm>
          <a:prstGeom prst="rect">
            <a:avLst/>
          </a:prstGeom>
          <a:noFill/>
          <a:ln>
            <a:noFill/>
          </a:ln>
        </p:spPr>
      </p:pic>
      <p:pic>
        <p:nvPicPr>
          <p:cNvPr descr="image.png" id="151" name="Google Shape;151;p20"/>
          <p:cNvPicPr preferRelativeResize="0"/>
          <p:nvPr/>
        </p:nvPicPr>
        <p:blipFill rotWithShape="1">
          <a:blip r:embed="rId6">
            <a:alphaModFix/>
          </a:blip>
          <a:srcRect b="0" l="0" r="0" t="0"/>
          <a:stretch/>
        </p:blipFill>
        <p:spPr>
          <a:xfrm>
            <a:off x="5760720" y="1673352"/>
            <a:ext cx="237744" cy="237744"/>
          </a:xfrm>
          <a:prstGeom prst="rect">
            <a:avLst/>
          </a:prstGeom>
          <a:noFill/>
          <a:ln>
            <a:noFill/>
          </a:ln>
        </p:spPr>
      </p:pic>
      <p:pic>
        <p:nvPicPr>
          <p:cNvPr descr="image.png" id="152" name="Google Shape;152;p20"/>
          <p:cNvPicPr preferRelativeResize="0"/>
          <p:nvPr/>
        </p:nvPicPr>
        <p:blipFill rotWithShape="1">
          <a:blip r:embed="rId7">
            <a:alphaModFix/>
          </a:blip>
          <a:srcRect b="0" l="0" r="0" t="0"/>
          <a:stretch/>
        </p:blipFill>
        <p:spPr>
          <a:xfrm>
            <a:off x="7470648" y="1673352"/>
            <a:ext cx="237744" cy="2377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INTRODUCTION</a:t>
            </a:r>
            <a:endParaRPr sz="900"/>
          </a:p>
        </p:txBody>
      </p:sp>
      <p:sp>
        <p:nvSpPr>
          <p:cNvPr id="159" name="Google Shape;159;p21"/>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When the network fails, FL stalls</a:t>
            </a:r>
            <a:endParaRPr sz="2700"/>
          </a:p>
        </p:txBody>
      </p:sp>
      <p:sp>
        <p:nvSpPr>
          <p:cNvPr id="160" name="Google Shape;160;p21"/>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Federated learning (FL) keeps raw data on devices, but it assumes every device can reach the server.</a:t>
            </a:r>
            <a:endParaRPr sz="1300"/>
          </a:p>
        </p:txBody>
      </p:sp>
      <p:sp>
        <p:nvSpPr>
          <p:cNvPr id="161" name="Google Shape;161;p21"/>
          <p:cNvSpPr/>
          <p:nvPr/>
        </p:nvSpPr>
        <p:spPr>
          <a:xfrm>
            <a:off x="411480" y="1508760"/>
            <a:ext cx="480060" cy="48006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62" name="Google Shape;162;p21"/>
          <p:cNvPicPr preferRelativeResize="0"/>
          <p:nvPr/>
        </p:nvPicPr>
        <p:blipFill rotWithShape="1">
          <a:blip r:embed="rId3">
            <a:alphaModFix/>
          </a:blip>
          <a:srcRect b="0" l="0" r="0" t="0"/>
          <a:stretch/>
        </p:blipFill>
        <p:spPr>
          <a:xfrm>
            <a:off x="517094" y="1614374"/>
            <a:ext cx="268834" cy="268834"/>
          </a:xfrm>
          <a:prstGeom prst="rect">
            <a:avLst/>
          </a:prstGeom>
          <a:noFill/>
          <a:ln>
            <a:noFill/>
          </a:ln>
        </p:spPr>
      </p:pic>
      <p:sp>
        <p:nvSpPr>
          <p:cNvPr id="163" name="Google Shape;163;p21"/>
          <p:cNvSpPr txBox="1"/>
          <p:nvPr/>
        </p:nvSpPr>
        <p:spPr>
          <a:xfrm>
            <a:off x="1062990" y="1474470"/>
            <a:ext cx="3840480" cy="9258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Where it matters</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Disaster response, wildfire monitoring, farms and tactical operations: places with sparse or damaged infrastructure, where cell and Wi-Fi coverage is thin or gone.</a:t>
            </a:r>
            <a:endParaRPr b="0" i="0" sz="1400" u="none" cap="none" strike="noStrike">
              <a:solidFill>
                <a:schemeClr val="dk1"/>
              </a:solidFill>
              <a:latin typeface="Calibri"/>
              <a:ea typeface="Calibri"/>
              <a:cs typeface="Calibri"/>
              <a:sym typeface="Calibri"/>
            </a:endParaRPr>
          </a:p>
        </p:txBody>
      </p:sp>
      <p:sp>
        <p:nvSpPr>
          <p:cNvPr id="164" name="Google Shape;164;p21"/>
          <p:cNvSpPr/>
          <p:nvPr/>
        </p:nvSpPr>
        <p:spPr>
          <a:xfrm>
            <a:off x="411480" y="2537460"/>
            <a:ext cx="480060" cy="48006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65" name="Google Shape;165;p21"/>
          <p:cNvPicPr preferRelativeResize="0"/>
          <p:nvPr/>
        </p:nvPicPr>
        <p:blipFill rotWithShape="1">
          <a:blip r:embed="rId4">
            <a:alphaModFix/>
          </a:blip>
          <a:srcRect b="0" l="0" r="0" t="0"/>
          <a:stretch/>
        </p:blipFill>
        <p:spPr>
          <a:xfrm>
            <a:off x="517094" y="2643074"/>
            <a:ext cx="268834" cy="268834"/>
          </a:xfrm>
          <a:prstGeom prst="rect">
            <a:avLst/>
          </a:prstGeom>
          <a:noFill/>
          <a:ln>
            <a:noFill/>
          </a:ln>
        </p:spPr>
      </p:pic>
      <p:sp>
        <p:nvSpPr>
          <p:cNvPr id="166" name="Google Shape;166;p21"/>
          <p:cNvSpPr txBox="1"/>
          <p:nvPr/>
        </p:nvSpPr>
        <p:spPr>
          <a:xfrm>
            <a:off x="1062990" y="2503170"/>
            <a:ext cx="3840480" cy="9258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What goes wrong</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Links are denied, disrupted, intermittent or limited (DDIL): jammed, damaged, flaky or too slow. A device with no link is skipped every round, so its data never reaches the model.</a:t>
            </a:r>
            <a:endParaRPr b="0" i="0" sz="1400" u="none" cap="none" strike="noStrike">
              <a:solidFill>
                <a:schemeClr val="dk1"/>
              </a:solidFill>
              <a:latin typeface="Calibri"/>
              <a:ea typeface="Calibri"/>
              <a:cs typeface="Calibri"/>
              <a:sym typeface="Calibri"/>
            </a:endParaRPr>
          </a:p>
        </p:txBody>
      </p:sp>
      <p:sp>
        <p:nvSpPr>
          <p:cNvPr id="167" name="Google Shape;167;p21"/>
          <p:cNvSpPr/>
          <p:nvPr/>
        </p:nvSpPr>
        <p:spPr>
          <a:xfrm>
            <a:off x="411480" y="3566160"/>
            <a:ext cx="480060" cy="48006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68" name="Google Shape;168;p21"/>
          <p:cNvPicPr preferRelativeResize="0"/>
          <p:nvPr/>
        </p:nvPicPr>
        <p:blipFill rotWithShape="1">
          <a:blip r:embed="rId5">
            <a:alphaModFix/>
          </a:blip>
          <a:srcRect b="0" l="0" r="0" t="0"/>
          <a:stretch/>
        </p:blipFill>
        <p:spPr>
          <a:xfrm>
            <a:off x="517094" y="3671774"/>
            <a:ext cx="268834" cy="268834"/>
          </a:xfrm>
          <a:prstGeom prst="rect">
            <a:avLst/>
          </a:prstGeom>
          <a:noFill/>
          <a:ln>
            <a:noFill/>
          </a:ln>
        </p:spPr>
      </p:pic>
      <p:sp>
        <p:nvSpPr>
          <p:cNvPr id="169" name="Google Shape;169;p21"/>
          <p:cNvSpPr txBox="1"/>
          <p:nvPr/>
        </p:nvSpPr>
        <p:spPr>
          <a:xfrm>
            <a:off x="1062990" y="3531870"/>
            <a:ext cx="3840480" cy="9258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The result</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Too few updates arrive, so rounds stall. In my tests, FL over the degraded link merged 0.5 updates per round and stalled at 68.6% accuracy, barely above the 66.7% from calling every network flow benign.</a:t>
            </a:r>
            <a:endParaRPr b="0" i="0" sz="1400" u="none" cap="none" strike="noStrike">
              <a:solidFill>
                <a:schemeClr val="dk1"/>
              </a:solidFill>
              <a:latin typeface="Calibri"/>
              <a:ea typeface="Calibri"/>
              <a:cs typeface="Calibri"/>
              <a:sym typeface="Calibri"/>
            </a:endParaRPr>
          </a:p>
        </p:txBody>
      </p:sp>
      <p:cxnSp>
        <p:nvCxnSpPr>
          <p:cNvPr id="170" name="Google Shape;170;p21"/>
          <p:cNvCxnSpPr/>
          <p:nvPr/>
        </p:nvCxnSpPr>
        <p:spPr>
          <a:xfrm flipH="1">
            <a:off x="5417820" y="1885950"/>
            <a:ext cx="1474470" cy="1611630"/>
          </a:xfrm>
          <a:prstGeom prst="straightConnector1">
            <a:avLst/>
          </a:prstGeom>
          <a:noFill/>
          <a:ln cap="flat" cmpd="sng" w="22225">
            <a:solidFill>
              <a:schemeClr val="accent3"/>
            </a:solidFill>
            <a:prstDash val="dash"/>
            <a:round/>
            <a:headEnd len="sm" w="sm" type="none"/>
            <a:tailEnd len="sm" w="sm" type="none"/>
          </a:ln>
        </p:spPr>
      </p:cxnSp>
      <p:cxnSp>
        <p:nvCxnSpPr>
          <p:cNvPr id="171" name="Google Shape;171;p21"/>
          <p:cNvCxnSpPr/>
          <p:nvPr/>
        </p:nvCxnSpPr>
        <p:spPr>
          <a:xfrm flipH="1">
            <a:off x="6206490" y="1885950"/>
            <a:ext cx="685800" cy="2297430"/>
          </a:xfrm>
          <a:prstGeom prst="straightConnector1">
            <a:avLst/>
          </a:prstGeom>
          <a:noFill/>
          <a:ln cap="flat" cmpd="sng" w="22225">
            <a:solidFill>
              <a:schemeClr val="accent3"/>
            </a:solidFill>
            <a:prstDash val="dash"/>
            <a:round/>
            <a:headEnd len="sm" w="sm" type="none"/>
            <a:tailEnd len="sm" w="sm" type="none"/>
          </a:ln>
        </p:spPr>
      </p:cxnSp>
      <p:cxnSp>
        <p:nvCxnSpPr>
          <p:cNvPr id="172" name="Google Shape;172;p21"/>
          <p:cNvCxnSpPr/>
          <p:nvPr/>
        </p:nvCxnSpPr>
        <p:spPr>
          <a:xfrm>
            <a:off x="6892290" y="1885950"/>
            <a:ext cx="274320" cy="1851660"/>
          </a:xfrm>
          <a:prstGeom prst="straightConnector1">
            <a:avLst/>
          </a:prstGeom>
          <a:noFill/>
          <a:ln cap="flat" cmpd="sng" w="28575">
            <a:solidFill>
              <a:schemeClr val="accent2"/>
            </a:solidFill>
            <a:prstDash val="solid"/>
            <a:round/>
            <a:headEnd len="sm" w="sm" type="none"/>
            <a:tailEnd len="sm" w="sm" type="none"/>
          </a:ln>
        </p:spPr>
      </p:cxnSp>
      <p:cxnSp>
        <p:nvCxnSpPr>
          <p:cNvPr id="173" name="Google Shape;173;p21"/>
          <p:cNvCxnSpPr/>
          <p:nvPr/>
        </p:nvCxnSpPr>
        <p:spPr>
          <a:xfrm>
            <a:off x="6892290" y="1885950"/>
            <a:ext cx="1165860" cy="2297430"/>
          </a:xfrm>
          <a:prstGeom prst="straightConnector1">
            <a:avLst/>
          </a:prstGeom>
          <a:noFill/>
          <a:ln cap="flat" cmpd="sng" w="22225">
            <a:solidFill>
              <a:schemeClr val="accent3"/>
            </a:solidFill>
            <a:prstDash val="dash"/>
            <a:round/>
            <a:headEnd len="sm" w="sm" type="none"/>
            <a:tailEnd len="sm" w="sm" type="none"/>
          </a:ln>
        </p:spPr>
      </p:cxnSp>
      <p:cxnSp>
        <p:nvCxnSpPr>
          <p:cNvPr id="174" name="Google Shape;174;p21"/>
          <p:cNvCxnSpPr/>
          <p:nvPr/>
        </p:nvCxnSpPr>
        <p:spPr>
          <a:xfrm>
            <a:off x="6892290" y="1885950"/>
            <a:ext cx="1474470" cy="1234440"/>
          </a:xfrm>
          <a:prstGeom prst="straightConnector1">
            <a:avLst/>
          </a:prstGeom>
          <a:noFill/>
          <a:ln cap="flat" cmpd="sng" w="28575">
            <a:solidFill>
              <a:schemeClr val="accent2"/>
            </a:solidFill>
            <a:prstDash val="solid"/>
            <a:round/>
            <a:headEnd len="sm" w="sm" type="none"/>
            <a:tailEnd len="sm" w="sm" type="none"/>
          </a:ln>
        </p:spPr>
      </p:cxnSp>
      <p:sp>
        <p:nvSpPr>
          <p:cNvPr id="175" name="Google Shape;175;p21"/>
          <p:cNvSpPr/>
          <p:nvPr/>
        </p:nvSpPr>
        <p:spPr>
          <a:xfrm>
            <a:off x="6038469" y="2575179"/>
            <a:ext cx="233172" cy="233172"/>
          </a:xfrm>
          <a:prstGeom prst="ellipse">
            <a:avLst/>
          </a:prstGeom>
          <a:solidFill>
            <a:schemeClr val="accent4"/>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6" name="Google Shape;176;p21"/>
          <p:cNvSpPr txBox="1"/>
          <p:nvPr/>
        </p:nvSpPr>
        <p:spPr>
          <a:xfrm>
            <a:off x="6038469" y="2575179"/>
            <a:ext cx="233172" cy="2331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7" name="Google Shape;177;p21"/>
          <p:cNvSpPr/>
          <p:nvPr/>
        </p:nvSpPr>
        <p:spPr>
          <a:xfrm>
            <a:off x="6432804" y="2918079"/>
            <a:ext cx="233172" cy="233172"/>
          </a:xfrm>
          <a:prstGeom prst="ellipse">
            <a:avLst/>
          </a:prstGeom>
          <a:solidFill>
            <a:schemeClr val="accent4"/>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78" name="Google Shape;178;p21"/>
          <p:cNvSpPr txBox="1"/>
          <p:nvPr/>
        </p:nvSpPr>
        <p:spPr>
          <a:xfrm>
            <a:off x="6432804" y="2918079"/>
            <a:ext cx="233172" cy="2331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79" name="Google Shape;179;p21"/>
          <p:cNvSpPr/>
          <p:nvPr/>
        </p:nvSpPr>
        <p:spPr>
          <a:xfrm>
            <a:off x="7358634" y="2918079"/>
            <a:ext cx="233172" cy="233172"/>
          </a:xfrm>
          <a:prstGeom prst="ellipse">
            <a:avLst/>
          </a:prstGeom>
          <a:solidFill>
            <a:schemeClr val="accent4"/>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180" name="Google Shape;180;p21"/>
          <p:cNvSpPr txBox="1"/>
          <p:nvPr/>
        </p:nvSpPr>
        <p:spPr>
          <a:xfrm>
            <a:off x="7358634" y="2918079"/>
            <a:ext cx="233172" cy="2331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libri"/>
              <a:buNone/>
            </a:pPr>
            <a:r>
              <a:rPr b="1" i="0" lang="en" sz="900" u="none" cap="none" strike="noStrike">
                <a:solidFill>
                  <a:schemeClr val="lt1"/>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81" name="Google Shape;181;p21"/>
          <p:cNvSpPr/>
          <p:nvPr/>
        </p:nvSpPr>
        <p:spPr>
          <a:xfrm>
            <a:off x="6583680" y="1577340"/>
            <a:ext cx="617220" cy="617220"/>
          </a:xfrm>
          <a:prstGeom prst="ellipse">
            <a:avLst/>
          </a:prstGeom>
          <a:solidFill>
            <a:schemeClr val="dk2"/>
          </a:solidFill>
          <a:ln cap="flat" cmpd="sng" w="12700">
            <a:solidFill>
              <a:schemeClr val="dk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82" name="Google Shape;182;p21"/>
          <p:cNvPicPr preferRelativeResize="0"/>
          <p:nvPr/>
        </p:nvPicPr>
        <p:blipFill rotWithShape="1">
          <a:blip r:embed="rId6">
            <a:alphaModFix/>
          </a:blip>
          <a:srcRect b="0" l="0" r="0" t="0"/>
          <a:stretch/>
        </p:blipFill>
        <p:spPr>
          <a:xfrm>
            <a:off x="6719468" y="1713128"/>
            <a:ext cx="345643" cy="345644"/>
          </a:xfrm>
          <a:prstGeom prst="rect">
            <a:avLst/>
          </a:prstGeom>
          <a:noFill/>
          <a:ln>
            <a:noFill/>
          </a:ln>
        </p:spPr>
      </p:pic>
      <p:sp>
        <p:nvSpPr>
          <p:cNvPr id="183" name="Google Shape;183;p21"/>
          <p:cNvSpPr txBox="1"/>
          <p:nvPr/>
        </p:nvSpPr>
        <p:spPr>
          <a:xfrm>
            <a:off x="7269480" y="1762506"/>
            <a:ext cx="10972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edge server</a:t>
            </a:r>
            <a:endParaRPr b="0" i="0" sz="1100" u="none" cap="none" strike="noStrike">
              <a:solidFill>
                <a:schemeClr val="dk1"/>
              </a:solidFill>
              <a:latin typeface="Calibri"/>
              <a:ea typeface="Calibri"/>
              <a:cs typeface="Calibri"/>
              <a:sym typeface="Calibri"/>
            </a:endParaRPr>
          </a:p>
        </p:txBody>
      </p:sp>
      <p:sp>
        <p:nvSpPr>
          <p:cNvPr id="184" name="Google Shape;184;p21"/>
          <p:cNvSpPr/>
          <p:nvPr/>
        </p:nvSpPr>
        <p:spPr>
          <a:xfrm>
            <a:off x="5212080" y="3291840"/>
            <a:ext cx="411480" cy="411480"/>
          </a:xfrm>
          <a:prstGeom prst="ellipse">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85" name="Google Shape;185;p21"/>
          <p:cNvPicPr preferRelativeResize="0"/>
          <p:nvPr/>
        </p:nvPicPr>
        <p:blipFill rotWithShape="1">
          <a:blip r:embed="rId7">
            <a:alphaModFix/>
          </a:blip>
          <a:srcRect b="0" l="0" r="0" t="0"/>
          <a:stretch/>
        </p:blipFill>
        <p:spPr>
          <a:xfrm>
            <a:off x="5302606" y="3382366"/>
            <a:ext cx="230428" cy="230429"/>
          </a:xfrm>
          <a:prstGeom prst="rect">
            <a:avLst/>
          </a:prstGeom>
          <a:noFill/>
          <a:ln>
            <a:noFill/>
          </a:ln>
        </p:spPr>
      </p:pic>
      <p:sp>
        <p:nvSpPr>
          <p:cNvPr id="186" name="Google Shape;186;p21"/>
          <p:cNvSpPr/>
          <p:nvPr/>
        </p:nvSpPr>
        <p:spPr>
          <a:xfrm>
            <a:off x="6000750" y="3977640"/>
            <a:ext cx="411480" cy="411480"/>
          </a:xfrm>
          <a:prstGeom prst="ellipse">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87" name="Google Shape;187;p21"/>
          <p:cNvPicPr preferRelativeResize="0"/>
          <p:nvPr/>
        </p:nvPicPr>
        <p:blipFill rotWithShape="1">
          <a:blip r:embed="rId7">
            <a:alphaModFix/>
          </a:blip>
          <a:srcRect b="0" l="0" r="0" t="0"/>
          <a:stretch/>
        </p:blipFill>
        <p:spPr>
          <a:xfrm>
            <a:off x="6091276" y="4068166"/>
            <a:ext cx="230429" cy="230429"/>
          </a:xfrm>
          <a:prstGeom prst="rect">
            <a:avLst/>
          </a:prstGeom>
          <a:noFill/>
          <a:ln>
            <a:noFill/>
          </a:ln>
        </p:spPr>
      </p:pic>
      <p:sp>
        <p:nvSpPr>
          <p:cNvPr id="188" name="Google Shape;188;p21"/>
          <p:cNvSpPr/>
          <p:nvPr/>
        </p:nvSpPr>
        <p:spPr>
          <a:xfrm>
            <a:off x="6960870" y="3531870"/>
            <a:ext cx="411480" cy="41148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89" name="Google Shape;189;p21"/>
          <p:cNvPicPr preferRelativeResize="0"/>
          <p:nvPr/>
        </p:nvPicPr>
        <p:blipFill rotWithShape="1">
          <a:blip r:embed="rId7">
            <a:alphaModFix/>
          </a:blip>
          <a:srcRect b="0" l="0" r="0" t="0"/>
          <a:stretch/>
        </p:blipFill>
        <p:spPr>
          <a:xfrm>
            <a:off x="7051396" y="3622396"/>
            <a:ext cx="230429" cy="230429"/>
          </a:xfrm>
          <a:prstGeom prst="rect">
            <a:avLst/>
          </a:prstGeom>
          <a:noFill/>
          <a:ln>
            <a:noFill/>
          </a:ln>
        </p:spPr>
      </p:pic>
      <p:sp>
        <p:nvSpPr>
          <p:cNvPr id="190" name="Google Shape;190;p21"/>
          <p:cNvSpPr/>
          <p:nvPr/>
        </p:nvSpPr>
        <p:spPr>
          <a:xfrm>
            <a:off x="7852410" y="3977640"/>
            <a:ext cx="411480" cy="411480"/>
          </a:xfrm>
          <a:prstGeom prst="ellipse">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91" name="Google Shape;191;p21"/>
          <p:cNvPicPr preferRelativeResize="0"/>
          <p:nvPr/>
        </p:nvPicPr>
        <p:blipFill rotWithShape="1">
          <a:blip r:embed="rId7">
            <a:alphaModFix/>
          </a:blip>
          <a:srcRect b="0" l="0" r="0" t="0"/>
          <a:stretch/>
        </p:blipFill>
        <p:spPr>
          <a:xfrm>
            <a:off x="7942936" y="4068166"/>
            <a:ext cx="230429" cy="230429"/>
          </a:xfrm>
          <a:prstGeom prst="rect">
            <a:avLst/>
          </a:prstGeom>
          <a:noFill/>
          <a:ln>
            <a:noFill/>
          </a:ln>
        </p:spPr>
      </p:pic>
      <p:sp>
        <p:nvSpPr>
          <p:cNvPr id="192" name="Google Shape;192;p21"/>
          <p:cNvSpPr/>
          <p:nvPr/>
        </p:nvSpPr>
        <p:spPr>
          <a:xfrm>
            <a:off x="8161020" y="2914650"/>
            <a:ext cx="411480" cy="41148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193" name="Google Shape;193;p21"/>
          <p:cNvPicPr preferRelativeResize="0"/>
          <p:nvPr/>
        </p:nvPicPr>
        <p:blipFill rotWithShape="1">
          <a:blip r:embed="rId7">
            <a:alphaModFix/>
          </a:blip>
          <a:srcRect b="0" l="0" r="0" t="0"/>
          <a:stretch/>
        </p:blipFill>
        <p:spPr>
          <a:xfrm>
            <a:off x="8251546" y="3005176"/>
            <a:ext cx="230429" cy="230428"/>
          </a:xfrm>
          <a:prstGeom prst="rect">
            <a:avLst/>
          </a:prstGeom>
          <a:noFill/>
          <a:ln>
            <a:noFill/>
          </a:ln>
        </p:spPr>
      </p:pic>
      <p:sp>
        <p:nvSpPr>
          <p:cNvPr id="194" name="Google Shape;194;p21"/>
          <p:cNvSpPr txBox="1"/>
          <p:nvPr/>
        </p:nvSpPr>
        <p:spPr>
          <a:xfrm>
            <a:off x="5040630" y="2503170"/>
            <a:ext cx="10972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000"/>
              <a:buFont typeface="Calibri"/>
              <a:buNone/>
            </a:pPr>
            <a:r>
              <a:rPr b="0" i="1" lang="en" sz="1000" u="none" cap="none" strike="noStrike">
                <a:solidFill>
                  <a:schemeClr val="accent4"/>
                </a:solidFill>
                <a:latin typeface="Calibri"/>
                <a:ea typeface="Calibri"/>
                <a:cs typeface="Calibri"/>
                <a:sym typeface="Calibri"/>
              </a:rPr>
              <a:t>out of range</a:t>
            </a:r>
            <a:endParaRPr b="0" i="0" sz="1000" u="none" cap="none" strike="noStrike">
              <a:solidFill>
                <a:schemeClr val="dk1"/>
              </a:solidFill>
              <a:latin typeface="Calibri"/>
              <a:ea typeface="Calibri"/>
              <a:cs typeface="Calibri"/>
              <a:sym typeface="Calibri"/>
            </a:endParaRPr>
          </a:p>
        </p:txBody>
      </p:sp>
      <p:sp>
        <p:nvSpPr>
          <p:cNvPr id="195" name="Google Shape;195;p21"/>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
        <p:nvSpPr>
          <p:cNvPr id="196" name="Google Shape;196;p21"/>
          <p:cNvSpPr txBox="1"/>
          <p:nvPr/>
        </p:nvSpPr>
        <p:spPr>
          <a:xfrm>
            <a:off x="4846320" y="4498848"/>
            <a:ext cx="3886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4"/>
              </a:buClr>
              <a:buSzPts val="1000"/>
              <a:buFont typeface="Calibri"/>
              <a:buNone/>
            </a:pPr>
            <a:r>
              <a:rPr b="0" i="1" lang="en" sz="900" u="none" cap="none" strike="noStrike">
                <a:solidFill>
                  <a:schemeClr val="accent3"/>
                </a:solidFill>
                <a:latin typeface="Calibri"/>
                <a:ea typeface="Calibri"/>
                <a:cs typeface="Calibri"/>
                <a:sym typeface="Calibri"/>
              </a:rPr>
              <a:t>A dashed line with ✕ marks a device that cannot reach the server this round.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INTRODUCTION</a:t>
            </a:r>
            <a:endParaRPr sz="900"/>
          </a:p>
        </p:txBody>
      </p:sp>
      <p:sp>
        <p:nvSpPr>
          <p:cNvPr id="203" name="Google Shape;203;p22"/>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Drones carry updates; reach is a choice</a:t>
            </a:r>
            <a:endParaRPr sz="2700"/>
          </a:p>
        </p:txBody>
      </p:sp>
      <p:sp>
        <p:nvSpPr>
          <p:cNvPr id="204" name="Google Shape;204;p22"/>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A data mule is a drone that physically carries updates between devices and the server, within a limited flight time.</a:t>
            </a:r>
            <a:endParaRPr sz="1300"/>
          </a:p>
        </p:txBody>
      </p:sp>
      <p:sp>
        <p:nvSpPr>
          <p:cNvPr id="205" name="Google Shape;205;p22"/>
          <p:cNvSpPr/>
          <p:nvPr/>
        </p:nvSpPr>
        <p:spPr>
          <a:xfrm>
            <a:off x="411480" y="1440180"/>
            <a:ext cx="3840480" cy="994410"/>
          </a:xfrm>
          <a:prstGeom prst="roundRect">
            <a:avLst>
              <a:gd fmla="val 551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6" name="Google Shape;206;p22"/>
          <p:cNvSpPr txBox="1"/>
          <p:nvPr/>
        </p:nvSpPr>
        <p:spPr>
          <a:xfrm>
            <a:off x="617220" y="1543050"/>
            <a:ext cx="34290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Wide band (20 MHz): fast, short reach</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 wider channel carries more bits per second but picks up more noise, so it reaches only 60 m. The drone needs many stops and spends most of the mission flying between them.</a:t>
            </a:r>
            <a:endParaRPr b="0" i="0" sz="1400" u="none" cap="none" strike="noStrike">
              <a:solidFill>
                <a:schemeClr val="dk1"/>
              </a:solidFill>
              <a:latin typeface="Calibri"/>
              <a:ea typeface="Calibri"/>
              <a:cs typeface="Calibri"/>
              <a:sym typeface="Calibri"/>
            </a:endParaRPr>
          </a:p>
        </p:txBody>
      </p:sp>
      <p:sp>
        <p:nvSpPr>
          <p:cNvPr id="207" name="Google Shape;207;p22"/>
          <p:cNvSpPr/>
          <p:nvPr/>
        </p:nvSpPr>
        <p:spPr>
          <a:xfrm>
            <a:off x="411480" y="2537460"/>
            <a:ext cx="3840480" cy="994410"/>
          </a:xfrm>
          <a:prstGeom prst="roundRect">
            <a:avLst>
              <a:gd fmla="val 551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08" name="Google Shape;208;p22"/>
          <p:cNvSpPr txBox="1"/>
          <p:nvPr/>
        </p:nvSpPr>
        <p:spPr>
          <a:xfrm>
            <a:off x="617220" y="2640330"/>
            <a:ext cx="342900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Narrow band (1.4 MHz): slow, long reach</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 narrower channel carries fewer bits per second but picks up less noise, so it reaches 232 m. One stop can cover the field: the drone hovers longer but flies far less.</a:t>
            </a:r>
            <a:endParaRPr b="0" i="0" sz="1400" u="none" cap="none" strike="noStrike">
              <a:solidFill>
                <a:schemeClr val="dk1"/>
              </a:solidFill>
              <a:latin typeface="Calibri"/>
              <a:ea typeface="Calibri"/>
              <a:cs typeface="Calibri"/>
              <a:sym typeface="Calibri"/>
            </a:endParaRPr>
          </a:p>
        </p:txBody>
      </p:sp>
      <p:sp>
        <p:nvSpPr>
          <p:cNvPr id="209" name="Google Shape;209;p22"/>
          <p:cNvSpPr/>
          <p:nvPr/>
        </p:nvSpPr>
        <p:spPr>
          <a:xfrm>
            <a:off x="411480" y="3634740"/>
            <a:ext cx="3840480" cy="960120"/>
          </a:xfrm>
          <a:prstGeom prst="roundRect">
            <a:avLst>
              <a:gd fmla="val 5714" name="adj"/>
            </a:avLst>
          </a:prstGeom>
          <a:solidFill>
            <a:schemeClr val="accent1">
              <a:alpha val="14118"/>
            </a:schemeClr>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0" name="Google Shape;210;p22"/>
          <p:cNvSpPr txBox="1"/>
          <p:nvPr/>
        </p:nvSpPr>
        <p:spPr>
          <a:xfrm>
            <a:off x="617220" y="3703320"/>
            <a:ext cx="34290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Which one wins depends on how many devices there are, where they are and how much time is left. </a:t>
            </a:r>
            <a:r>
              <a:rPr b="1" i="0" lang="en" sz="1100" u="none" cap="none" strike="noStrike">
                <a:solidFill>
                  <a:schemeClr val="dk1"/>
                </a:solidFill>
                <a:latin typeface="Calibri"/>
                <a:ea typeface="Calibri"/>
                <a:cs typeface="Calibri"/>
                <a:sym typeface="Calibri"/>
              </a:rPr>
              <a:t>So FeRRy picks the band and the route together, before every flight.</a:t>
            </a:r>
            <a:endParaRPr b="0" i="0" sz="1100" u="none" cap="none" strike="noStrike">
              <a:solidFill>
                <a:schemeClr val="dk1"/>
              </a:solidFill>
              <a:latin typeface="Calibri"/>
              <a:ea typeface="Calibri"/>
              <a:cs typeface="Calibri"/>
              <a:sym typeface="Calibri"/>
            </a:endParaRPr>
          </a:p>
        </p:txBody>
      </p:sp>
      <p:sp>
        <p:nvSpPr>
          <p:cNvPr id="211" name="Google Shape;211;p22"/>
          <p:cNvSpPr/>
          <p:nvPr/>
        </p:nvSpPr>
        <p:spPr>
          <a:xfrm>
            <a:off x="4560570" y="1693926"/>
            <a:ext cx="2674620" cy="2674620"/>
          </a:xfrm>
          <a:prstGeom prst="ellipse">
            <a:avLst/>
          </a:prstGeom>
          <a:solidFill>
            <a:schemeClr val="accent5">
              <a:alpha val="10196"/>
            </a:schemeClr>
          </a:solidFill>
          <a:ln cap="flat" cmpd="sng" w="25400">
            <a:solidFill>
              <a:schemeClr val="accent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2" name="Google Shape;212;p22"/>
          <p:cNvSpPr/>
          <p:nvPr/>
        </p:nvSpPr>
        <p:spPr>
          <a:xfrm>
            <a:off x="5206168" y="2339524"/>
            <a:ext cx="1383424" cy="1383424"/>
          </a:xfrm>
          <a:prstGeom prst="ellipse">
            <a:avLst/>
          </a:prstGeom>
          <a:solidFill>
            <a:schemeClr val="accent2">
              <a:alpha val="12157"/>
            </a:schemeClr>
          </a:solidFill>
          <a:ln cap="flat" cmpd="sng" w="25400">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3" name="Google Shape;213;p22"/>
          <p:cNvSpPr/>
          <p:nvPr/>
        </p:nvSpPr>
        <p:spPr>
          <a:xfrm>
            <a:off x="5552024" y="2685380"/>
            <a:ext cx="691712" cy="691712"/>
          </a:xfrm>
          <a:prstGeom prst="ellipse">
            <a:avLst/>
          </a:prstGeom>
          <a:solidFill>
            <a:schemeClr val="accent6">
              <a:alpha val="20000"/>
            </a:schemeClr>
          </a:solidFill>
          <a:ln cap="flat" cmpd="sng" w="25400">
            <a:solidFill>
              <a:schemeClr val="accent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4" name="Google Shape;214;p22"/>
          <p:cNvSpPr/>
          <p:nvPr/>
        </p:nvSpPr>
        <p:spPr>
          <a:xfrm>
            <a:off x="5321453" y="2454809"/>
            <a:ext cx="1152854" cy="1152854"/>
          </a:xfrm>
          <a:prstGeom prst="rect">
            <a:avLst/>
          </a:prstGeom>
          <a:solidFill>
            <a:schemeClr val="lt1">
              <a:alpha val="0"/>
            </a:schemeClr>
          </a:solidFill>
          <a:ln cap="flat" cmpd="sng" w="12700">
            <a:solidFill>
              <a:schemeClr val="accent3"/>
            </a:solidFill>
            <a:prstDash val="dash"/>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5" name="Google Shape;215;p22"/>
          <p:cNvSpPr/>
          <p:nvPr/>
        </p:nvSpPr>
        <p:spPr>
          <a:xfrm>
            <a:off x="5427988" y="2642045"/>
            <a:ext cx="109728" cy="109728"/>
          </a:xfrm>
          <a:prstGeom prst="ellipse">
            <a:avLst/>
          </a:prstGeom>
          <a:solidFill>
            <a:schemeClr val="dk1"/>
          </a:solidFill>
          <a:ln cap="flat" cmpd="sng" w="9525">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6" name="Google Shape;216;p22"/>
          <p:cNvSpPr/>
          <p:nvPr/>
        </p:nvSpPr>
        <p:spPr>
          <a:xfrm>
            <a:off x="6160051" y="2572874"/>
            <a:ext cx="109728" cy="109728"/>
          </a:xfrm>
          <a:prstGeom prst="ellipse">
            <a:avLst/>
          </a:prstGeom>
          <a:solidFill>
            <a:schemeClr val="dk1"/>
          </a:solidFill>
          <a:ln cap="flat" cmpd="sng" w="9525">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7" name="Google Shape;217;p22"/>
          <p:cNvSpPr/>
          <p:nvPr/>
        </p:nvSpPr>
        <p:spPr>
          <a:xfrm>
            <a:off x="6327215" y="3137771"/>
            <a:ext cx="109728" cy="109728"/>
          </a:xfrm>
          <a:prstGeom prst="ellipse">
            <a:avLst/>
          </a:prstGeom>
          <a:solidFill>
            <a:schemeClr val="dk1"/>
          </a:solidFill>
          <a:ln cap="flat" cmpd="sng" w="9525">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8" name="Google Shape;218;p22"/>
          <p:cNvSpPr/>
          <p:nvPr/>
        </p:nvSpPr>
        <p:spPr>
          <a:xfrm>
            <a:off x="5647031" y="3379871"/>
            <a:ext cx="109728" cy="109728"/>
          </a:xfrm>
          <a:prstGeom prst="ellipse">
            <a:avLst/>
          </a:prstGeom>
          <a:solidFill>
            <a:schemeClr val="dk1"/>
          </a:solidFill>
          <a:ln cap="flat" cmpd="sng" w="9525">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19" name="Google Shape;219;p22"/>
          <p:cNvSpPr/>
          <p:nvPr/>
        </p:nvSpPr>
        <p:spPr>
          <a:xfrm>
            <a:off x="6044765" y="3120478"/>
            <a:ext cx="109728" cy="109728"/>
          </a:xfrm>
          <a:prstGeom prst="ellipse">
            <a:avLst/>
          </a:prstGeom>
          <a:solidFill>
            <a:schemeClr val="dk1"/>
          </a:solidFill>
          <a:ln cap="flat" cmpd="sng" w="9525">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0" name="Google Shape;220;p22"/>
          <p:cNvSpPr/>
          <p:nvPr/>
        </p:nvSpPr>
        <p:spPr>
          <a:xfrm>
            <a:off x="5324232" y="3045543"/>
            <a:ext cx="109728" cy="109728"/>
          </a:xfrm>
          <a:prstGeom prst="ellipse">
            <a:avLst/>
          </a:prstGeom>
          <a:solidFill>
            <a:schemeClr val="dk1"/>
          </a:solidFill>
          <a:ln cap="flat" cmpd="sng" w="9525">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1" name="Google Shape;221;p22"/>
          <p:cNvSpPr/>
          <p:nvPr/>
        </p:nvSpPr>
        <p:spPr>
          <a:xfrm>
            <a:off x="5740146" y="2873502"/>
            <a:ext cx="315468" cy="315468"/>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222" name="Google Shape;222;p22"/>
          <p:cNvPicPr preferRelativeResize="0"/>
          <p:nvPr/>
        </p:nvPicPr>
        <p:blipFill rotWithShape="1">
          <a:blip r:embed="rId3">
            <a:alphaModFix/>
          </a:blip>
          <a:srcRect b="0" l="0" r="0" t="0"/>
          <a:stretch/>
        </p:blipFill>
        <p:spPr>
          <a:xfrm>
            <a:off x="5809549" y="2942905"/>
            <a:ext cx="176662" cy="176662"/>
          </a:xfrm>
          <a:prstGeom prst="rect">
            <a:avLst/>
          </a:prstGeom>
          <a:noFill/>
          <a:ln>
            <a:noFill/>
          </a:ln>
        </p:spPr>
      </p:pic>
      <p:sp>
        <p:nvSpPr>
          <p:cNvPr id="223" name="Google Shape;223;p22"/>
          <p:cNvSpPr/>
          <p:nvPr/>
        </p:nvSpPr>
        <p:spPr>
          <a:xfrm>
            <a:off x="7509510" y="1824228"/>
            <a:ext cx="246888" cy="246888"/>
          </a:xfrm>
          <a:prstGeom prst="ellipse">
            <a:avLst/>
          </a:prstGeom>
          <a:solidFill>
            <a:schemeClr val="accent5">
              <a:alpha val="10196"/>
            </a:schemeClr>
          </a:solidFill>
          <a:ln cap="flat" cmpd="sng" w="25400">
            <a:solidFill>
              <a:schemeClr val="accent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4" name="Google Shape;224;p22"/>
          <p:cNvSpPr txBox="1"/>
          <p:nvPr/>
        </p:nvSpPr>
        <p:spPr>
          <a:xfrm>
            <a:off x="7852410" y="1783080"/>
            <a:ext cx="8915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Calibri"/>
              <a:buNone/>
            </a:pPr>
            <a:r>
              <a:rPr b="1" i="0" lang="en" sz="1000" u="none" cap="none" strike="noStrike">
                <a:solidFill>
                  <a:schemeClr val="dk1"/>
                </a:solidFill>
                <a:latin typeface="Calibri"/>
                <a:ea typeface="Calibri"/>
                <a:cs typeface="Calibri"/>
                <a:sym typeface="Calibri"/>
              </a:rPr>
              <a:t>Narrow band</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3"/>
              </a:buClr>
              <a:buSzPts val="900"/>
              <a:buFont typeface="Calibri"/>
              <a:buNone/>
            </a:pPr>
            <a:r>
              <a:rPr b="0" i="0" lang="en" sz="900" u="none" cap="none" strike="noStrike">
                <a:solidFill>
                  <a:schemeClr val="accent3"/>
                </a:solidFill>
                <a:latin typeface="Calibri"/>
                <a:ea typeface="Calibri"/>
                <a:cs typeface="Calibri"/>
                <a:sym typeface="Calibri"/>
              </a:rPr>
              <a:t>1.4 MHz · 232 m</a:t>
            </a:r>
            <a:endParaRPr b="0" i="0" sz="1000" u="none" cap="none" strike="noStrike">
              <a:solidFill>
                <a:schemeClr val="dk1"/>
              </a:solidFill>
              <a:latin typeface="Calibri"/>
              <a:ea typeface="Calibri"/>
              <a:cs typeface="Calibri"/>
              <a:sym typeface="Calibri"/>
            </a:endParaRPr>
          </a:p>
        </p:txBody>
      </p:sp>
      <p:sp>
        <p:nvSpPr>
          <p:cNvPr id="225" name="Google Shape;225;p22"/>
          <p:cNvSpPr/>
          <p:nvPr/>
        </p:nvSpPr>
        <p:spPr>
          <a:xfrm>
            <a:off x="7509510" y="2359152"/>
            <a:ext cx="246888" cy="246888"/>
          </a:xfrm>
          <a:prstGeom prst="ellipse">
            <a:avLst/>
          </a:prstGeom>
          <a:solidFill>
            <a:schemeClr val="accent2">
              <a:alpha val="12157"/>
            </a:schemeClr>
          </a:solidFill>
          <a:ln cap="flat" cmpd="sng" w="25400">
            <a:solidFill>
              <a:schemeClr val="accent2"/>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6" name="Google Shape;226;p22"/>
          <p:cNvSpPr txBox="1"/>
          <p:nvPr/>
        </p:nvSpPr>
        <p:spPr>
          <a:xfrm>
            <a:off x="7852410" y="2318004"/>
            <a:ext cx="8915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Calibri"/>
              <a:buNone/>
            </a:pPr>
            <a:r>
              <a:rPr b="1" i="0" lang="en" sz="1000" u="none" cap="none" strike="noStrike">
                <a:solidFill>
                  <a:schemeClr val="dk1"/>
                </a:solidFill>
                <a:latin typeface="Calibri"/>
                <a:ea typeface="Calibri"/>
                <a:cs typeface="Calibri"/>
                <a:sym typeface="Calibri"/>
              </a:rPr>
              <a:t>Medium band</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3"/>
              </a:buClr>
              <a:buSzPts val="900"/>
              <a:buFont typeface="Calibri"/>
              <a:buNone/>
            </a:pPr>
            <a:r>
              <a:rPr b="0" i="0" lang="en" sz="900" u="none" cap="none" strike="noStrike">
                <a:solidFill>
                  <a:schemeClr val="accent3"/>
                </a:solidFill>
                <a:latin typeface="Calibri"/>
                <a:ea typeface="Calibri"/>
                <a:cs typeface="Calibri"/>
                <a:sym typeface="Calibri"/>
              </a:rPr>
              <a:t>5 MHz · 120 m</a:t>
            </a:r>
            <a:endParaRPr b="0" i="0" sz="1000" u="none" cap="none" strike="noStrike">
              <a:solidFill>
                <a:schemeClr val="dk1"/>
              </a:solidFill>
              <a:latin typeface="Calibri"/>
              <a:ea typeface="Calibri"/>
              <a:cs typeface="Calibri"/>
              <a:sym typeface="Calibri"/>
            </a:endParaRPr>
          </a:p>
        </p:txBody>
      </p:sp>
      <p:sp>
        <p:nvSpPr>
          <p:cNvPr id="227" name="Google Shape;227;p22"/>
          <p:cNvSpPr/>
          <p:nvPr/>
        </p:nvSpPr>
        <p:spPr>
          <a:xfrm>
            <a:off x="7509510" y="2894076"/>
            <a:ext cx="246888" cy="246888"/>
          </a:xfrm>
          <a:prstGeom prst="ellipse">
            <a:avLst/>
          </a:prstGeom>
          <a:solidFill>
            <a:schemeClr val="accent6">
              <a:alpha val="20000"/>
            </a:schemeClr>
          </a:solidFill>
          <a:ln cap="flat" cmpd="sng" w="25400">
            <a:solidFill>
              <a:schemeClr val="accent6"/>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28" name="Google Shape;228;p22"/>
          <p:cNvSpPr txBox="1"/>
          <p:nvPr/>
        </p:nvSpPr>
        <p:spPr>
          <a:xfrm>
            <a:off x="7852410" y="2852928"/>
            <a:ext cx="8915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Calibri"/>
              <a:buNone/>
            </a:pPr>
            <a:r>
              <a:rPr b="1" i="0" lang="en" sz="1000" u="none" cap="none" strike="noStrike">
                <a:solidFill>
                  <a:schemeClr val="dk1"/>
                </a:solidFill>
                <a:latin typeface="Calibri"/>
                <a:ea typeface="Calibri"/>
                <a:cs typeface="Calibri"/>
                <a:sym typeface="Calibri"/>
              </a:rPr>
              <a:t>Wide band</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3"/>
              </a:buClr>
              <a:buSzPts val="900"/>
              <a:buFont typeface="Calibri"/>
              <a:buNone/>
            </a:pPr>
            <a:r>
              <a:rPr b="0" i="0" lang="en" sz="900" u="none" cap="none" strike="noStrike">
                <a:solidFill>
                  <a:schemeClr val="accent3"/>
                </a:solidFill>
                <a:latin typeface="Calibri"/>
                <a:ea typeface="Calibri"/>
                <a:cs typeface="Calibri"/>
                <a:sym typeface="Calibri"/>
              </a:rPr>
              <a:t>20 MHz · 60 m</a:t>
            </a:r>
            <a:endParaRPr b="0" i="0" sz="1000" u="none" cap="none" strike="noStrike">
              <a:solidFill>
                <a:schemeClr val="dk1"/>
              </a:solidFill>
              <a:latin typeface="Calibri"/>
              <a:ea typeface="Calibri"/>
              <a:cs typeface="Calibri"/>
              <a:sym typeface="Calibri"/>
            </a:endParaRPr>
          </a:p>
        </p:txBody>
      </p:sp>
      <p:sp>
        <p:nvSpPr>
          <p:cNvPr id="229" name="Google Shape;229;p22"/>
          <p:cNvSpPr/>
          <p:nvPr/>
        </p:nvSpPr>
        <p:spPr>
          <a:xfrm>
            <a:off x="7523226" y="3442716"/>
            <a:ext cx="219456" cy="219456"/>
          </a:xfrm>
          <a:prstGeom prst="rect">
            <a:avLst/>
          </a:prstGeom>
          <a:solidFill>
            <a:schemeClr val="lt1">
              <a:alpha val="0"/>
            </a:schemeClr>
          </a:solidFill>
          <a:ln cap="flat" cmpd="sng" w="12700">
            <a:solidFill>
              <a:schemeClr val="accent3"/>
            </a:solidFill>
            <a:prstDash val="dash"/>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0" name="Google Shape;230;p22"/>
          <p:cNvSpPr txBox="1"/>
          <p:nvPr/>
        </p:nvSpPr>
        <p:spPr>
          <a:xfrm>
            <a:off x="7852410" y="3387852"/>
            <a:ext cx="8915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Calibri"/>
              <a:buNone/>
            </a:pPr>
            <a:r>
              <a:rPr b="1" i="0" lang="en" sz="1000" u="none" cap="none" strike="noStrike">
                <a:solidFill>
                  <a:schemeClr val="dk1"/>
                </a:solidFill>
                <a:latin typeface="Calibri"/>
                <a:ea typeface="Calibri"/>
                <a:cs typeface="Calibri"/>
                <a:sym typeface="Calibri"/>
              </a:rPr>
              <a:t>Test field</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3"/>
              </a:buClr>
              <a:buSzPts val="900"/>
              <a:buFont typeface="Calibri"/>
              <a:buNone/>
            </a:pPr>
            <a:r>
              <a:rPr b="0" i="0" lang="en" sz="900" u="none" cap="none" strike="noStrike">
                <a:solidFill>
                  <a:schemeClr val="accent3"/>
                </a:solidFill>
                <a:latin typeface="Calibri"/>
                <a:ea typeface="Calibri"/>
                <a:cs typeface="Calibri"/>
                <a:sym typeface="Calibri"/>
              </a:rPr>
              <a:t>200 × 200 m</a:t>
            </a:r>
            <a:endParaRPr b="0" i="0" sz="1000" u="none" cap="none" strike="noStrike">
              <a:solidFill>
                <a:schemeClr val="dk1"/>
              </a:solidFill>
              <a:latin typeface="Calibri"/>
              <a:ea typeface="Calibri"/>
              <a:cs typeface="Calibri"/>
              <a:sym typeface="Calibri"/>
            </a:endParaRPr>
          </a:p>
        </p:txBody>
      </p:sp>
      <p:sp>
        <p:nvSpPr>
          <p:cNvPr id="231" name="Google Shape;231;p22"/>
          <p:cNvSpPr/>
          <p:nvPr/>
        </p:nvSpPr>
        <p:spPr>
          <a:xfrm>
            <a:off x="7578090" y="4032504"/>
            <a:ext cx="109728" cy="109728"/>
          </a:xfrm>
          <a:prstGeom prst="ellipse">
            <a:avLst/>
          </a:prstGeom>
          <a:solidFill>
            <a:schemeClr val="dk1"/>
          </a:solidFill>
          <a:ln cap="flat" cmpd="sng" w="9525">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32" name="Google Shape;232;p22"/>
          <p:cNvSpPr txBox="1"/>
          <p:nvPr/>
        </p:nvSpPr>
        <p:spPr>
          <a:xfrm>
            <a:off x="7852410" y="3922776"/>
            <a:ext cx="8915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Calibri"/>
              <a:buNone/>
            </a:pPr>
            <a:r>
              <a:rPr b="1" i="0" lang="en" sz="1000" u="none" cap="none" strike="noStrike">
                <a:solidFill>
                  <a:schemeClr val="dk1"/>
                </a:solidFill>
                <a:latin typeface="Calibri"/>
                <a:ea typeface="Calibri"/>
                <a:cs typeface="Calibri"/>
                <a:sym typeface="Calibri"/>
              </a:rPr>
              <a:t>Device</a:t>
            </a:r>
            <a:endParaRPr b="0" i="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accent3"/>
              </a:buClr>
              <a:buSzPts val="900"/>
              <a:buFont typeface="Calibri"/>
              <a:buNone/>
            </a:pPr>
            <a:r>
              <a:rPr b="0" i="0" lang="en" sz="900" u="none" cap="none" strike="noStrike">
                <a:solidFill>
                  <a:schemeClr val="accent3"/>
                </a:solidFill>
                <a:latin typeface="Calibri"/>
                <a:ea typeface="Calibri"/>
                <a:cs typeface="Calibri"/>
                <a:sym typeface="Calibri"/>
              </a:rPr>
              <a:t>6 per field here</a:t>
            </a:r>
            <a:endParaRPr b="0" i="0" sz="1000" u="none" cap="none" strike="noStrike">
              <a:solidFill>
                <a:schemeClr val="dk1"/>
              </a:solidFill>
              <a:latin typeface="Calibri"/>
              <a:ea typeface="Calibri"/>
              <a:cs typeface="Calibri"/>
              <a:sym typeface="Calibri"/>
            </a:endParaRPr>
          </a:p>
        </p:txBody>
      </p:sp>
      <p:sp>
        <p:nvSpPr>
          <p:cNvPr id="233" name="Google Shape;233;p22"/>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
        <p:nvSpPr>
          <p:cNvPr id="234" name="Google Shape;234;p22"/>
          <p:cNvSpPr txBox="1"/>
          <p:nvPr/>
        </p:nvSpPr>
        <p:spPr>
          <a:xfrm>
            <a:off x="4562856" y="4507992"/>
            <a:ext cx="41605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Calibri"/>
              <a:buNone/>
            </a:pPr>
            <a:r>
              <a:rPr b="0" i="1" lang="en" sz="900" u="none" cap="none" strike="noStrike">
                <a:solidFill>
                  <a:schemeClr val="accent3"/>
                </a:solidFill>
                <a:latin typeface="Calibri"/>
                <a:ea typeface="Calibri"/>
                <a:cs typeface="Calibri"/>
                <a:sym typeface="Calibri"/>
              </a:rPr>
              <a:t>Rings: how far the drone's radio reaches on each band (a band is a slice of radio spectrum, MHz is its width). Drawn to scale.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3"/>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INTRODUCTION</a:t>
            </a:r>
            <a:endParaRPr sz="900"/>
          </a:p>
        </p:txBody>
      </p:sp>
      <p:sp>
        <p:nvSpPr>
          <p:cNvPr id="241" name="Google Shape;241;p23"/>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What the paper contributes</a:t>
            </a:r>
            <a:endParaRPr sz="2700"/>
          </a:p>
        </p:txBody>
      </p:sp>
      <p:sp>
        <p:nvSpPr>
          <p:cNvPr id="242" name="Google Shape;242;p23"/>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Four contributions, from the core idea to how I evaluated it.</a:t>
            </a:r>
            <a:endParaRPr sz="1300"/>
          </a:p>
        </p:txBody>
      </p:sp>
      <p:sp>
        <p:nvSpPr>
          <p:cNvPr id="243" name="Google Shape;243;p23"/>
          <p:cNvSpPr/>
          <p:nvPr/>
        </p:nvSpPr>
        <p:spPr>
          <a:xfrm>
            <a:off x="411480" y="1440180"/>
            <a:ext cx="4090797" cy="1444752"/>
          </a:xfrm>
          <a:prstGeom prst="roundRect">
            <a:avLst>
              <a:gd fmla="val 4103"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4" name="Google Shape;244;p23"/>
          <p:cNvSpPr/>
          <p:nvPr/>
        </p:nvSpPr>
        <p:spPr>
          <a:xfrm>
            <a:off x="617220" y="1645920"/>
            <a:ext cx="548640" cy="548640"/>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245" name="Google Shape;245;p23"/>
          <p:cNvPicPr preferRelativeResize="0"/>
          <p:nvPr/>
        </p:nvPicPr>
        <p:blipFill rotWithShape="1">
          <a:blip r:embed="rId3">
            <a:alphaModFix/>
          </a:blip>
          <a:srcRect b="0" l="0" r="0" t="0"/>
          <a:stretch/>
        </p:blipFill>
        <p:spPr>
          <a:xfrm>
            <a:off x="737921" y="1766620"/>
            <a:ext cx="307238" cy="307238"/>
          </a:xfrm>
          <a:prstGeom prst="rect">
            <a:avLst/>
          </a:prstGeom>
          <a:noFill/>
          <a:ln>
            <a:noFill/>
          </a:ln>
        </p:spPr>
      </p:pic>
      <p:sp>
        <p:nvSpPr>
          <p:cNvPr id="246" name="Google Shape;246;p23"/>
          <p:cNvSpPr txBox="1"/>
          <p:nvPr/>
        </p:nvSpPr>
        <p:spPr>
          <a:xfrm>
            <a:off x="3987927" y="1591056"/>
            <a:ext cx="3429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2100"/>
              <a:buFont typeface="Calibri"/>
              <a:buNone/>
            </a:pPr>
            <a:r>
              <a:rPr b="1" i="0" lang="en" sz="2100" u="none" cap="none" strike="noStrike">
                <a:solidFill>
                  <a:schemeClr val="accent3"/>
                </a:solidFill>
                <a:latin typeface="Calibri"/>
                <a:ea typeface="Calibri"/>
                <a:cs typeface="Calibri"/>
                <a:sym typeface="Calibri"/>
              </a:rPr>
              <a:t>1</a:t>
            </a:r>
            <a:endParaRPr b="0" i="0" sz="2100" u="none" cap="none" strike="noStrike">
              <a:solidFill>
                <a:schemeClr val="dk1"/>
              </a:solidFill>
              <a:latin typeface="Calibri"/>
              <a:ea typeface="Calibri"/>
              <a:cs typeface="Calibri"/>
              <a:sym typeface="Calibri"/>
            </a:endParaRPr>
          </a:p>
        </p:txBody>
      </p:sp>
      <p:sp>
        <p:nvSpPr>
          <p:cNvPr id="247" name="Google Shape;247;p23"/>
          <p:cNvSpPr txBox="1"/>
          <p:nvPr/>
        </p:nvSpPr>
        <p:spPr>
          <a:xfrm>
            <a:off x="1337310" y="1659636"/>
            <a:ext cx="3017520"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Reach as a mission decision</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Reach is how far the drone's radio can talk to devices. FeRRy picks the radio band, which sets reach, together with the route, within the flight-time budget.</a:t>
            </a:r>
            <a:endParaRPr b="0" i="0" sz="1400" u="none" cap="none" strike="noStrike">
              <a:solidFill>
                <a:schemeClr val="dk1"/>
              </a:solidFill>
              <a:latin typeface="Calibri"/>
              <a:ea typeface="Calibri"/>
              <a:cs typeface="Calibri"/>
              <a:sym typeface="Calibri"/>
            </a:endParaRPr>
          </a:p>
        </p:txBody>
      </p:sp>
      <p:sp>
        <p:nvSpPr>
          <p:cNvPr id="248" name="Google Shape;248;p23"/>
          <p:cNvSpPr/>
          <p:nvPr/>
        </p:nvSpPr>
        <p:spPr>
          <a:xfrm>
            <a:off x="4639437" y="1440180"/>
            <a:ext cx="4090797" cy="1444752"/>
          </a:xfrm>
          <a:prstGeom prst="roundRect">
            <a:avLst>
              <a:gd fmla="val 4103"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49" name="Google Shape;249;p23"/>
          <p:cNvSpPr/>
          <p:nvPr/>
        </p:nvSpPr>
        <p:spPr>
          <a:xfrm>
            <a:off x="4845177" y="1645920"/>
            <a:ext cx="548640" cy="54864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250" name="Google Shape;250;p23"/>
          <p:cNvPicPr preferRelativeResize="0"/>
          <p:nvPr/>
        </p:nvPicPr>
        <p:blipFill rotWithShape="1">
          <a:blip r:embed="rId4">
            <a:alphaModFix/>
          </a:blip>
          <a:srcRect b="0" l="0" r="0" t="0"/>
          <a:stretch/>
        </p:blipFill>
        <p:spPr>
          <a:xfrm>
            <a:off x="4965877" y="1766620"/>
            <a:ext cx="307238" cy="307238"/>
          </a:xfrm>
          <a:prstGeom prst="rect">
            <a:avLst/>
          </a:prstGeom>
          <a:noFill/>
          <a:ln>
            <a:noFill/>
          </a:ln>
        </p:spPr>
      </p:pic>
      <p:sp>
        <p:nvSpPr>
          <p:cNvPr id="251" name="Google Shape;251;p23"/>
          <p:cNvSpPr txBox="1"/>
          <p:nvPr/>
        </p:nvSpPr>
        <p:spPr>
          <a:xfrm>
            <a:off x="8215884" y="1591056"/>
            <a:ext cx="3429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2100"/>
              <a:buFont typeface="Calibri"/>
              <a:buNone/>
            </a:pPr>
            <a:r>
              <a:rPr b="1" i="0" lang="en" sz="2100" u="none" cap="none" strike="noStrike">
                <a:solidFill>
                  <a:schemeClr val="accent3"/>
                </a:solidFill>
                <a:latin typeface="Calibri"/>
                <a:ea typeface="Calibri"/>
                <a:cs typeface="Calibri"/>
                <a:sym typeface="Calibri"/>
              </a:rPr>
              <a:t>2</a:t>
            </a:r>
            <a:endParaRPr b="0" i="0" sz="2100" u="none" cap="none" strike="noStrike">
              <a:solidFill>
                <a:schemeClr val="dk1"/>
              </a:solidFill>
              <a:latin typeface="Calibri"/>
              <a:ea typeface="Calibri"/>
              <a:cs typeface="Calibri"/>
              <a:sym typeface="Calibri"/>
            </a:endParaRPr>
          </a:p>
        </p:txBody>
      </p:sp>
      <p:sp>
        <p:nvSpPr>
          <p:cNvPr id="252" name="Google Shape;252;p23"/>
          <p:cNvSpPr txBox="1"/>
          <p:nvPr/>
        </p:nvSpPr>
        <p:spPr>
          <a:xfrm>
            <a:off x="5565267" y="1659636"/>
            <a:ext cx="3017520"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Two clocks, bounded learning</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 clock is a moment when FeRRy decides. Plan clock: once at the dock, before takeoff. Flight clock: at every stop in the air. One feasibility test (does it fit the deadlines and budget?) checks both; learning only ranks what passes. </a:t>
            </a:r>
            <a:r>
              <a:rPr b="1" i="0" lang="en" sz="1100" u="none" cap="none" strike="noStrike">
                <a:solidFill>
                  <a:schemeClr val="accent1"/>
                </a:solidFill>
                <a:latin typeface="Calibri"/>
                <a:ea typeface="Calibri"/>
                <a:cs typeface="Calibri"/>
                <a:sym typeface="Calibri"/>
              </a:rPr>
              <a:t>See slide 10.</a:t>
            </a:r>
            <a:endParaRPr b="0" i="0" sz="1400" u="none" cap="none" strike="noStrike">
              <a:solidFill>
                <a:schemeClr val="dk1"/>
              </a:solidFill>
              <a:latin typeface="Calibri"/>
              <a:ea typeface="Calibri"/>
              <a:cs typeface="Calibri"/>
              <a:sym typeface="Calibri"/>
            </a:endParaRPr>
          </a:p>
        </p:txBody>
      </p:sp>
      <p:sp>
        <p:nvSpPr>
          <p:cNvPr id="253" name="Google Shape;253;p23"/>
          <p:cNvSpPr/>
          <p:nvPr/>
        </p:nvSpPr>
        <p:spPr>
          <a:xfrm>
            <a:off x="411480" y="3017520"/>
            <a:ext cx="4090797" cy="1444752"/>
          </a:xfrm>
          <a:prstGeom prst="roundRect">
            <a:avLst>
              <a:gd fmla="val 4103"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4" name="Google Shape;254;p23"/>
          <p:cNvSpPr/>
          <p:nvPr/>
        </p:nvSpPr>
        <p:spPr>
          <a:xfrm>
            <a:off x="617220" y="3225546"/>
            <a:ext cx="548640" cy="54864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255" name="Google Shape;255;p23"/>
          <p:cNvPicPr preferRelativeResize="0"/>
          <p:nvPr/>
        </p:nvPicPr>
        <p:blipFill rotWithShape="1">
          <a:blip r:embed="rId5">
            <a:alphaModFix/>
          </a:blip>
          <a:srcRect b="0" l="0" r="0" t="0"/>
          <a:stretch/>
        </p:blipFill>
        <p:spPr>
          <a:xfrm>
            <a:off x="737921" y="3346247"/>
            <a:ext cx="307238" cy="307238"/>
          </a:xfrm>
          <a:prstGeom prst="rect">
            <a:avLst/>
          </a:prstGeom>
          <a:noFill/>
          <a:ln>
            <a:noFill/>
          </a:ln>
        </p:spPr>
      </p:pic>
      <p:sp>
        <p:nvSpPr>
          <p:cNvPr id="256" name="Google Shape;256;p23"/>
          <p:cNvSpPr txBox="1"/>
          <p:nvPr/>
        </p:nvSpPr>
        <p:spPr>
          <a:xfrm>
            <a:off x="3987927" y="3170682"/>
            <a:ext cx="3429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2100"/>
              <a:buFont typeface="Calibri"/>
              <a:buNone/>
            </a:pPr>
            <a:r>
              <a:rPr b="1" i="0" lang="en" sz="2100" u="none" cap="none" strike="noStrike">
                <a:solidFill>
                  <a:schemeClr val="accent3"/>
                </a:solidFill>
                <a:latin typeface="Calibri"/>
                <a:ea typeface="Calibri"/>
                <a:cs typeface="Calibri"/>
                <a:sym typeface="Calibri"/>
              </a:rPr>
              <a:t>3</a:t>
            </a:r>
            <a:endParaRPr b="0" i="0" sz="2100" u="none" cap="none" strike="noStrike">
              <a:solidFill>
                <a:schemeClr val="dk1"/>
              </a:solidFill>
              <a:latin typeface="Calibri"/>
              <a:ea typeface="Calibri"/>
              <a:cs typeface="Calibri"/>
              <a:sym typeface="Calibri"/>
            </a:endParaRPr>
          </a:p>
        </p:txBody>
      </p:sp>
      <p:sp>
        <p:nvSpPr>
          <p:cNvPr id="257" name="Google Shape;257;p23"/>
          <p:cNvSpPr txBox="1"/>
          <p:nvPr/>
        </p:nvSpPr>
        <p:spPr>
          <a:xfrm>
            <a:off x="1337310" y="3239262"/>
            <a:ext cx="3017520"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Prototype and simulator</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Prototype: server, drones and devices run as separate programs over TCP (a standard network protocol) and train a real model. FerrySim is a simulator built from the same code, used to train the learned parts and test up to 96 devices.</a:t>
            </a:r>
            <a:endParaRPr b="0" i="0" sz="1400" u="none" cap="none" strike="noStrike">
              <a:solidFill>
                <a:schemeClr val="dk1"/>
              </a:solidFill>
              <a:latin typeface="Calibri"/>
              <a:ea typeface="Calibri"/>
              <a:cs typeface="Calibri"/>
              <a:sym typeface="Calibri"/>
            </a:endParaRPr>
          </a:p>
        </p:txBody>
      </p:sp>
      <p:sp>
        <p:nvSpPr>
          <p:cNvPr id="258" name="Google Shape;258;p23"/>
          <p:cNvSpPr/>
          <p:nvPr/>
        </p:nvSpPr>
        <p:spPr>
          <a:xfrm>
            <a:off x="4639437" y="3017520"/>
            <a:ext cx="4090797" cy="1444752"/>
          </a:xfrm>
          <a:prstGeom prst="roundRect">
            <a:avLst>
              <a:gd fmla="val 4103"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59" name="Google Shape;259;p23"/>
          <p:cNvSpPr/>
          <p:nvPr/>
        </p:nvSpPr>
        <p:spPr>
          <a:xfrm>
            <a:off x="4845177" y="3225546"/>
            <a:ext cx="548640" cy="54864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260" name="Google Shape;260;p23"/>
          <p:cNvPicPr preferRelativeResize="0"/>
          <p:nvPr/>
        </p:nvPicPr>
        <p:blipFill rotWithShape="1">
          <a:blip r:embed="rId6">
            <a:alphaModFix/>
          </a:blip>
          <a:srcRect b="0" l="0" r="0" t="0"/>
          <a:stretch/>
        </p:blipFill>
        <p:spPr>
          <a:xfrm>
            <a:off x="4965877" y="3346247"/>
            <a:ext cx="307238" cy="307238"/>
          </a:xfrm>
          <a:prstGeom prst="rect">
            <a:avLst/>
          </a:prstGeom>
          <a:noFill/>
          <a:ln>
            <a:noFill/>
          </a:ln>
        </p:spPr>
      </p:pic>
      <p:sp>
        <p:nvSpPr>
          <p:cNvPr id="261" name="Google Shape;261;p23"/>
          <p:cNvSpPr txBox="1"/>
          <p:nvPr/>
        </p:nvSpPr>
        <p:spPr>
          <a:xfrm>
            <a:off x="8215884" y="3170682"/>
            <a:ext cx="342900"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2100"/>
              <a:buFont typeface="Calibri"/>
              <a:buNone/>
            </a:pPr>
            <a:r>
              <a:rPr b="1" i="0" lang="en" sz="2100" u="none" cap="none" strike="noStrike">
                <a:solidFill>
                  <a:schemeClr val="accent3"/>
                </a:solidFill>
                <a:latin typeface="Calibri"/>
                <a:ea typeface="Calibri"/>
                <a:cs typeface="Calibri"/>
                <a:sym typeface="Calibri"/>
              </a:rPr>
              <a:t>4</a:t>
            </a:r>
            <a:endParaRPr b="0" i="0" sz="2100" u="none" cap="none" strike="noStrike">
              <a:solidFill>
                <a:schemeClr val="dk1"/>
              </a:solidFill>
              <a:latin typeface="Calibri"/>
              <a:ea typeface="Calibri"/>
              <a:cs typeface="Calibri"/>
              <a:sym typeface="Calibri"/>
            </a:endParaRPr>
          </a:p>
        </p:txBody>
      </p:sp>
      <p:sp>
        <p:nvSpPr>
          <p:cNvPr id="262" name="Google Shape;262;p23"/>
          <p:cNvSpPr txBox="1"/>
          <p:nvPr/>
        </p:nvSpPr>
        <p:spPr>
          <a:xfrm>
            <a:off x="5565267" y="3239262"/>
            <a:ext cx="3017520" cy="12801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A pre-registered comparison</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Pre-registered: tests and pass rules were fixed before running, so results cannot be cherry-picked. Seven whole schedulers on identical layouts (paired seeds), with a correction for making many comparisons. I report wins, null results and limits.</a:t>
            </a:r>
            <a:endParaRPr b="0" i="0" sz="1400" u="none" cap="none" strike="noStrike">
              <a:solidFill>
                <a:schemeClr val="dk1"/>
              </a:solidFill>
              <a:latin typeface="Calibri"/>
              <a:ea typeface="Calibri"/>
              <a:cs typeface="Calibri"/>
              <a:sym typeface="Calibri"/>
            </a:endParaRPr>
          </a:p>
        </p:txBody>
      </p:sp>
      <p:sp>
        <p:nvSpPr>
          <p:cNvPr id="263" name="Google Shape;263;p23"/>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RELATED WORK</a:t>
            </a:r>
            <a:endParaRPr sz="900"/>
          </a:p>
        </p:txBody>
      </p:sp>
      <p:sp>
        <p:nvSpPr>
          <p:cNvPr id="270" name="Google Shape;270;p24"/>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Prior work solves pieces of the problem</a:t>
            </a:r>
            <a:endParaRPr sz="2700"/>
          </a:p>
        </p:txBody>
      </p:sp>
      <p:sp>
        <p:nvSpPr>
          <p:cNvPr id="271" name="Google Shape;271;p24"/>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Five lines of research each cover part of the problem. Bracketed numbers [n] are listed on the last slide.</a:t>
            </a:r>
            <a:endParaRPr sz="1300"/>
          </a:p>
        </p:txBody>
      </p:sp>
      <p:graphicFrame>
        <p:nvGraphicFramePr>
          <p:cNvPr id="272" name="Google Shape;272;p24"/>
          <p:cNvGraphicFramePr/>
          <p:nvPr/>
        </p:nvGraphicFramePr>
        <p:xfrm>
          <a:off x="411480" y="1440180"/>
          <a:ext cx="3000000" cy="3000000"/>
        </p:xfrm>
        <a:graphic>
          <a:graphicData uri="http://schemas.openxmlformats.org/drawingml/2006/table">
            <a:tbl>
              <a:tblPr>
                <a:noFill/>
                <a:tableStyleId>{BE769CC3-A8CD-444A-9587-5658892A25C0}</a:tableStyleId>
              </a:tblPr>
              <a:tblGrid>
                <a:gridCol w="1920250"/>
                <a:gridCol w="3931925"/>
                <a:gridCol w="2468875"/>
              </a:tblGrid>
              <a:tr h="342900">
                <a:tc>
                  <a:txBody>
                    <a:bodyPr/>
                    <a:lstStyle/>
                    <a:p>
                      <a:pPr indent="0" lvl="0" marL="0" marR="0" rtl="0" algn="l">
                        <a:lnSpc>
                          <a:spcPct val="100000"/>
                        </a:lnSpc>
                        <a:spcBef>
                          <a:spcPts val="0"/>
                        </a:spcBef>
                        <a:spcAft>
                          <a:spcPts val="0"/>
                        </a:spcAft>
                        <a:buClr>
                          <a:schemeClr val="lt1"/>
                        </a:buClr>
                        <a:buSzPts val="1100"/>
                        <a:buFont typeface="Calibri"/>
                        <a:buNone/>
                      </a:pPr>
                      <a:r>
                        <a:rPr b="1" lang="en" sz="1100" u="none" cap="none" strike="noStrike">
                          <a:solidFill>
                            <a:schemeClr val="lt1"/>
                          </a:solidFill>
                        </a:rPr>
                        <a:t>Line of work</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100"/>
                        <a:buFont typeface="Calibri"/>
                        <a:buNone/>
                      </a:pPr>
                      <a:r>
                        <a:rPr b="1" lang="en" sz="1100" u="none" cap="none" strike="noStrike">
                          <a:solidFill>
                            <a:schemeClr val="lt1"/>
                          </a:solidFill>
                        </a:rPr>
                        <a:t>What it does</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dk2"/>
                    </a:solidFill>
                  </a:tcPr>
                </a:tc>
                <a:tc>
                  <a:txBody>
                    <a:bodyPr/>
                    <a:lstStyle/>
                    <a:p>
                      <a:pPr indent="0" lvl="0" marL="0" marR="0" rtl="0" algn="l">
                        <a:lnSpc>
                          <a:spcPct val="100000"/>
                        </a:lnSpc>
                        <a:spcBef>
                          <a:spcPts val="0"/>
                        </a:spcBef>
                        <a:spcAft>
                          <a:spcPts val="0"/>
                        </a:spcAft>
                        <a:buClr>
                          <a:schemeClr val="lt1"/>
                        </a:buClr>
                        <a:buSzPts val="1100"/>
                        <a:buFont typeface="Calibri"/>
                        <a:buNone/>
                      </a:pPr>
                      <a:r>
                        <a:rPr b="1" lang="en" sz="1100" u="none" cap="none" strike="noStrike">
                          <a:solidFill>
                            <a:schemeClr val="lt1"/>
                          </a:solidFill>
                        </a:rPr>
                        <a:t>What it leaves out</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dk2"/>
                    </a:solidFill>
                  </a:tcPr>
                </a:tc>
              </a:tr>
              <a:tr h="562350">
                <a:tc>
                  <a:txBody>
                    <a:bodyPr/>
                    <a:lstStyle/>
                    <a:p>
                      <a:pPr indent="0" lvl="0" marL="0" marR="0" rtl="0" algn="l">
                        <a:lnSpc>
                          <a:spcPct val="100000"/>
                        </a:lnSpc>
                        <a:spcBef>
                          <a:spcPts val="0"/>
                        </a:spcBef>
                        <a:spcAft>
                          <a:spcPts val="0"/>
                        </a:spcAft>
                        <a:buClr>
                          <a:schemeClr val="dk1"/>
                        </a:buClr>
                        <a:buSzPts val="1100"/>
                        <a:buFont typeface="Calibri"/>
                        <a:buNone/>
                      </a:pPr>
                      <a:r>
                        <a:rPr b="1" lang="en" sz="1100" u="none" cap="none" strike="noStrike">
                          <a:solidFill>
                            <a:schemeClr val="dk1"/>
                          </a:solidFill>
                        </a:rPr>
                        <a:t>Hierarchical and relay FL</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Averages updates at edge servers first (HFL [2], delay-aware HFL [3]) and relays them over unreliable links (collaborative relaying [4])</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accent4"/>
                        </a:buClr>
                        <a:buSzPts val="1100"/>
                        <a:buFont typeface="Calibri"/>
                        <a:buNone/>
                      </a:pPr>
                      <a:r>
                        <a:rPr b="1" lang="en" sz="1100" u="none" cap="none" strike="noStrike">
                          <a:solidFill>
                            <a:schemeClr val="accent4"/>
                          </a:solidFill>
                        </a:rPr>
                        <a:t>Assumes a network path eventually exists, so rounds cannot close without one</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r>
              <a:tr h="562350">
                <a:tc>
                  <a:txBody>
                    <a:bodyPr/>
                    <a:lstStyle/>
                    <a:p>
                      <a:pPr indent="0" lvl="0" marL="0" marR="0" rtl="0" algn="l">
                        <a:lnSpc>
                          <a:spcPct val="100000"/>
                        </a:lnSpc>
                        <a:spcBef>
                          <a:spcPts val="0"/>
                        </a:spcBef>
                        <a:spcAft>
                          <a:spcPts val="0"/>
                        </a:spcAft>
                        <a:buClr>
                          <a:schemeClr val="dk1"/>
                        </a:buClr>
                        <a:buSzPts val="1100"/>
                        <a:buFont typeface="Calibri"/>
                        <a:buNone/>
                      </a:pPr>
                      <a:r>
                        <a:rPr b="1" lang="en" sz="1100" u="none" cap="none" strike="noStrike">
                          <a:solidFill>
                            <a:schemeClr val="dk1"/>
                          </a:solidFill>
                        </a:rPr>
                        <a:t>UAV-assisted FL</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A UAV acts as a mobile server or orchestrator [5, 6]; FedEx physically carries models, the closest precedent [7]</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4"/>
                        </a:buClr>
                        <a:buSzPts val="1100"/>
                        <a:buFont typeface="Calibri"/>
                        <a:buNone/>
                      </a:pPr>
                      <a:r>
                        <a:rPr b="1" lang="en" sz="1100" u="none" cap="none" strike="noStrike">
                          <a:solidFill>
                            <a:schemeClr val="accent4"/>
                          </a:solidFill>
                        </a:rPr>
                        <a:t>Fixed tours and a fixed radio; no deadlines or in-flight changes</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1"/>
                    </a:solidFill>
                  </a:tcPr>
                </a:tc>
              </a:tr>
              <a:tr h="562350">
                <a:tc>
                  <a:txBody>
                    <a:bodyPr/>
                    <a:lstStyle/>
                    <a:p>
                      <a:pPr indent="0" lvl="0" marL="0" marR="0" rtl="0" algn="l">
                        <a:lnSpc>
                          <a:spcPct val="100000"/>
                        </a:lnSpc>
                        <a:spcBef>
                          <a:spcPts val="0"/>
                        </a:spcBef>
                        <a:spcAft>
                          <a:spcPts val="0"/>
                        </a:spcAft>
                        <a:buClr>
                          <a:schemeClr val="dk1"/>
                        </a:buClr>
                        <a:buSzPts val="1100"/>
                        <a:buFont typeface="Calibri"/>
                        <a:buNone/>
                      </a:pPr>
                      <a:r>
                        <a:rPr b="1" lang="en" sz="1100" u="none" cap="none" strike="noStrike">
                          <a:solidFill>
                            <a:schemeClr val="dk1"/>
                          </a:solidFill>
                        </a:rPr>
                        <a:t>RF-aware UAV trajectories</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Learns routes, channels and power from signal, energy and deadlines (multi-UAV deep RL [8], MAPPO [9])</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accent4"/>
                        </a:buClr>
                        <a:buSzPts val="1100"/>
                        <a:buFont typeface="Calibri"/>
                        <a:buNone/>
                      </a:pPr>
                      <a:r>
                        <a:rPr b="1" lang="en" sz="1100" u="none" cap="none" strike="noStrike">
                          <a:solidFill>
                            <a:schemeClr val="accent4"/>
                          </a:solidFill>
                        </a:rPr>
                        <a:t>Not tied to the value of FL updates (optimizes the flight, not learning)</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r>
              <a:tr h="562350">
                <a:tc>
                  <a:txBody>
                    <a:bodyPr/>
                    <a:lstStyle/>
                    <a:p>
                      <a:pPr indent="0" lvl="0" marL="0" marR="0" rtl="0" algn="l">
                        <a:lnSpc>
                          <a:spcPct val="100000"/>
                        </a:lnSpc>
                        <a:spcBef>
                          <a:spcPts val="0"/>
                        </a:spcBef>
                        <a:spcAft>
                          <a:spcPts val="0"/>
                        </a:spcAft>
                        <a:buClr>
                          <a:schemeClr val="dk1"/>
                        </a:buClr>
                        <a:buSzPts val="1100"/>
                        <a:buFont typeface="Calibri"/>
                        <a:buNone/>
                      </a:pPr>
                      <a:r>
                        <a:rPr b="1" lang="en" sz="1100" u="none" cap="none" strike="noStrike">
                          <a:solidFill>
                            <a:schemeClr val="dk1"/>
                          </a:solidFill>
                        </a:rPr>
                        <a:t>Client selection and freshness</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Chooses participants by deadline, utility or age (FedCS [10], Oort [11], age-of-information and Whittle index [12])</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accent4"/>
                        </a:buClr>
                        <a:buSzPts val="1100"/>
                        <a:buFont typeface="Calibri"/>
                        <a:buNone/>
                      </a:pPr>
                      <a:r>
                        <a:rPr b="1" lang="en" sz="1100" u="none" cap="none" strike="noStrike">
                          <a:solidFill>
                            <a:schemeClr val="accent4"/>
                          </a:solidFill>
                        </a:rPr>
                        <a:t>Ignores the flight and radio cost of reaching a device</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1"/>
                    </a:solidFill>
                  </a:tcPr>
                </a:tc>
              </a:tr>
              <a:tr h="562350">
                <a:tc>
                  <a:txBody>
                    <a:bodyPr/>
                    <a:lstStyle/>
                    <a:p>
                      <a:pPr indent="0" lvl="0" marL="0" marR="0" rtl="0" algn="l">
                        <a:lnSpc>
                          <a:spcPct val="100000"/>
                        </a:lnSpc>
                        <a:spcBef>
                          <a:spcPts val="0"/>
                        </a:spcBef>
                        <a:spcAft>
                          <a:spcPts val="0"/>
                        </a:spcAft>
                        <a:buClr>
                          <a:schemeClr val="dk1"/>
                        </a:buClr>
                        <a:buSzPts val="1100"/>
                        <a:buFont typeface="Calibri"/>
                        <a:buNone/>
                      </a:pPr>
                      <a:r>
                        <a:rPr b="1" lang="en" sz="1100" u="none" cap="none" strike="noStrike">
                          <a:solidFill>
                            <a:schemeClr val="dk1"/>
                          </a:solidFill>
                        </a:rPr>
                        <a:t>Async and hierarchical aggregation</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Merges updates as they arrive and counts late, stale ones less (FedBuff [13], Async-HFL [14])</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c>
                  <a:txBody>
                    <a:bodyPr/>
                    <a:lstStyle/>
                    <a:p>
                      <a:pPr indent="0" lvl="0" marL="0" marR="0" rtl="0" algn="l">
                        <a:lnSpc>
                          <a:spcPct val="100000"/>
                        </a:lnSpc>
                        <a:spcBef>
                          <a:spcPts val="0"/>
                        </a:spcBef>
                        <a:spcAft>
                          <a:spcPts val="0"/>
                        </a:spcAft>
                        <a:buClr>
                          <a:schemeClr val="accent4"/>
                        </a:buClr>
                        <a:buSzPts val="1100"/>
                        <a:buFont typeface="Calibri"/>
                        <a:buNone/>
                      </a:pPr>
                      <a:r>
                        <a:rPr b="1" lang="en" sz="1100" u="none" cap="none" strike="noStrike">
                          <a:solidFill>
                            <a:schemeClr val="accent4"/>
                          </a:solidFill>
                        </a:rPr>
                        <a:t>Updates arrive over the network, not by flight</a:t>
                      </a:r>
                      <a:endParaRPr sz="1100" u="none" cap="none" strike="noStrike"/>
                    </a:p>
                  </a:txBody>
                  <a:tcPr marT="41150" marB="41150" marR="82300" marL="82300" anchor="ctr">
                    <a:lnL cap="flat" cmpd="sng" w="9525">
                      <a:solidFill>
                        <a:srgbClr val="EEF2F5"/>
                      </a:solidFill>
                      <a:prstDash val="solid"/>
                      <a:round/>
                      <a:headEnd len="sm" w="sm" type="none"/>
                      <a:tailEnd len="sm" w="sm" type="none"/>
                    </a:lnL>
                    <a:lnR cap="flat" cmpd="sng" w="9525">
                      <a:solidFill>
                        <a:srgbClr val="EEF2F5"/>
                      </a:solidFill>
                      <a:prstDash val="solid"/>
                      <a:round/>
                      <a:headEnd len="sm" w="sm" type="none"/>
                      <a:tailEnd len="sm" w="sm" type="none"/>
                    </a:lnR>
                    <a:lnT cap="flat" cmpd="sng" w="9525">
                      <a:solidFill>
                        <a:srgbClr val="EEF2F5"/>
                      </a:solidFill>
                      <a:prstDash val="solid"/>
                      <a:round/>
                      <a:headEnd len="sm" w="sm" type="none"/>
                      <a:tailEnd len="sm" w="sm" type="none"/>
                    </a:lnT>
                    <a:lnB cap="flat" cmpd="sng" w="9525">
                      <a:solidFill>
                        <a:srgbClr val="EEF2F5"/>
                      </a:solidFill>
                      <a:prstDash val="solid"/>
                      <a:round/>
                      <a:headEnd len="sm" w="sm" type="none"/>
                      <a:tailEnd len="sm" w="sm" type="none"/>
                    </a:lnB>
                    <a:solidFill>
                      <a:schemeClr val="lt2"/>
                    </a:solidFill>
                  </a:tcPr>
                </a:tc>
              </a:tr>
            </a:tbl>
          </a:graphicData>
        </a:graphic>
      </p:graphicFrame>
      <p:sp>
        <p:nvSpPr>
          <p:cNvPr id="273" name="Google Shape;273;p24"/>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5"/>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RELATED WORK</a:t>
            </a:r>
            <a:endParaRPr sz="900"/>
          </a:p>
        </p:txBody>
      </p:sp>
      <p:sp>
        <p:nvSpPr>
          <p:cNvPr id="280" name="Google Shape;280;p25"/>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The gap no prior work closes</a:t>
            </a:r>
            <a:endParaRPr sz="2700"/>
          </a:p>
        </p:txBody>
      </p:sp>
      <p:sp>
        <p:nvSpPr>
          <p:cNvPr id="281" name="Google Shape;281;p25"/>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Even FedEx, the closest precedent, does not tie radio reach and deadlines to in-flight route changes.</a:t>
            </a:r>
            <a:endParaRPr sz="1300"/>
          </a:p>
        </p:txBody>
      </p:sp>
      <p:graphicFrame>
        <p:nvGraphicFramePr>
          <p:cNvPr id="282" name="Google Shape;282;p25"/>
          <p:cNvGraphicFramePr/>
          <p:nvPr/>
        </p:nvGraphicFramePr>
        <p:xfrm>
          <a:off x="411480" y="1405890"/>
          <a:ext cx="3000000" cy="3000000"/>
        </p:xfrm>
        <a:graphic>
          <a:graphicData uri="http://schemas.openxmlformats.org/drawingml/2006/table">
            <a:tbl>
              <a:tblPr>
                <a:noFill/>
                <a:tableStyleId>{BE769CC3-A8CD-444A-9587-5658892A25C0}</a:tableStyleId>
              </a:tblPr>
              <a:tblGrid>
                <a:gridCol w="2352300"/>
                <a:gridCol w="994400"/>
                <a:gridCol w="994400"/>
                <a:gridCol w="994400"/>
                <a:gridCol w="994400"/>
                <a:gridCol w="994400"/>
                <a:gridCol w="994400"/>
              </a:tblGrid>
              <a:tr h="292600">
                <a:tc>
                  <a:txBody>
                    <a:bodyPr/>
                    <a:lstStyle/>
                    <a:p>
                      <a:pPr indent="0" lvl="0" marL="0" marR="0" rtl="0" algn="l">
                        <a:lnSpc>
                          <a:spcPct val="100000"/>
                        </a:lnSpc>
                        <a:spcBef>
                          <a:spcPts val="0"/>
                        </a:spcBef>
                        <a:spcAft>
                          <a:spcPts val="0"/>
                        </a:spcAft>
                        <a:buClr>
                          <a:schemeClr val="lt1"/>
                        </a:buClr>
                        <a:buSzPts val="1100"/>
                        <a:buFont typeface="Calibri"/>
                        <a:buNone/>
                      </a:pPr>
                      <a:r>
                        <a:rPr b="1" lang="en" sz="1100" u="none" cap="none" strike="noStrike">
                          <a:solidFill>
                            <a:schemeClr val="lt1"/>
                          </a:solidFill>
                        </a:rPr>
                        <a:t>Approach</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000"/>
                        <a:buFont typeface="Calibri"/>
                        <a:buNone/>
                      </a:pPr>
                      <a:r>
                        <a:rPr b="1" lang="en" sz="1000" u="none" cap="none" strike="noStrike">
                          <a:solidFill>
                            <a:schemeClr val="lt1"/>
                          </a:solidFill>
                        </a:rPr>
                        <a:t>Physical model transport</a:t>
                      </a:r>
                      <a:endParaRPr sz="10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000"/>
                        <a:buFont typeface="Calibri"/>
                        <a:buNone/>
                      </a:pPr>
                      <a:r>
                        <a:rPr b="1" lang="en" sz="1000" u="none" cap="none" strike="noStrike">
                          <a:solidFill>
                            <a:schemeClr val="lt1"/>
                          </a:solidFill>
                        </a:rPr>
                        <a:t>Explicit RF decision</a:t>
                      </a:r>
                      <a:endParaRPr sz="10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000"/>
                        <a:buFont typeface="Calibri"/>
                        <a:buNone/>
                      </a:pPr>
                      <a:r>
                        <a:rPr b="1" lang="en" sz="1000" u="none" cap="none" strike="noStrike">
                          <a:solidFill>
                            <a:schemeClr val="lt1"/>
                          </a:solidFill>
                        </a:rPr>
                        <a:t>Route decision</a:t>
                      </a:r>
                      <a:endParaRPr sz="10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000"/>
                        <a:buFont typeface="Calibri"/>
                        <a:buNone/>
                      </a:pPr>
                      <a:r>
                        <a:rPr b="1" lang="en" sz="1000" u="none" cap="none" strike="noStrike">
                          <a:solidFill>
                            <a:schemeClr val="lt1"/>
                          </a:solidFill>
                        </a:rPr>
                        <a:t>Deadline / freshness aware</a:t>
                      </a:r>
                      <a:endParaRPr sz="10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000"/>
                        <a:buFont typeface="Calibri"/>
                        <a:buNone/>
                      </a:pPr>
                      <a:r>
                        <a:rPr b="1" lang="en" sz="1000" u="none" cap="none" strike="noStrike">
                          <a:solidFill>
                            <a:schemeClr val="lt1"/>
                          </a:solidFill>
                        </a:rPr>
                        <a:t>In-mission replanning</a:t>
                      </a:r>
                      <a:endParaRPr sz="10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c>
                  <a:txBody>
                    <a:bodyPr/>
                    <a:lstStyle/>
                    <a:p>
                      <a:pPr indent="0" lvl="0" marL="0" marR="0" rtl="0" algn="ctr">
                        <a:lnSpc>
                          <a:spcPct val="100000"/>
                        </a:lnSpc>
                        <a:spcBef>
                          <a:spcPts val="0"/>
                        </a:spcBef>
                        <a:spcAft>
                          <a:spcPts val="0"/>
                        </a:spcAft>
                        <a:buClr>
                          <a:schemeClr val="lt1"/>
                        </a:buClr>
                        <a:buSzPts val="1000"/>
                        <a:buFont typeface="Calibri"/>
                        <a:buNone/>
                      </a:pPr>
                      <a:r>
                        <a:rPr b="1" lang="en" sz="1000" u="none" cap="none" strike="noStrike">
                          <a:solidFill>
                            <a:schemeClr val="lt1"/>
                          </a:solidFill>
                        </a:rPr>
                        <a:t>Joint FL + mobility / RF</a:t>
                      </a:r>
                      <a:endParaRPr sz="10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dk2"/>
                    </a:solidFill>
                  </a:tcPr>
                </a:tc>
              </a:tr>
              <a:tr h="292600">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Hierarchical FL [2, 3]</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92600">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FedCS / Oort [10, 11]</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92600">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UAV multi-community FL [5]</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i="1" lang="en" sz="900" u="none" cap="none" strike="noStrike">
                          <a:solidFill>
                            <a:schemeClr val="dk1"/>
                          </a:solidFill>
                        </a:rPr>
                        <a:t>partial</a:t>
                      </a:r>
                      <a:endParaRPr sz="9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5">
                        <a:alpha val="30196"/>
                      </a:schemeClr>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r>
              <a:tr h="292600">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FedEx (transporters) [7]</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i="1" lang="en" sz="900" u="none" cap="none" strike="noStrike">
                          <a:solidFill>
                            <a:schemeClr val="dk1"/>
                          </a:solidFill>
                        </a:rPr>
                        <a:t>partial</a:t>
                      </a:r>
                      <a:endParaRPr sz="9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5">
                        <a:alpha val="30196"/>
                      </a:schemeClr>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r>
              <a:tr h="292600">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Model-aided multi-UAV RL [8]</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i="1" lang="en" sz="900" u="none" cap="none" strike="noStrike">
                          <a:solidFill>
                            <a:schemeClr val="dk1"/>
                          </a:solidFill>
                        </a:rPr>
                        <a:t>partial</a:t>
                      </a:r>
                      <a:endParaRPr sz="9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5">
                        <a:alpha val="30196"/>
                      </a:schemeClr>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92600">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Deadline-aware multi-UAV</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i="1" lang="en" sz="900" u="none" cap="none" strike="noStrike">
                          <a:solidFill>
                            <a:schemeClr val="dk1"/>
                          </a:solidFill>
                        </a:rPr>
                        <a:t>partial</a:t>
                      </a:r>
                      <a:endParaRPr sz="9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5">
                        <a:alpha val="30196"/>
                      </a:schemeClr>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r>
              <a:tr h="292600">
                <a:tc>
                  <a:txBody>
                    <a:bodyPr/>
                    <a:lstStyle/>
                    <a:p>
                      <a:pPr indent="0" lvl="0" marL="0" marR="0" rtl="0" algn="l">
                        <a:lnSpc>
                          <a:spcPct val="100000"/>
                        </a:lnSpc>
                        <a:spcBef>
                          <a:spcPts val="0"/>
                        </a:spcBef>
                        <a:spcAft>
                          <a:spcPts val="0"/>
                        </a:spcAft>
                        <a:buClr>
                          <a:schemeClr val="dk1"/>
                        </a:buClr>
                        <a:buSzPts val="1100"/>
                        <a:buFont typeface="Calibri"/>
                        <a:buNone/>
                      </a:pPr>
                      <a:r>
                        <a:rPr lang="en" sz="1100" u="none" cap="none" strike="noStrike">
                          <a:solidFill>
                            <a:schemeClr val="dk1"/>
                          </a:solidFill>
                        </a:rPr>
                        <a:t>UAV asynchronous FL [6]</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dk1"/>
                        </a:buClr>
                        <a:buSzPts val="900"/>
                        <a:buFont typeface="Calibri"/>
                        <a:buNone/>
                      </a:pPr>
                      <a:r>
                        <a:rPr i="1" lang="en" sz="900" u="none" cap="none" strike="noStrike">
                          <a:solidFill>
                            <a:schemeClr val="dk1"/>
                          </a:solidFill>
                        </a:rPr>
                        <a:t>partial</a:t>
                      </a:r>
                      <a:endParaRPr sz="9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5">
                        <a:alpha val="30196"/>
                      </a:schemeClr>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c>
                  <a:txBody>
                    <a:bodyPr/>
                    <a:lstStyle/>
                    <a:p>
                      <a:pPr indent="0" lvl="0" marL="0" marR="0" rtl="0" algn="ctr">
                        <a:lnSpc>
                          <a:spcPct val="100000"/>
                        </a:lnSpc>
                        <a:spcBef>
                          <a:spcPts val="0"/>
                        </a:spcBef>
                        <a:spcAft>
                          <a:spcPts val="0"/>
                        </a:spcAft>
                        <a:buClr>
                          <a:schemeClr val="accent3"/>
                        </a:buClr>
                        <a:buSzPts val="1100"/>
                        <a:buFont typeface="Calibri"/>
                        <a:buNone/>
                      </a:pPr>
                      <a:r>
                        <a:rPr lang="en" sz="1100" u="none" cap="none" strike="noStrike">
                          <a:solidFill>
                            <a:schemeClr val="accent3"/>
                          </a:solidFill>
                        </a:rPr>
                        <a:t>—</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2"/>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2"/>
                    </a:solidFill>
                  </a:tcPr>
                </a:tc>
              </a:tr>
              <a:tr h="292600">
                <a:tc>
                  <a:txBody>
                    <a:bodyPr/>
                    <a:lstStyle/>
                    <a:p>
                      <a:pPr indent="0" lvl="0" marL="0" marR="0" rtl="0" algn="l">
                        <a:lnSpc>
                          <a:spcPct val="100000"/>
                        </a:lnSpc>
                        <a:spcBef>
                          <a:spcPts val="0"/>
                        </a:spcBef>
                        <a:spcAft>
                          <a:spcPts val="0"/>
                        </a:spcAft>
                        <a:buClr>
                          <a:schemeClr val="accent1"/>
                        </a:buClr>
                        <a:buSzPts val="1100"/>
                        <a:buFont typeface="Calibri"/>
                        <a:buNone/>
                      </a:pPr>
                      <a:r>
                        <a:rPr b="1" lang="en" sz="1100" u="none" cap="none" strike="noStrike">
                          <a:solidFill>
                            <a:schemeClr val="accent1"/>
                          </a:solidFill>
                        </a:rPr>
                        <a:t>FeRRy (this work)</a:t>
                      </a:r>
                      <a:endParaRPr sz="1100" u="none" cap="none" strike="noStrike"/>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chemeClr val="lt1"/>
                        </a:buClr>
                        <a:buSzPts val="1200"/>
                        <a:buFont typeface="Quattrocento Sans"/>
                        <a:buNone/>
                      </a:pPr>
                      <a:r>
                        <a:rPr b="1" lang="en" sz="1200" u="none" cap="none" strike="noStrike">
                          <a:solidFill>
                            <a:schemeClr val="lt1"/>
                          </a:solidFill>
                          <a:latin typeface="Quattrocento Sans"/>
                          <a:ea typeface="Quattrocento Sans"/>
                          <a:cs typeface="Quattrocento Sans"/>
                          <a:sym typeface="Quattrocento Sans"/>
                        </a:rPr>
                        <a:t>✓</a:t>
                      </a:r>
                      <a:endParaRPr sz="1200" u="none" cap="none" strike="noStrike">
                        <a:latin typeface="Quattrocento Sans"/>
                        <a:ea typeface="Quattrocento Sans"/>
                        <a:cs typeface="Quattrocento Sans"/>
                        <a:sym typeface="Quattrocento Sans"/>
                      </a:endParaRPr>
                    </a:p>
                  </a:txBody>
                  <a:tcPr marT="27425" marB="27425" marR="68600" marL="68600" anchor="ctr">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solidFill>
                      <a:schemeClr val="accent1"/>
                    </a:solidFill>
                  </a:tcPr>
                </a:tc>
              </a:tr>
            </a:tbl>
          </a:graphicData>
        </a:graphic>
      </p:graphicFrame>
      <p:sp>
        <p:nvSpPr>
          <p:cNvPr id="283" name="Google Shape;283;p25"/>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
        <p:nvSpPr>
          <p:cNvPr id="284" name="Google Shape;284;p25"/>
          <p:cNvSpPr txBox="1"/>
          <p:nvPr/>
        </p:nvSpPr>
        <p:spPr>
          <a:xfrm>
            <a:off x="411480" y="4279392"/>
            <a:ext cx="83210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300"/>
              <a:buFont typeface="Arial"/>
              <a:buNone/>
            </a:pPr>
            <a:r>
              <a:rPr b="1" i="0" lang="en" sz="900" u="none" cap="none" strike="noStrike">
                <a:solidFill>
                  <a:schemeClr val="dk1"/>
                </a:solidFill>
                <a:latin typeface="Calibri"/>
                <a:ea typeface="Calibri"/>
                <a:cs typeface="Calibri"/>
                <a:sym typeface="Calibri"/>
              </a:rPr>
              <a:t>How to read it:</a:t>
            </a:r>
            <a:r>
              <a:rPr b="0" i="0" lang="en" sz="900" u="none" cap="none" strike="noStrike">
                <a:solidFill>
                  <a:schemeClr val="dk1"/>
                </a:solidFill>
                <a:latin typeface="Calibri"/>
                <a:ea typeface="Calibri"/>
                <a:cs typeface="Calibri"/>
                <a:sym typeface="Calibri"/>
              </a:rPr>
              <a:t> ✓ = supported, partial = in part, dash = not supported. </a:t>
            </a:r>
            <a:r>
              <a:rPr b="1" i="0" lang="en" sz="900" u="none" cap="none" strike="noStrike">
                <a:solidFill>
                  <a:schemeClr val="dk1"/>
                </a:solidFill>
                <a:latin typeface="Calibri"/>
                <a:ea typeface="Calibri"/>
                <a:cs typeface="Calibri"/>
                <a:sym typeface="Calibri"/>
              </a:rPr>
              <a:t>Physical model transport:</a:t>
            </a:r>
            <a:r>
              <a:rPr b="0" i="0" lang="en" sz="900" u="none" cap="none" strike="noStrike">
                <a:solidFill>
                  <a:schemeClr val="dk1"/>
                </a:solidFill>
                <a:latin typeface="Calibri"/>
                <a:ea typeface="Calibri"/>
                <a:cs typeface="Calibri"/>
                <a:sym typeface="Calibri"/>
              </a:rPr>
              <a:t> a vehicle carries the model. </a:t>
            </a:r>
            <a:r>
              <a:rPr b="1" i="0" lang="en" sz="900" u="none" cap="none" strike="noStrike">
                <a:solidFill>
                  <a:schemeClr val="dk1"/>
                </a:solidFill>
                <a:latin typeface="Calibri"/>
                <a:ea typeface="Calibri"/>
                <a:cs typeface="Calibri"/>
                <a:sym typeface="Calibri"/>
              </a:rPr>
              <a:t>Explicit RF decision:</a:t>
            </a:r>
            <a:r>
              <a:rPr b="0" i="0" lang="en" sz="900" u="none" cap="none" strike="noStrike">
                <a:solidFill>
                  <a:schemeClr val="dk1"/>
                </a:solidFill>
                <a:latin typeface="Calibri"/>
                <a:ea typeface="Calibri"/>
                <a:cs typeface="Calibri"/>
                <a:sym typeface="Calibri"/>
              </a:rPr>
              <a:t> the radio setting is chosen, not fixed. </a:t>
            </a:r>
            <a:r>
              <a:rPr b="1" i="0" lang="en" sz="900" u="none" cap="none" strike="noStrike">
                <a:solidFill>
                  <a:schemeClr val="dk1"/>
                </a:solidFill>
                <a:latin typeface="Calibri"/>
                <a:ea typeface="Calibri"/>
                <a:cs typeface="Calibri"/>
                <a:sym typeface="Calibri"/>
              </a:rPr>
              <a:t>In-mission replanning:</a:t>
            </a:r>
            <a:r>
              <a:rPr b="0" i="0" lang="en" sz="900" u="none" cap="none" strike="noStrike">
                <a:solidFill>
                  <a:schemeClr val="dk1"/>
                </a:solidFill>
                <a:latin typeface="Calibri"/>
                <a:ea typeface="Calibri"/>
                <a:cs typeface="Calibri"/>
                <a:sym typeface="Calibri"/>
              </a:rPr>
              <a:t> the route can change in flight. </a:t>
            </a:r>
            <a:r>
              <a:rPr b="1" i="0" lang="en" sz="900" u="none" cap="none" strike="noStrike">
                <a:solidFill>
                  <a:schemeClr val="dk1"/>
                </a:solidFill>
                <a:latin typeface="Calibri"/>
                <a:ea typeface="Calibri"/>
                <a:cs typeface="Calibri"/>
                <a:sym typeface="Calibri"/>
              </a:rPr>
              <a:t>Joint FL + mobility / RF:</a:t>
            </a:r>
            <a:r>
              <a:rPr b="0" i="0" lang="en" sz="900" u="none" cap="none" strike="noStrike">
                <a:solidFill>
                  <a:schemeClr val="dk1"/>
                </a:solidFill>
                <a:latin typeface="Calibri"/>
                <a:ea typeface="Calibri"/>
                <a:cs typeface="Calibri"/>
                <a:sym typeface="Calibri"/>
              </a:rPr>
              <a:t> learning, movement and radio are decided together.</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6"/>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METHODS</a:t>
            </a:r>
            <a:endParaRPr sz="900"/>
          </a:p>
        </p:txBody>
      </p:sp>
      <p:sp>
        <p:nvSpPr>
          <p:cNvPr id="291" name="Google Shape;291;p26"/>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How a FeRRy mission works</a:t>
            </a:r>
            <a:endParaRPr sz="2700"/>
          </a:p>
        </p:txBody>
      </p:sp>
      <p:sp>
        <p:nvSpPr>
          <p:cNvPr id="292" name="Google Shape;292;p26"/>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One edge server, one or more drones, and fixed field devices that train on their own data between visits.</a:t>
            </a:r>
            <a:endParaRPr sz="1300"/>
          </a:p>
        </p:txBody>
      </p:sp>
      <p:sp>
        <p:nvSpPr>
          <p:cNvPr id="293" name="Google Shape;293;p26"/>
          <p:cNvSpPr/>
          <p:nvPr/>
        </p:nvSpPr>
        <p:spPr>
          <a:xfrm>
            <a:off x="411480"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4" name="Google Shape;294;p26"/>
          <p:cNvSpPr/>
          <p:nvPr/>
        </p:nvSpPr>
        <p:spPr>
          <a:xfrm>
            <a:off x="562356" y="1577340"/>
            <a:ext cx="425196" cy="425196"/>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295" name="Google Shape;295;p26"/>
          <p:cNvPicPr preferRelativeResize="0"/>
          <p:nvPr/>
        </p:nvPicPr>
        <p:blipFill rotWithShape="1">
          <a:blip r:embed="rId3">
            <a:alphaModFix/>
          </a:blip>
          <a:srcRect b="0" l="0" r="0" t="0"/>
          <a:stretch/>
        </p:blipFill>
        <p:spPr>
          <a:xfrm>
            <a:off x="655899" y="1670883"/>
            <a:ext cx="238110" cy="238110"/>
          </a:xfrm>
          <a:prstGeom prst="rect">
            <a:avLst/>
          </a:prstGeom>
          <a:noFill/>
          <a:ln>
            <a:noFill/>
          </a:ln>
        </p:spPr>
      </p:pic>
      <p:sp>
        <p:nvSpPr>
          <p:cNvPr id="296" name="Google Shape;296;p26"/>
          <p:cNvSpPr txBox="1"/>
          <p:nvPr/>
        </p:nvSpPr>
        <p:spPr>
          <a:xfrm>
            <a:off x="1495044"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1</a:t>
            </a:r>
            <a:endParaRPr b="0" i="0" sz="1700" u="none" cap="none" strike="noStrike">
              <a:solidFill>
                <a:schemeClr val="dk1"/>
              </a:solidFill>
              <a:latin typeface="Calibri"/>
              <a:ea typeface="Calibri"/>
              <a:cs typeface="Calibri"/>
              <a:sym typeface="Calibri"/>
            </a:endParaRPr>
          </a:p>
        </p:txBody>
      </p:sp>
      <p:sp>
        <p:nvSpPr>
          <p:cNvPr id="297" name="Google Shape;297;p26"/>
          <p:cNvSpPr txBox="1"/>
          <p:nvPr/>
        </p:nvSpPr>
        <p:spPr>
          <a:xfrm>
            <a:off x="562356"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Plan</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At the dock (the drone's base): choose the radio band and the route.</a:t>
            </a:r>
            <a:endParaRPr b="0" i="0" sz="1300" u="none" cap="none" strike="noStrike">
              <a:solidFill>
                <a:schemeClr val="dk1"/>
              </a:solidFill>
              <a:latin typeface="Calibri"/>
              <a:ea typeface="Calibri"/>
              <a:cs typeface="Calibri"/>
              <a:sym typeface="Calibri"/>
            </a:endParaRPr>
          </a:p>
        </p:txBody>
      </p:sp>
      <p:sp>
        <p:nvSpPr>
          <p:cNvPr id="298" name="Google Shape;298;p26"/>
          <p:cNvSpPr/>
          <p:nvPr/>
        </p:nvSpPr>
        <p:spPr>
          <a:xfrm rot="5400000">
            <a:off x="1962503"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299" name="Google Shape;299;p26"/>
          <p:cNvSpPr/>
          <p:nvPr/>
        </p:nvSpPr>
        <p:spPr>
          <a:xfrm>
            <a:off x="2114493"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0" name="Google Shape;300;p26"/>
          <p:cNvSpPr/>
          <p:nvPr/>
        </p:nvSpPr>
        <p:spPr>
          <a:xfrm>
            <a:off x="2265369"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301" name="Google Shape;301;p26"/>
          <p:cNvPicPr preferRelativeResize="0"/>
          <p:nvPr/>
        </p:nvPicPr>
        <p:blipFill rotWithShape="1">
          <a:blip r:embed="rId4">
            <a:alphaModFix/>
          </a:blip>
          <a:srcRect b="0" l="0" r="0" t="0"/>
          <a:stretch/>
        </p:blipFill>
        <p:spPr>
          <a:xfrm>
            <a:off x="2358912" y="1670883"/>
            <a:ext cx="238110" cy="238110"/>
          </a:xfrm>
          <a:prstGeom prst="rect">
            <a:avLst/>
          </a:prstGeom>
          <a:noFill/>
          <a:ln>
            <a:noFill/>
          </a:ln>
        </p:spPr>
      </p:pic>
      <p:sp>
        <p:nvSpPr>
          <p:cNvPr id="302" name="Google Shape;302;p26"/>
          <p:cNvSpPr txBox="1"/>
          <p:nvPr/>
        </p:nvSpPr>
        <p:spPr>
          <a:xfrm>
            <a:off x="3198057"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2</a:t>
            </a:r>
            <a:endParaRPr b="0" i="0" sz="1700" u="none" cap="none" strike="noStrike">
              <a:solidFill>
                <a:schemeClr val="dk1"/>
              </a:solidFill>
              <a:latin typeface="Calibri"/>
              <a:ea typeface="Calibri"/>
              <a:cs typeface="Calibri"/>
              <a:sym typeface="Calibri"/>
            </a:endParaRPr>
          </a:p>
        </p:txBody>
      </p:sp>
      <p:sp>
        <p:nvSpPr>
          <p:cNvPr id="303" name="Google Shape;303;p26"/>
          <p:cNvSpPr txBox="1"/>
          <p:nvPr/>
        </p:nvSpPr>
        <p:spPr>
          <a:xfrm>
            <a:off x="2265369"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Collect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Pass 1: fly the route, hand over the model, pick up each device's update.</a:t>
            </a:r>
            <a:endParaRPr b="0" i="0" sz="1300" u="none" cap="none" strike="noStrike">
              <a:solidFill>
                <a:schemeClr val="dk1"/>
              </a:solidFill>
              <a:latin typeface="Calibri"/>
              <a:ea typeface="Calibri"/>
              <a:cs typeface="Calibri"/>
              <a:sym typeface="Calibri"/>
            </a:endParaRPr>
          </a:p>
        </p:txBody>
      </p:sp>
      <p:sp>
        <p:nvSpPr>
          <p:cNvPr id="304" name="Google Shape;304;p26"/>
          <p:cNvSpPr/>
          <p:nvPr/>
        </p:nvSpPr>
        <p:spPr>
          <a:xfrm rot="5400000">
            <a:off x="3665516"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5" name="Google Shape;305;p26"/>
          <p:cNvSpPr/>
          <p:nvPr/>
        </p:nvSpPr>
        <p:spPr>
          <a:xfrm>
            <a:off x="3817506"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06" name="Google Shape;306;p26"/>
          <p:cNvSpPr/>
          <p:nvPr/>
        </p:nvSpPr>
        <p:spPr>
          <a:xfrm>
            <a:off x="3968382"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307" name="Google Shape;307;p26"/>
          <p:cNvPicPr preferRelativeResize="0"/>
          <p:nvPr/>
        </p:nvPicPr>
        <p:blipFill rotWithShape="1">
          <a:blip r:embed="rId5">
            <a:alphaModFix/>
          </a:blip>
          <a:srcRect b="0" l="0" r="0" t="0"/>
          <a:stretch/>
        </p:blipFill>
        <p:spPr>
          <a:xfrm>
            <a:off x="4061925" y="1670883"/>
            <a:ext cx="238110" cy="238110"/>
          </a:xfrm>
          <a:prstGeom prst="rect">
            <a:avLst/>
          </a:prstGeom>
          <a:noFill/>
          <a:ln>
            <a:noFill/>
          </a:ln>
        </p:spPr>
      </p:pic>
      <p:sp>
        <p:nvSpPr>
          <p:cNvPr id="308" name="Google Shape;308;p26"/>
          <p:cNvSpPr txBox="1"/>
          <p:nvPr/>
        </p:nvSpPr>
        <p:spPr>
          <a:xfrm>
            <a:off x="4901070"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3</a:t>
            </a:r>
            <a:endParaRPr b="0" i="0" sz="1700" u="none" cap="none" strike="noStrike">
              <a:solidFill>
                <a:schemeClr val="dk1"/>
              </a:solidFill>
              <a:latin typeface="Calibri"/>
              <a:ea typeface="Calibri"/>
              <a:cs typeface="Calibri"/>
              <a:sym typeface="Calibri"/>
            </a:endParaRPr>
          </a:p>
        </p:txBody>
      </p:sp>
      <p:sp>
        <p:nvSpPr>
          <p:cNvPr id="309" name="Google Shape;309;p26"/>
          <p:cNvSpPr txBox="1"/>
          <p:nvPr/>
        </p:nvSpPr>
        <p:spPr>
          <a:xfrm>
            <a:off x="3968382"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Merge on board</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Average the updates; stale ones (from an older model) count less.</a:t>
            </a:r>
            <a:endParaRPr b="0" i="0" sz="1300" u="none" cap="none" strike="noStrike">
              <a:solidFill>
                <a:schemeClr val="dk1"/>
              </a:solidFill>
              <a:latin typeface="Calibri"/>
              <a:ea typeface="Calibri"/>
              <a:cs typeface="Calibri"/>
              <a:sym typeface="Calibri"/>
            </a:endParaRPr>
          </a:p>
        </p:txBody>
      </p:sp>
      <p:sp>
        <p:nvSpPr>
          <p:cNvPr id="310" name="Google Shape;310;p26"/>
          <p:cNvSpPr/>
          <p:nvPr/>
        </p:nvSpPr>
        <p:spPr>
          <a:xfrm rot="5400000">
            <a:off x="5368529"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1" name="Google Shape;311;p26"/>
          <p:cNvSpPr/>
          <p:nvPr/>
        </p:nvSpPr>
        <p:spPr>
          <a:xfrm>
            <a:off x="5520518"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2" name="Google Shape;312;p26"/>
          <p:cNvSpPr/>
          <p:nvPr/>
        </p:nvSpPr>
        <p:spPr>
          <a:xfrm>
            <a:off x="5671394"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313" name="Google Shape;313;p26"/>
          <p:cNvPicPr preferRelativeResize="0"/>
          <p:nvPr/>
        </p:nvPicPr>
        <p:blipFill rotWithShape="1">
          <a:blip r:embed="rId6">
            <a:alphaModFix/>
          </a:blip>
          <a:srcRect b="0" l="0" r="0" t="0"/>
          <a:stretch/>
        </p:blipFill>
        <p:spPr>
          <a:xfrm>
            <a:off x="5764938" y="1670883"/>
            <a:ext cx="238110" cy="238110"/>
          </a:xfrm>
          <a:prstGeom prst="rect">
            <a:avLst/>
          </a:prstGeom>
          <a:noFill/>
          <a:ln>
            <a:noFill/>
          </a:ln>
        </p:spPr>
      </p:pic>
      <p:sp>
        <p:nvSpPr>
          <p:cNvPr id="314" name="Google Shape;314;p26"/>
          <p:cNvSpPr txBox="1"/>
          <p:nvPr/>
        </p:nvSpPr>
        <p:spPr>
          <a:xfrm>
            <a:off x="6604082"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4</a:t>
            </a:r>
            <a:endParaRPr b="0" i="0" sz="1700" u="none" cap="none" strike="noStrike">
              <a:solidFill>
                <a:schemeClr val="dk1"/>
              </a:solidFill>
              <a:latin typeface="Calibri"/>
              <a:ea typeface="Calibri"/>
              <a:cs typeface="Calibri"/>
              <a:sym typeface="Calibri"/>
            </a:endParaRPr>
          </a:p>
        </p:txBody>
      </p:sp>
      <p:sp>
        <p:nvSpPr>
          <p:cNvPr id="315" name="Google Shape;315;p26"/>
          <p:cNvSpPr txBox="1"/>
          <p:nvPr/>
        </p:nvSpPr>
        <p:spPr>
          <a:xfrm>
            <a:off x="5671394"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Upload</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Back at the dock, the server merges across drones into the next global model.</a:t>
            </a:r>
            <a:endParaRPr b="0" i="0" sz="1300" u="none" cap="none" strike="noStrike">
              <a:solidFill>
                <a:schemeClr val="dk1"/>
              </a:solidFill>
              <a:latin typeface="Calibri"/>
              <a:ea typeface="Calibri"/>
              <a:cs typeface="Calibri"/>
              <a:sym typeface="Calibri"/>
            </a:endParaRPr>
          </a:p>
        </p:txBody>
      </p:sp>
      <p:sp>
        <p:nvSpPr>
          <p:cNvPr id="316" name="Google Shape;316;p26"/>
          <p:cNvSpPr/>
          <p:nvPr/>
        </p:nvSpPr>
        <p:spPr>
          <a:xfrm rot="5400000">
            <a:off x="7071541" y="2228850"/>
            <a:ext cx="123444" cy="109728"/>
          </a:xfrm>
          <a:prstGeom prst="triangle">
            <a:avLst>
              <a:gd fmla="val 50000" name="adj"/>
            </a:avLst>
          </a:prstGeom>
          <a:solidFill>
            <a:schemeClr val="accent3"/>
          </a:solidFill>
          <a:ln cap="flat" cmpd="sng" w="12700">
            <a:solidFill>
              <a:schemeClr val="accent3">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7" name="Google Shape;317;p26"/>
          <p:cNvSpPr/>
          <p:nvPr/>
        </p:nvSpPr>
        <p:spPr>
          <a:xfrm>
            <a:off x="7223531" y="1440180"/>
            <a:ext cx="1508760" cy="168021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18" name="Google Shape;318;p26"/>
          <p:cNvSpPr/>
          <p:nvPr/>
        </p:nvSpPr>
        <p:spPr>
          <a:xfrm>
            <a:off x="7374407" y="157734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319" name="Google Shape;319;p26"/>
          <p:cNvPicPr preferRelativeResize="0"/>
          <p:nvPr/>
        </p:nvPicPr>
        <p:blipFill rotWithShape="1">
          <a:blip r:embed="rId7">
            <a:alphaModFix/>
          </a:blip>
          <a:srcRect b="0" l="0" r="0" t="0"/>
          <a:stretch/>
        </p:blipFill>
        <p:spPr>
          <a:xfrm>
            <a:off x="7467950" y="1670883"/>
            <a:ext cx="238110" cy="238110"/>
          </a:xfrm>
          <a:prstGeom prst="rect">
            <a:avLst/>
          </a:prstGeom>
          <a:noFill/>
          <a:ln>
            <a:noFill/>
          </a:ln>
        </p:spPr>
      </p:pic>
      <p:sp>
        <p:nvSpPr>
          <p:cNvPr id="320" name="Google Shape;320;p26"/>
          <p:cNvSpPr txBox="1"/>
          <p:nvPr/>
        </p:nvSpPr>
        <p:spPr>
          <a:xfrm>
            <a:off x="8307095" y="1563624"/>
            <a:ext cx="27432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3"/>
              </a:buClr>
              <a:buSzPts val="1700"/>
              <a:buFont typeface="Calibri"/>
              <a:buNone/>
            </a:pPr>
            <a:r>
              <a:rPr b="1" i="0" lang="en" sz="1700" u="none" cap="none" strike="noStrike">
                <a:solidFill>
                  <a:schemeClr val="accent3"/>
                </a:solidFill>
                <a:latin typeface="Calibri"/>
                <a:ea typeface="Calibri"/>
                <a:cs typeface="Calibri"/>
                <a:sym typeface="Calibri"/>
              </a:rPr>
              <a:t>5</a:t>
            </a:r>
            <a:endParaRPr b="0" i="0" sz="1700" u="none" cap="none" strike="noStrike">
              <a:solidFill>
                <a:schemeClr val="dk1"/>
              </a:solidFill>
              <a:latin typeface="Calibri"/>
              <a:ea typeface="Calibri"/>
              <a:cs typeface="Calibri"/>
              <a:sym typeface="Calibri"/>
            </a:endParaRPr>
          </a:p>
        </p:txBody>
      </p:sp>
      <p:sp>
        <p:nvSpPr>
          <p:cNvPr id="321" name="Google Shape;321;p26"/>
          <p:cNvSpPr txBox="1"/>
          <p:nvPr/>
        </p:nvSpPr>
        <p:spPr>
          <a:xfrm>
            <a:off x="7374407" y="2091690"/>
            <a:ext cx="1234440" cy="9944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Deliver</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Pass 2: bring the new model to every device.</a:t>
            </a:r>
            <a:endParaRPr b="0" i="0" sz="1300" u="none" cap="none" strike="noStrike">
              <a:solidFill>
                <a:schemeClr val="dk1"/>
              </a:solidFill>
              <a:latin typeface="Calibri"/>
              <a:ea typeface="Calibri"/>
              <a:cs typeface="Calibri"/>
              <a:sym typeface="Calibri"/>
            </a:endParaRPr>
          </a:p>
        </p:txBody>
      </p:sp>
      <p:sp>
        <p:nvSpPr>
          <p:cNvPr id="322" name="Google Shape;322;p26"/>
          <p:cNvSpPr txBox="1"/>
          <p:nvPr/>
        </p:nvSpPr>
        <p:spPr>
          <a:xfrm>
            <a:off x="411480" y="3305556"/>
            <a:ext cx="548640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Three layers feed every decision</a:t>
            </a:r>
            <a:endParaRPr b="0" i="0" sz="1300" u="none" cap="none" strike="noStrike">
              <a:solidFill>
                <a:schemeClr val="dk1"/>
              </a:solidFill>
              <a:latin typeface="Calibri"/>
              <a:ea typeface="Calibri"/>
              <a:cs typeface="Calibri"/>
              <a:sym typeface="Calibri"/>
            </a:endParaRPr>
          </a:p>
        </p:txBody>
      </p:sp>
      <p:sp>
        <p:nvSpPr>
          <p:cNvPr id="323" name="Google Shape;323;p26"/>
          <p:cNvSpPr/>
          <p:nvPr/>
        </p:nvSpPr>
        <p:spPr>
          <a:xfrm>
            <a:off x="411480" y="3600450"/>
            <a:ext cx="2682164" cy="994410"/>
          </a:xfrm>
          <a:prstGeom prst="roundRect">
            <a:avLst>
              <a:gd fmla="val 5517" name="adj"/>
            </a:avLst>
          </a:prstGeom>
          <a:solidFill>
            <a:schemeClr val="accent2">
              <a:alpha val="12157"/>
            </a:schemeClr>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4" name="Google Shape;324;p26"/>
          <p:cNvSpPr txBox="1"/>
          <p:nvPr/>
        </p:nvSpPr>
        <p:spPr>
          <a:xfrm>
            <a:off x="582930" y="3682746"/>
            <a:ext cx="2339264"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L1 · RF link  </a:t>
            </a:r>
            <a:r>
              <a:rPr b="1" i="1" lang="en" sz="1300" u="none" cap="none" strike="noStrike">
                <a:solidFill>
                  <a:schemeClr val="accent2"/>
                </a:solidFill>
                <a:latin typeface="Calibri"/>
                <a:ea typeface="Calibri"/>
                <a:cs typeface="Calibri"/>
                <a:sym typeface="Calibri"/>
              </a:rPr>
              <a:t>prices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Range, transfer rate and time per stop for each band: what each option costs</a:t>
            </a:r>
            <a:endParaRPr b="0" i="0" sz="1300" u="none" cap="none" strike="noStrike">
              <a:solidFill>
                <a:schemeClr val="dk1"/>
              </a:solidFill>
              <a:latin typeface="Calibri"/>
              <a:ea typeface="Calibri"/>
              <a:cs typeface="Calibri"/>
              <a:sym typeface="Calibri"/>
            </a:endParaRPr>
          </a:p>
        </p:txBody>
      </p:sp>
      <p:sp>
        <p:nvSpPr>
          <p:cNvPr id="325" name="Google Shape;325;p26"/>
          <p:cNvSpPr/>
          <p:nvPr/>
        </p:nvSpPr>
        <p:spPr>
          <a:xfrm>
            <a:off x="3230803" y="3600450"/>
            <a:ext cx="2682164" cy="994410"/>
          </a:xfrm>
          <a:prstGeom prst="roundRect">
            <a:avLst>
              <a:gd fmla="val 5517" name="adj"/>
            </a:avLst>
          </a:prstGeom>
          <a:solidFill>
            <a:schemeClr val="accent2">
              <a:alpha val="12157"/>
            </a:schemeClr>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6" name="Google Shape;326;p26"/>
          <p:cNvSpPr txBox="1"/>
          <p:nvPr/>
        </p:nvSpPr>
        <p:spPr>
          <a:xfrm>
            <a:off x="3402253" y="3682746"/>
            <a:ext cx="2339264"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L2 · Scheduling  </a:t>
            </a:r>
            <a:r>
              <a:rPr b="1" i="1" lang="en" sz="1300" u="none" cap="none" strike="noStrike">
                <a:solidFill>
                  <a:schemeClr val="accent2"/>
                </a:solidFill>
                <a:latin typeface="Calibri"/>
                <a:ea typeface="Calibri"/>
                <a:cs typeface="Calibri"/>
                <a:sym typeface="Calibri"/>
              </a:rPr>
              <a:t>decides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Who is served, which band, what order, and when to re-plan</a:t>
            </a:r>
            <a:endParaRPr b="0" i="0" sz="1300" u="none" cap="none" strike="noStrike">
              <a:solidFill>
                <a:schemeClr val="dk1"/>
              </a:solidFill>
              <a:latin typeface="Calibri"/>
              <a:ea typeface="Calibri"/>
              <a:cs typeface="Calibri"/>
              <a:sym typeface="Calibri"/>
            </a:endParaRPr>
          </a:p>
        </p:txBody>
      </p:sp>
      <p:sp>
        <p:nvSpPr>
          <p:cNvPr id="327" name="Google Shape;327;p26"/>
          <p:cNvSpPr/>
          <p:nvPr/>
        </p:nvSpPr>
        <p:spPr>
          <a:xfrm>
            <a:off x="6050128" y="3600450"/>
            <a:ext cx="2682164" cy="994410"/>
          </a:xfrm>
          <a:prstGeom prst="roundRect">
            <a:avLst>
              <a:gd fmla="val 5517" name="adj"/>
            </a:avLst>
          </a:prstGeom>
          <a:solidFill>
            <a:schemeClr val="accent2">
              <a:alpha val="12157"/>
            </a:schemeClr>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28" name="Google Shape;328;p26"/>
          <p:cNvSpPr txBox="1"/>
          <p:nvPr/>
        </p:nvSpPr>
        <p:spPr>
          <a:xfrm>
            <a:off x="6221578" y="3682746"/>
            <a:ext cx="2339264"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L3 · Federated learning  </a:t>
            </a:r>
            <a:r>
              <a:rPr b="1" i="1" lang="en" sz="1300" u="none" cap="none" strike="noStrike">
                <a:solidFill>
                  <a:schemeClr val="accent2"/>
                </a:solidFill>
                <a:latin typeface="Calibri"/>
                <a:ea typeface="Calibri"/>
                <a:cs typeface="Calibri"/>
                <a:sym typeface="Calibri"/>
              </a:rPr>
              <a:t>values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Update age, merge weight, and how overdue each device is: what each visit is worth</a:t>
            </a:r>
            <a:endParaRPr b="0" i="0" sz="1300" u="none" cap="none" strike="noStrike">
              <a:solidFill>
                <a:schemeClr val="dk1"/>
              </a:solidFill>
              <a:latin typeface="Calibri"/>
              <a:ea typeface="Calibri"/>
              <a:cs typeface="Calibri"/>
              <a:sym typeface="Calibri"/>
            </a:endParaRPr>
          </a:p>
        </p:txBody>
      </p:sp>
      <p:sp>
        <p:nvSpPr>
          <p:cNvPr id="329" name="Google Shape;329;p26"/>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7"/>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METHODS · DECISION CLOCKS</a:t>
            </a:r>
            <a:endParaRPr sz="900"/>
          </a:p>
        </p:txBody>
      </p:sp>
      <p:sp>
        <p:nvSpPr>
          <p:cNvPr id="336" name="Google Shape;336;p27"/>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Two decision clocks</a:t>
            </a:r>
            <a:endParaRPr sz="2700"/>
          </a:p>
        </p:txBody>
      </p:sp>
      <p:sp>
        <p:nvSpPr>
          <p:cNvPr id="337" name="Google Shape;337;p27"/>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A clock is a moment when FeRRy decides: like planning a road trip before leaving, then re-checking traffic at each stop.</a:t>
            </a:r>
            <a:endParaRPr sz="1300"/>
          </a:p>
        </p:txBody>
      </p:sp>
      <p:sp>
        <p:nvSpPr>
          <p:cNvPr id="338" name="Google Shape;338;p27"/>
          <p:cNvSpPr/>
          <p:nvPr/>
        </p:nvSpPr>
        <p:spPr>
          <a:xfrm>
            <a:off x="411480" y="1495044"/>
            <a:ext cx="425196" cy="425196"/>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339" name="Google Shape;339;p27"/>
          <p:cNvPicPr preferRelativeResize="0"/>
          <p:nvPr/>
        </p:nvPicPr>
        <p:blipFill rotWithShape="1">
          <a:blip r:embed="rId3">
            <a:alphaModFix/>
          </a:blip>
          <a:srcRect b="0" l="0" r="0" t="0"/>
          <a:stretch/>
        </p:blipFill>
        <p:spPr>
          <a:xfrm>
            <a:off x="505023" y="1588587"/>
            <a:ext cx="238110" cy="238110"/>
          </a:xfrm>
          <a:prstGeom prst="rect">
            <a:avLst/>
          </a:prstGeom>
          <a:noFill/>
          <a:ln>
            <a:noFill/>
          </a:ln>
        </p:spPr>
      </p:pic>
      <p:sp>
        <p:nvSpPr>
          <p:cNvPr id="340" name="Google Shape;340;p27"/>
          <p:cNvSpPr txBox="1"/>
          <p:nvPr/>
        </p:nvSpPr>
        <p:spPr>
          <a:xfrm>
            <a:off x="946404" y="1453896"/>
            <a:ext cx="1200150"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Plan clock</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accent3"/>
              </a:buClr>
              <a:buSzPts val="1000"/>
              <a:buFont typeface="Calibri"/>
              <a:buNone/>
            </a:pPr>
            <a:r>
              <a:rPr b="0" i="0" lang="en" sz="1000" u="none" cap="none" strike="noStrike">
                <a:solidFill>
                  <a:schemeClr val="accent3"/>
                </a:solidFill>
                <a:latin typeface="Calibri"/>
                <a:ea typeface="Calibri"/>
                <a:cs typeface="Calibri"/>
                <a:sym typeface="Calibri"/>
              </a:rPr>
              <a:t>Before takeoff, once per mission: decides the whole route</a:t>
            </a:r>
            <a:endParaRPr b="0" i="0" sz="1400" u="none" cap="none" strike="noStrike">
              <a:solidFill>
                <a:schemeClr val="dk1"/>
              </a:solidFill>
              <a:latin typeface="Calibri"/>
              <a:ea typeface="Calibri"/>
              <a:cs typeface="Calibri"/>
              <a:sym typeface="Calibri"/>
            </a:endParaRPr>
          </a:p>
        </p:txBody>
      </p:sp>
      <p:sp>
        <p:nvSpPr>
          <p:cNvPr id="341" name="Google Shape;341;p27"/>
          <p:cNvSpPr/>
          <p:nvPr/>
        </p:nvSpPr>
        <p:spPr>
          <a:xfrm>
            <a:off x="2160270" y="144018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2" name="Google Shape;342;p27"/>
          <p:cNvSpPr txBox="1"/>
          <p:nvPr/>
        </p:nvSpPr>
        <p:spPr>
          <a:xfrm>
            <a:off x="2228850" y="147447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Demand and urgency weights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how much each device needs a visit</a:t>
            </a:r>
            <a:endParaRPr b="0" i="0" sz="1100" u="none" cap="none" strike="noStrike">
              <a:solidFill>
                <a:schemeClr val="dk1"/>
              </a:solidFill>
              <a:latin typeface="Calibri"/>
              <a:ea typeface="Calibri"/>
              <a:cs typeface="Calibri"/>
              <a:sym typeface="Calibri"/>
            </a:endParaRPr>
          </a:p>
        </p:txBody>
      </p:sp>
      <p:cxnSp>
        <p:nvCxnSpPr>
          <p:cNvPr id="343" name="Google Shape;343;p27"/>
          <p:cNvCxnSpPr/>
          <p:nvPr/>
        </p:nvCxnSpPr>
        <p:spPr>
          <a:xfrm>
            <a:off x="3326130" y="188595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44" name="Google Shape;344;p27"/>
          <p:cNvSpPr/>
          <p:nvPr/>
        </p:nvSpPr>
        <p:spPr>
          <a:xfrm>
            <a:off x="3518668" y="144018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5" name="Google Shape;345;p27"/>
          <p:cNvSpPr txBox="1"/>
          <p:nvPr/>
        </p:nvSpPr>
        <p:spPr>
          <a:xfrm>
            <a:off x="3587249" y="147447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Choose a band class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narrow, medium or wide</a:t>
            </a:r>
            <a:endParaRPr b="0" i="0" sz="1100" u="none" cap="none" strike="noStrike">
              <a:solidFill>
                <a:schemeClr val="dk1"/>
              </a:solidFill>
              <a:latin typeface="Calibri"/>
              <a:ea typeface="Calibri"/>
              <a:cs typeface="Calibri"/>
              <a:sym typeface="Calibri"/>
            </a:endParaRPr>
          </a:p>
        </p:txBody>
      </p:sp>
      <p:cxnSp>
        <p:nvCxnSpPr>
          <p:cNvPr id="346" name="Google Shape;346;p27"/>
          <p:cNvCxnSpPr/>
          <p:nvPr/>
        </p:nvCxnSpPr>
        <p:spPr>
          <a:xfrm>
            <a:off x="4684529" y="188595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47" name="Google Shape;347;p27"/>
          <p:cNvSpPr/>
          <p:nvPr/>
        </p:nvSpPr>
        <p:spPr>
          <a:xfrm>
            <a:off x="4877067" y="144018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48" name="Google Shape;348;p27"/>
          <p:cNvSpPr txBox="1"/>
          <p:nvPr/>
        </p:nvSpPr>
        <p:spPr>
          <a:xfrm>
            <a:off x="4945647" y="147447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Group devices into stops at its range</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which devices can share one stop</a:t>
            </a:r>
            <a:endParaRPr b="0" i="0" sz="1100" u="none" cap="none" strike="noStrike">
              <a:solidFill>
                <a:schemeClr val="dk1"/>
              </a:solidFill>
              <a:latin typeface="Calibri"/>
              <a:ea typeface="Calibri"/>
              <a:cs typeface="Calibri"/>
              <a:sym typeface="Calibri"/>
            </a:endParaRPr>
          </a:p>
        </p:txBody>
      </p:sp>
      <p:cxnSp>
        <p:nvCxnSpPr>
          <p:cNvPr id="349" name="Google Shape;349;p27"/>
          <p:cNvCxnSpPr/>
          <p:nvPr/>
        </p:nvCxnSpPr>
        <p:spPr>
          <a:xfrm>
            <a:off x="6042927" y="188595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50" name="Google Shape;350;p27"/>
          <p:cNvSpPr/>
          <p:nvPr/>
        </p:nvSpPr>
        <p:spPr>
          <a:xfrm>
            <a:off x="6235465" y="144018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1" name="Google Shape;351;p27"/>
          <p:cNvSpPr txBox="1"/>
          <p:nvPr/>
        </p:nvSpPr>
        <p:spPr>
          <a:xfrm>
            <a:off x="6304045" y="147447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Search routes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best order of the stops</a:t>
            </a:r>
            <a:endParaRPr b="0" i="0" sz="1100" u="none" cap="none" strike="noStrike">
              <a:solidFill>
                <a:schemeClr val="dk1"/>
              </a:solidFill>
              <a:latin typeface="Calibri"/>
              <a:ea typeface="Calibri"/>
              <a:cs typeface="Calibri"/>
              <a:sym typeface="Calibri"/>
            </a:endParaRPr>
          </a:p>
        </p:txBody>
      </p:sp>
      <p:cxnSp>
        <p:nvCxnSpPr>
          <p:cNvPr id="352" name="Google Shape;352;p27"/>
          <p:cNvCxnSpPr/>
          <p:nvPr/>
        </p:nvCxnSpPr>
        <p:spPr>
          <a:xfrm>
            <a:off x="7401325" y="188595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53" name="Google Shape;353;p27"/>
          <p:cNvSpPr/>
          <p:nvPr/>
        </p:nvSpPr>
        <p:spPr>
          <a:xfrm>
            <a:off x="7593863" y="1440180"/>
            <a:ext cx="1138428" cy="891540"/>
          </a:xfrm>
          <a:prstGeom prst="roundRect">
            <a:avLst>
              <a:gd fmla="val 6154" name="adj"/>
            </a:avLst>
          </a:prstGeom>
          <a:solidFill>
            <a:schemeClr val="accent1">
              <a:alpha val="14902"/>
            </a:schemeClr>
          </a:solidFill>
          <a:ln cap="flat" cmpd="sng" w="25400">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4" name="Google Shape;354;p27"/>
          <p:cNvSpPr txBox="1"/>
          <p:nvPr/>
        </p:nvSpPr>
        <p:spPr>
          <a:xfrm>
            <a:off x="7662443" y="147447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Feasibility test, then commit</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does it fit? then fly it</a:t>
            </a:r>
            <a:endParaRPr b="0" i="0" sz="1100" u="none" cap="none" strike="noStrike">
              <a:solidFill>
                <a:schemeClr val="dk1"/>
              </a:solidFill>
              <a:latin typeface="Calibri"/>
              <a:ea typeface="Calibri"/>
              <a:cs typeface="Calibri"/>
              <a:sym typeface="Calibri"/>
            </a:endParaRPr>
          </a:p>
        </p:txBody>
      </p:sp>
      <p:sp>
        <p:nvSpPr>
          <p:cNvPr id="355" name="Google Shape;355;p27"/>
          <p:cNvSpPr/>
          <p:nvPr/>
        </p:nvSpPr>
        <p:spPr>
          <a:xfrm>
            <a:off x="411480" y="2626614"/>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356" name="Google Shape;356;p27"/>
          <p:cNvPicPr preferRelativeResize="0"/>
          <p:nvPr/>
        </p:nvPicPr>
        <p:blipFill rotWithShape="1">
          <a:blip r:embed="rId4">
            <a:alphaModFix/>
          </a:blip>
          <a:srcRect b="0" l="0" r="0" t="0"/>
          <a:stretch/>
        </p:blipFill>
        <p:spPr>
          <a:xfrm>
            <a:off x="505023" y="2720157"/>
            <a:ext cx="238110" cy="238110"/>
          </a:xfrm>
          <a:prstGeom prst="rect">
            <a:avLst/>
          </a:prstGeom>
          <a:noFill/>
          <a:ln>
            <a:noFill/>
          </a:ln>
        </p:spPr>
      </p:pic>
      <p:sp>
        <p:nvSpPr>
          <p:cNvPr id="357" name="Google Shape;357;p27"/>
          <p:cNvSpPr txBox="1"/>
          <p:nvPr/>
        </p:nvSpPr>
        <p:spPr>
          <a:xfrm>
            <a:off x="946404" y="2585466"/>
            <a:ext cx="1200150" cy="8572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Flight clock</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accent3"/>
              </a:buClr>
              <a:buSzPts val="1000"/>
              <a:buFont typeface="Calibri"/>
              <a:buNone/>
            </a:pPr>
            <a:r>
              <a:rPr b="0" i="0" lang="en" sz="1000" u="none" cap="none" strike="noStrike">
                <a:solidFill>
                  <a:schemeClr val="accent3"/>
                </a:solidFill>
                <a:latin typeface="Calibri"/>
                <a:ea typeface="Calibri"/>
                <a:cs typeface="Calibri"/>
                <a:sym typeface="Calibri"/>
              </a:rPr>
              <a:t>At every stop in Pass 1: reacts to the signal actually measured</a:t>
            </a:r>
            <a:endParaRPr b="0" i="0" sz="1400" u="none" cap="none" strike="noStrike">
              <a:solidFill>
                <a:schemeClr val="dk1"/>
              </a:solidFill>
              <a:latin typeface="Calibri"/>
              <a:ea typeface="Calibri"/>
              <a:cs typeface="Calibri"/>
              <a:sym typeface="Calibri"/>
            </a:endParaRPr>
          </a:p>
        </p:txBody>
      </p:sp>
      <p:sp>
        <p:nvSpPr>
          <p:cNvPr id="358" name="Google Shape;358;p27"/>
          <p:cNvSpPr/>
          <p:nvPr/>
        </p:nvSpPr>
        <p:spPr>
          <a:xfrm>
            <a:off x="2160270" y="257175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59" name="Google Shape;359;p27"/>
          <p:cNvSpPr txBox="1"/>
          <p:nvPr/>
        </p:nvSpPr>
        <p:spPr>
          <a:xfrm>
            <a:off x="2228850" y="260604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Measure the signal on each band</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the real signal, not the average</a:t>
            </a:r>
            <a:endParaRPr b="0" i="0" sz="1100" u="none" cap="none" strike="noStrike">
              <a:solidFill>
                <a:schemeClr val="dk1"/>
              </a:solidFill>
              <a:latin typeface="Calibri"/>
              <a:ea typeface="Calibri"/>
              <a:cs typeface="Calibri"/>
              <a:sym typeface="Calibri"/>
            </a:endParaRPr>
          </a:p>
        </p:txBody>
      </p:sp>
      <p:cxnSp>
        <p:nvCxnSpPr>
          <p:cNvPr id="360" name="Google Shape;360;p27"/>
          <p:cNvCxnSpPr/>
          <p:nvPr/>
        </p:nvCxnSpPr>
        <p:spPr>
          <a:xfrm>
            <a:off x="3326130" y="301752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61" name="Google Shape;361;p27"/>
          <p:cNvSpPr/>
          <p:nvPr/>
        </p:nvSpPr>
        <p:spPr>
          <a:xfrm>
            <a:off x="3518668" y="257175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2" name="Google Shape;362;p27"/>
          <p:cNvSpPr txBox="1"/>
          <p:nvPr/>
        </p:nvSpPr>
        <p:spPr>
          <a:xfrm>
            <a:off x="3587249" y="260604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Choose band and next stop</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best option that still fits</a:t>
            </a:r>
            <a:endParaRPr b="0" i="0" sz="1100" u="none" cap="none" strike="noStrike">
              <a:solidFill>
                <a:schemeClr val="dk1"/>
              </a:solidFill>
              <a:latin typeface="Calibri"/>
              <a:ea typeface="Calibri"/>
              <a:cs typeface="Calibri"/>
              <a:sym typeface="Calibri"/>
            </a:endParaRPr>
          </a:p>
        </p:txBody>
      </p:sp>
      <p:cxnSp>
        <p:nvCxnSpPr>
          <p:cNvPr id="363" name="Google Shape;363;p27"/>
          <p:cNvCxnSpPr/>
          <p:nvPr/>
        </p:nvCxnSpPr>
        <p:spPr>
          <a:xfrm>
            <a:off x="4684529" y="301752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64" name="Google Shape;364;p27"/>
          <p:cNvSpPr/>
          <p:nvPr/>
        </p:nvSpPr>
        <p:spPr>
          <a:xfrm>
            <a:off x="4877067" y="2571750"/>
            <a:ext cx="1138428" cy="891540"/>
          </a:xfrm>
          <a:prstGeom prst="roundRect">
            <a:avLst>
              <a:gd fmla="val 6154" name="adj"/>
            </a:avLst>
          </a:prstGeom>
          <a:solidFill>
            <a:schemeClr val="accent1">
              <a:alpha val="14902"/>
            </a:schemeClr>
          </a:solidFill>
          <a:ln cap="flat" cmpd="sng" w="25400">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5" name="Google Shape;365;p27"/>
          <p:cNvSpPr txBox="1"/>
          <p:nvPr/>
        </p:nvSpPr>
        <p:spPr>
          <a:xfrm>
            <a:off x="4945647" y="260604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Feasibility test</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the same test as the plan</a:t>
            </a:r>
            <a:endParaRPr b="0" i="0" sz="1100" u="none" cap="none" strike="noStrike">
              <a:solidFill>
                <a:schemeClr val="dk1"/>
              </a:solidFill>
              <a:latin typeface="Calibri"/>
              <a:ea typeface="Calibri"/>
              <a:cs typeface="Calibri"/>
              <a:sym typeface="Calibri"/>
            </a:endParaRPr>
          </a:p>
        </p:txBody>
      </p:sp>
      <p:cxnSp>
        <p:nvCxnSpPr>
          <p:cNvPr id="366" name="Google Shape;366;p27"/>
          <p:cNvCxnSpPr/>
          <p:nvPr/>
        </p:nvCxnSpPr>
        <p:spPr>
          <a:xfrm>
            <a:off x="6042927" y="301752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67" name="Google Shape;367;p27"/>
          <p:cNvSpPr/>
          <p:nvPr/>
        </p:nvSpPr>
        <p:spPr>
          <a:xfrm>
            <a:off x="6235465" y="257175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8" name="Google Shape;368;p27"/>
          <p:cNvSpPr txBox="1"/>
          <p:nvPr/>
        </p:nvSpPr>
        <p:spPr>
          <a:xfrm>
            <a:off x="6304045" y="260604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Serve the devices (dwell)</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hover while data transfers</a:t>
            </a:r>
            <a:endParaRPr b="0" i="0" sz="1100" u="none" cap="none" strike="noStrike">
              <a:solidFill>
                <a:schemeClr val="dk1"/>
              </a:solidFill>
              <a:latin typeface="Calibri"/>
              <a:ea typeface="Calibri"/>
              <a:cs typeface="Calibri"/>
              <a:sym typeface="Calibri"/>
            </a:endParaRPr>
          </a:p>
        </p:txBody>
      </p:sp>
      <p:cxnSp>
        <p:nvCxnSpPr>
          <p:cNvPr id="369" name="Google Shape;369;p27"/>
          <p:cNvCxnSpPr/>
          <p:nvPr/>
        </p:nvCxnSpPr>
        <p:spPr>
          <a:xfrm>
            <a:off x="7401325" y="3017520"/>
            <a:ext cx="165107" cy="0"/>
          </a:xfrm>
          <a:prstGeom prst="straightConnector1">
            <a:avLst/>
          </a:prstGeom>
          <a:noFill/>
          <a:ln cap="flat" cmpd="sng" w="19050">
            <a:solidFill>
              <a:schemeClr val="accent3"/>
            </a:solidFill>
            <a:prstDash val="solid"/>
            <a:round/>
            <a:headEnd len="sm" w="sm" type="none"/>
            <a:tailEnd len="med" w="med" type="triangle"/>
          </a:ln>
        </p:spPr>
      </p:cxnSp>
      <p:sp>
        <p:nvSpPr>
          <p:cNvPr id="370" name="Google Shape;370;p27"/>
          <p:cNvSpPr/>
          <p:nvPr/>
        </p:nvSpPr>
        <p:spPr>
          <a:xfrm>
            <a:off x="7593863" y="2571750"/>
            <a:ext cx="1138428" cy="891540"/>
          </a:xfrm>
          <a:prstGeom prst="roundRect">
            <a:avLst>
              <a:gd fmla="val 615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1" name="Google Shape;371;p27"/>
          <p:cNvSpPr txBox="1"/>
          <p:nvPr/>
        </p:nvSpPr>
        <p:spPr>
          <a:xfrm>
            <a:off x="7662443" y="2606040"/>
            <a:ext cx="1001268"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Still fits?</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If not, re‑plan</a:t>
            </a:r>
            <a:endParaRPr b="0" i="0" sz="11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trim the rest of the route</a:t>
            </a:r>
            <a:endParaRPr b="0" i="0" sz="1100" u="none" cap="none" strike="noStrike">
              <a:solidFill>
                <a:schemeClr val="dk1"/>
              </a:solidFill>
              <a:latin typeface="Calibri"/>
              <a:ea typeface="Calibri"/>
              <a:cs typeface="Calibri"/>
              <a:sym typeface="Calibri"/>
            </a:endParaRPr>
          </a:p>
        </p:txBody>
      </p:sp>
      <p:cxnSp>
        <p:nvCxnSpPr>
          <p:cNvPr id="372" name="Google Shape;372;p27"/>
          <p:cNvCxnSpPr/>
          <p:nvPr/>
        </p:nvCxnSpPr>
        <p:spPr>
          <a:xfrm>
            <a:off x="8163077" y="2352294"/>
            <a:ext cx="0" cy="198882"/>
          </a:xfrm>
          <a:prstGeom prst="straightConnector1">
            <a:avLst/>
          </a:prstGeom>
          <a:noFill/>
          <a:ln cap="flat" cmpd="sng" w="19050">
            <a:solidFill>
              <a:schemeClr val="accent1"/>
            </a:solidFill>
            <a:prstDash val="solid"/>
            <a:round/>
            <a:headEnd len="sm" w="sm" type="none"/>
            <a:tailEnd len="med" w="med" type="triangle"/>
          </a:ln>
        </p:spPr>
      </p:cxnSp>
      <p:sp>
        <p:nvSpPr>
          <p:cNvPr id="373" name="Google Shape;373;p27"/>
          <p:cNvSpPr txBox="1"/>
          <p:nvPr/>
        </p:nvSpPr>
        <p:spPr>
          <a:xfrm>
            <a:off x="7100087" y="2379726"/>
            <a:ext cx="994410" cy="17145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accent1"/>
              </a:buClr>
              <a:buSzPts val="800"/>
              <a:buFont typeface="Calibri"/>
              <a:buNone/>
            </a:pPr>
            <a:r>
              <a:rPr b="0" i="1" lang="en" sz="800" u="none" cap="none" strike="noStrike">
                <a:solidFill>
                  <a:schemeClr val="accent1"/>
                </a:solidFill>
                <a:latin typeface="Calibri"/>
                <a:ea typeface="Calibri"/>
                <a:cs typeface="Calibri"/>
                <a:sym typeface="Calibri"/>
              </a:rPr>
              <a:t>commit plan</a:t>
            </a:r>
            <a:endParaRPr b="0" i="0" sz="800" u="none" cap="none" strike="noStrike">
              <a:solidFill>
                <a:schemeClr val="dk1"/>
              </a:solidFill>
              <a:latin typeface="Calibri"/>
              <a:ea typeface="Calibri"/>
              <a:cs typeface="Calibri"/>
              <a:sym typeface="Calibri"/>
            </a:endParaRPr>
          </a:p>
        </p:txBody>
      </p:sp>
      <p:sp>
        <p:nvSpPr>
          <p:cNvPr id="374" name="Google Shape;374;p27"/>
          <p:cNvSpPr/>
          <p:nvPr/>
        </p:nvSpPr>
        <p:spPr>
          <a:xfrm>
            <a:off x="411480" y="3737610"/>
            <a:ext cx="4074681" cy="822960"/>
          </a:xfrm>
          <a:prstGeom prst="roundRect">
            <a:avLst>
              <a:gd fmla="val 666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5" name="Google Shape;375;p27"/>
          <p:cNvSpPr txBox="1"/>
          <p:nvPr/>
        </p:nvSpPr>
        <p:spPr>
          <a:xfrm>
            <a:off x="582930" y="3806190"/>
            <a:ext cx="3731781" cy="72009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Why plan band and route together?</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band fixes the range, the range fixes which devices can share a stop, and the stops fix the route. Change one and the others change.</a:t>
            </a:r>
            <a:endParaRPr b="0" i="0" sz="1200" u="none" cap="none" strike="noStrike">
              <a:solidFill>
                <a:schemeClr val="dk1"/>
              </a:solidFill>
              <a:latin typeface="Calibri"/>
              <a:ea typeface="Calibri"/>
              <a:cs typeface="Calibri"/>
              <a:sym typeface="Calibri"/>
            </a:endParaRPr>
          </a:p>
        </p:txBody>
      </p:sp>
      <p:sp>
        <p:nvSpPr>
          <p:cNvPr id="376" name="Google Shape;376;p27"/>
          <p:cNvSpPr/>
          <p:nvPr/>
        </p:nvSpPr>
        <p:spPr>
          <a:xfrm>
            <a:off x="4657611" y="3737610"/>
            <a:ext cx="4074681" cy="822960"/>
          </a:xfrm>
          <a:prstGeom prst="roundRect">
            <a:avLst>
              <a:gd fmla="val 666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77" name="Google Shape;377;p27"/>
          <p:cNvSpPr txBox="1"/>
          <p:nvPr/>
        </p:nvSpPr>
        <p:spPr>
          <a:xfrm>
            <a:off x="4829061" y="3806190"/>
            <a:ext cx="3731781" cy="72009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Why re-decide in flight?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plan assumes average signal strength, but the real signal changes along the way. The feasibility test always runs first; learning only ranks what passes.</a:t>
            </a:r>
            <a:endParaRPr b="0" i="0" sz="1200" u="none" cap="none" strike="noStrike">
              <a:solidFill>
                <a:schemeClr val="dk1"/>
              </a:solidFill>
              <a:latin typeface="Calibri"/>
              <a:ea typeface="Calibri"/>
              <a:cs typeface="Calibri"/>
              <a:sym typeface="Calibri"/>
            </a:endParaRPr>
          </a:p>
        </p:txBody>
      </p:sp>
      <p:sp>
        <p:nvSpPr>
          <p:cNvPr id="378" name="Google Shape;378;p27"/>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8"/>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METHODS · DECISION CLOCKS</a:t>
            </a:r>
            <a:endParaRPr sz="900"/>
          </a:p>
        </p:txBody>
      </p:sp>
      <p:sp>
        <p:nvSpPr>
          <p:cNvPr id="385" name="Google Shape;385;p28"/>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One feasibility test gates every decision</a:t>
            </a:r>
            <a:endParaRPr sz="2700"/>
          </a:p>
        </p:txBody>
      </p:sp>
      <p:sp>
        <p:nvSpPr>
          <p:cNvPr id="386" name="Google Shape;386;p28"/>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One yes/no check, used for the plan, every departure, every re-plan and every in-flight choice.</a:t>
            </a:r>
            <a:endParaRPr sz="1300"/>
          </a:p>
        </p:txBody>
      </p:sp>
      <p:sp>
        <p:nvSpPr>
          <p:cNvPr id="387" name="Google Shape;387;p28"/>
          <p:cNvSpPr/>
          <p:nvPr/>
        </p:nvSpPr>
        <p:spPr>
          <a:xfrm>
            <a:off x="411480" y="1440180"/>
            <a:ext cx="3943350" cy="3168396"/>
          </a:xfrm>
          <a:prstGeom prst="roundRect">
            <a:avLst>
              <a:gd fmla="val 1732"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88" name="Google Shape;388;p28"/>
          <p:cNvSpPr txBox="1"/>
          <p:nvPr/>
        </p:nvSpPr>
        <p:spPr>
          <a:xfrm>
            <a:off x="617220" y="1543050"/>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A stop is admitted only if…</a:t>
            </a:r>
            <a:endParaRPr b="0" i="0" sz="1400" u="none" cap="none" strike="noStrike">
              <a:solidFill>
                <a:schemeClr val="dk1"/>
              </a:solidFill>
              <a:latin typeface="Calibri"/>
              <a:ea typeface="Calibri"/>
              <a:cs typeface="Calibri"/>
              <a:sym typeface="Calibri"/>
            </a:endParaRPr>
          </a:p>
        </p:txBody>
      </p:sp>
      <p:sp>
        <p:nvSpPr>
          <p:cNvPr id="389" name="Google Shape;389;p28"/>
          <p:cNvSpPr/>
          <p:nvPr/>
        </p:nvSpPr>
        <p:spPr>
          <a:xfrm>
            <a:off x="617220" y="1920240"/>
            <a:ext cx="288036" cy="288036"/>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0" name="Google Shape;390;p28"/>
          <p:cNvSpPr txBox="1"/>
          <p:nvPr/>
        </p:nvSpPr>
        <p:spPr>
          <a:xfrm>
            <a:off x="617220" y="1920240"/>
            <a:ext cx="288036"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391" name="Google Shape;391;p28"/>
          <p:cNvSpPr txBox="1"/>
          <p:nvPr/>
        </p:nvSpPr>
        <p:spPr>
          <a:xfrm>
            <a:off x="1014984" y="1879092"/>
            <a:ext cx="3154680" cy="370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Its devices finish before their deadlines, the time window each device allows</a:t>
            </a:r>
            <a:endParaRPr b="0" i="0" sz="1100" u="none" cap="none" strike="noStrike">
              <a:solidFill>
                <a:schemeClr val="dk1"/>
              </a:solidFill>
              <a:latin typeface="Calibri"/>
              <a:ea typeface="Calibri"/>
              <a:cs typeface="Calibri"/>
              <a:sym typeface="Calibri"/>
            </a:endParaRPr>
          </a:p>
        </p:txBody>
      </p:sp>
      <p:sp>
        <p:nvSpPr>
          <p:cNvPr id="392" name="Google Shape;392;p28"/>
          <p:cNvSpPr/>
          <p:nvPr/>
        </p:nvSpPr>
        <p:spPr>
          <a:xfrm>
            <a:off x="617220" y="2345436"/>
            <a:ext cx="288036" cy="288036"/>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3" name="Google Shape;393;p28"/>
          <p:cNvSpPr txBox="1"/>
          <p:nvPr/>
        </p:nvSpPr>
        <p:spPr>
          <a:xfrm>
            <a:off x="617220" y="2345436"/>
            <a:ext cx="288036"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394" name="Google Shape;394;p28"/>
          <p:cNvSpPr txBox="1"/>
          <p:nvPr/>
        </p:nvSpPr>
        <p:spPr>
          <a:xfrm>
            <a:off x="1014984" y="2304288"/>
            <a:ext cx="3154680" cy="370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drone can still fly home and upload within the budget (the flight time allowed)</a:t>
            </a:r>
            <a:endParaRPr b="0" i="0" sz="1100" u="none" cap="none" strike="noStrike">
              <a:solidFill>
                <a:schemeClr val="dk1"/>
              </a:solidFill>
              <a:latin typeface="Calibri"/>
              <a:ea typeface="Calibri"/>
              <a:cs typeface="Calibri"/>
              <a:sym typeface="Calibri"/>
            </a:endParaRPr>
          </a:p>
        </p:txBody>
      </p:sp>
      <p:sp>
        <p:nvSpPr>
          <p:cNvPr id="395" name="Google Shape;395;p28"/>
          <p:cNvSpPr/>
          <p:nvPr/>
        </p:nvSpPr>
        <p:spPr>
          <a:xfrm>
            <a:off x="617220" y="2770632"/>
            <a:ext cx="288036" cy="288036"/>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96" name="Google Shape;396;p28"/>
          <p:cNvSpPr txBox="1"/>
          <p:nvPr/>
        </p:nvSpPr>
        <p:spPr>
          <a:xfrm>
            <a:off x="617220" y="2770632"/>
            <a:ext cx="288036" cy="2880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397" name="Google Shape;397;p28"/>
          <p:cNvSpPr txBox="1"/>
          <p:nvPr/>
        </p:nvSpPr>
        <p:spPr>
          <a:xfrm>
            <a:off x="1014984" y="2729484"/>
            <a:ext cx="3154680" cy="3703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battery has enough energy for the flight</a:t>
            </a:r>
            <a:endParaRPr b="0" i="0" sz="1100" u="none" cap="none" strike="noStrike">
              <a:solidFill>
                <a:schemeClr val="dk1"/>
              </a:solidFill>
              <a:latin typeface="Calibri"/>
              <a:ea typeface="Calibri"/>
              <a:cs typeface="Calibri"/>
              <a:sym typeface="Calibri"/>
            </a:endParaRPr>
          </a:p>
        </p:txBody>
      </p:sp>
      <p:sp>
        <p:nvSpPr>
          <p:cNvPr id="398" name="Google Shape;398;p28"/>
          <p:cNvSpPr txBox="1"/>
          <p:nvPr/>
        </p:nvSpPr>
        <p:spPr>
          <a:xfrm>
            <a:off x="617220" y="3200400"/>
            <a:ext cx="356616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6"/>
              </a:buClr>
              <a:buSzPts val="1100"/>
              <a:buFont typeface="Calibri"/>
              <a:buNone/>
            </a:pPr>
            <a:r>
              <a:rPr b="1" i="0" lang="en" sz="1100" u="none" cap="none" strike="noStrike">
                <a:solidFill>
                  <a:schemeClr val="accent6"/>
                </a:solidFill>
                <a:latin typeface="Calibri"/>
                <a:ea typeface="Calibri"/>
                <a:cs typeface="Calibri"/>
                <a:sym typeface="Calibri"/>
              </a:rPr>
              <a:t>arrive = now + distance ÷ speed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accent6"/>
              </a:buClr>
              <a:buSzPts val="1100"/>
              <a:buFont typeface="Calibri"/>
              <a:buNone/>
            </a:pPr>
            <a:r>
              <a:rPr b="1" i="0" lang="en" sz="1100" u="none" cap="none" strike="noStrike">
                <a:solidFill>
                  <a:schemeClr val="accent6"/>
                </a:solidFill>
                <a:latin typeface="Calibri"/>
                <a:ea typeface="Calibri"/>
                <a:cs typeface="Calibri"/>
                <a:sym typeface="Calibri"/>
              </a:rPr>
              <a:t>finish = arrive + Σ dwell  (bytes ÷ rate on the band)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accent6"/>
              </a:buClr>
              <a:buSzPts val="1100"/>
              <a:buFont typeface="Calibri"/>
              <a:buNone/>
            </a:pPr>
            <a:r>
              <a:rPr b="1" i="0" lang="en" sz="1100" u="none" cap="none" strike="noStrike">
                <a:solidFill>
                  <a:schemeClr val="accent6"/>
                </a:solidFill>
                <a:latin typeface="Calibri"/>
                <a:ea typeface="Calibri"/>
                <a:cs typeface="Calibri"/>
                <a:sym typeface="Calibri"/>
              </a:rPr>
              <a:t>home = finish + return + upload  ≤  budget</a:t>
            </a:r>
            <a:endParaRPr b="0" i="0" sz="1100" u="none" cap="none" strike="noStrike">
              <a:solidFill>
                <a:schemeClr val="dk1"/>
              </a:solidFill>
              <a:latin typeface="Calibri"/>
              <a:ea typeface="Calibri"/>
              <a:cs typeface="Calibri"/>
              <a:sym typeface="Calibri"/>
            </a:endParaRPr>
          </a:p>
        </p:txBody>
      </p:sp>
      <p:sp>
        <p:nvSpPr>
          <p:cNvPr id="399" name="Google Shape;399;p28"/>
          <p:cNvSpPr txBox="1"/>
          <p:nvPr/>
        </p:nvSpPr>
        <p:spPr>
          <a:xfrm>
            <a:off x="617220" y="3913632"/>
            <a:ext cx="356616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000"/>
              <a:buFont typeface="Calibri"/>
              <a:buNone/>
            </a:pPr>
            <a:r>
              <a:rPr b="0" i="1" lang="en" sz="1000" u="none" cap="none" strike="noStrike">
                <a:solidFill>
                  <a:schemeClr val="accent3"/>
                </a:solidFill>
                <a:latin typeface="Calibri"/>
                <a:ea typeface="Calibri"/>
                <a:cs typeface="Calibri"/>
                <a:sym typeface="Calibri"/>
              </a:rPr>
              <a:t>dwell = time hovering while data transfers. Σ = sum over the stop's devices. The plan prices the mean signal, so real missions can run longer: the source of the overruns I report.</a:t>
            </a:r>
            <a:endParaRPr b="0" i="0" sz="1000" u="none" cap="none" strike="noStrike">
              <a:solidFill>
                <a:schemeClr val="dk1"/>
              </a:solidFill>
              <a:latin typeface="Calibri"/>
              <a:ea typeface="Calibri"/>
              <a:cs typeface="Calibri"/>
              <a:sym typeface="Calibri"/>
            </a:endParaRPr>
          </a:p>
        </p:txBody>
      </p:sp>
      <p:sp>
        <p:nvSpPr>
          <p:cNvPr id="400" name="Google Shape;400;p28"/>
          <p:cNvSpPr/>
          <p:nvPr/>
        </p:nvSpPr>
        <p:spPr>
          <a:xfrm>
            <a:off x="4526280" y="1440180"/>
            <a:ext cx="2034426" cy="1515618"/>
          </a:xfrm>
          <a:prstGeom prst="roundRect">
            <a:avLst>
              <a:gd fmla="val 3620"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1" name="Google Shape;401;p28"/>
          <p:cNvSpPr/>
          <p:nvPr/>
        </p:nvSpPr>
        <p:spPr>
          <a:xfrm>
            <a:off x="4677156" y="1591056"/>
            <a:ext cx="377190" cy="37719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02" name="Google Shape;402;p28"/>
          <p:cNvPicPr preferRelativeResize="0"/>
          <p:nvPr/>
        </p:nvPicPr>
        <p:blipFill rotWithShape="1">
          <a:blip r:embed="rId3">
            <a:alphaModFix/>
          </a:blip>
          <a:srcRect b="0" l="0" r="0" t="0"/>
          <a:stretch/>
        </p:blipFill>
        <p:spPr>
          <a:xfrm>
            <a:off x="4760138" y="1674038"/>
            <a:ext cx="211226" cy="211226"/>
          </a:xfrm>
          <a:prstGeom prst="rect">
            <a:avLst/>
          </a:prstGeom>
          <a:noFill/>
          <a:ln>
            <a:noFill/>
          </a:ln>
        </p:spPr>
      </p:pic>
      <p:sp>
        <p:nvSpPr>
          <p:cNvPr id="403" name="Google Shape;403;p28"/>
          <p:cNvSpPr txBox="1"/>
          <p:nvPr/>
        </p:nvSpPr>
        <p:spPr>
          <a:xfrm>
            <a:off x="5143500" y="1591056"/>
            <a:ext cx="1314336" cy="3771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Adaptive deadlines</a:t>
            </a:r>
            <a:endParaRPr b="0" i="0" sz="1200" u="none" cap="none" strike="noStrike">
              <a:solidFill>
                <a:schemeClr val="dk1"/>
              </a:solidFill>
              <a:latin typeface="Calibri"/>
              <a:ea typeface="Calibri"/>
              <a:cs typeface="Calibri"/>
              <a:sym typeface="Calibri"/>
            </a:endParaRPr>
          </a:p>
        </p:txBody>
      </p:sp>
      <p:sp>
        <p:nvSpPr>
          <p:cNvPr id="404" name="Google Shape;404;p28"/>
          <p:cNvSpPr txBox="1"/>
          <p:nvPr/>
        </p:nvSpPr>
        <p:spPr>
          <a:xfrm>
            <a:off x="4677156" y="2057400"/>
            <a:ext cx="1760106" cy="82981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Each device has its own time window. It shrinks after an on-time contact (×0.8) and widens after a miss (×1.25 or ×1.5), within limits.</a:t>
            </a:r>
            <a:endParaRPr b="0" i="0" sz="1100" u="none" cap="none" strike="noStrike">
              <a:solidFill>
                <a:schemeClr val="dk1"/>
              </a:solidFill>
              <a:latin typeface="Calibri"/>
              <a:ea typeface="Calibri"/>
              <a:cs typeface="Calibri"/>
              <a:sym typeface="Calibri"/>
            </a:endParaRPr>
          </a:p>
        </p:txBody>
      </p:sp>
      <p:sp>
        <p:nvSpPr>
          <p:cNvPr id="405" name="Google Shape;405;p28"/>
          <p:cNvSpPr/>
          <p:nvPr/>
        </p:nvSpPr>
        <p:spPr>
          <a:xfrm>
            <a:off x="6697866" y="1440180"/>
            <a:ext cx="2034426" cy="1515618"/>
          </a:xfrm>
          <a:prstGeom prst="roundRect">
            <a:avLst>
              <a:gd fmla="val 3620"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06" name="Google Shape;406;p28"/>
          <p:cNvSpPr/>
          <p:nvPr/>
        </p:nvSpPr>
        <p:spPr>
          <a:xfrm>
            <a:off x="6848742" y="1591056"/>
            <a:ext cx="377190" cy="37719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07" name="Google Shape;407;p28"/>
          <p:cNvPicPr preferRelativeResize="0"/>
          <p:nvPr/>
        </p:nvPicPr>
        <p:blipFill rotWithShape="1">
          <a:blip r:embed="rId4">
            <a:alphaModFix/>
          </a:blip>
          <a:srcRect b="0" l="0" r="0" t="0"/>
          <a:stretch/>
        </p:blipFill>
        <p:spPr>
          <a:xfrm>
            <a:off x="6931724" y="1674038"/>
            <a:ext cx="211226" cy="211226"/>
          </a:xfrm>
          <a:prstGeom prst="rect">
            <a:avLst/>
          </a:prstGeom>
          <a:noFill/>
          <a:ln>
            <a:noFill/>
          </a:ln>
        </p:spPr>
      </p:pic>
      <p:sp>
        <p:nvSpPr>
          <p:cNvPr id="408" name="Google Shape;408;p28"/>
          <p:cNvSpPr txBox="1"/>
          <p:nvPr/>
        </p:nvSpPr>
        <p:spPr>
          <a:xfrm>
            <a:off x="7315086" y="1591056"/>
            <a:ext cx="1314336" cy="3771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Coverage weight</a:t>
            </a:r>
            <a:endParaRPr b="0" i="0" sz="1200" u="none" cap="none" strike="noStrike">
              <a:solidFill>
                <a:schemeClr val="dk1"/>
              </a:solidFill>
              <a:latin typeface="Calibri"/>
              <a:ea typeface="Calibri"/>
              <a:cs typeface="Calibri"/>
              <a:sym typeface="Calibri"/>
            </a:endParaRPr>
          </a:p>
        </p:txBody>
      </p:sp>
      <p:sp>
        <p:nvSpPr>
          <p:cNvPr id="409" name="Google Shape;409;p28"/>
          <p:cNvSpPr txBox="1"/>
          <p:nvPr/>
        </p:nvSpPr>
        <p:spPr>
          <a:xfrm>
            <a:off x="6848742" y="2057400"/>
            <a:ext cx="1760106" cy="82981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longer a device waits, the more urgent it is: weight ≈ (missions since last served)². The plan serves the most weight.</a:t>
            </a:r>
            <a:endParaRPr b="0" i="0" sz="1100" u="none" cap="none" strike="noStrike">
              <a:solidFill>
                <a:schemeClr val="dk1"/>
              </a:solidFill>
              <a:latin typeface="Calibri"/>
              <a:ea typeface="Calibri"/>
              <a:cs typeface="Calibri"/>
              <a:sym typeface="Calibri"/>
            </a:endParaRPr>
          </a:p>
        </p:txBody>
      </p:sp>
      <p:sp>
        <p:nvSpPr>
          <p:cNvPr id="410" name="Google Shape;410;p28"/>
          <p:cNvSpPr/>
          <p:nvPr/>
        </p:nvSpPr>
        <p:spPr>
          <a:xfrm>
            <a:off x="4526280" y="3092958"/>
            <a:ext cx="2034426" cy="1515618"/>
          </a:xfrm>
          <a:prstGeom prst="roundRect">
            <a:avLst>
              <a:gd fmla="val 3620"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1" name="Google Shape;411;p28"/>
          <p:cNvSpPr/>
          <p:nvPr/>
        </p:nvSpPr>
        <p:spPr>
          <a:xfrm>
            <a:off x="4677156" y="3243834"/>
            <a:ext cx="377190" cy="37719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12" name="Google Shape;412;p28"/>
          <p:cNvPicPr preferRelativeResize="0"/>
          <p:nvPr/>
        </p:nvPicPr>
        <p:blipFill rotWithShape="1">
          <a:blip r:embed="rId5">
            <a:alphaModFix/>
          </a:blip>
          <a:srcRect b="0" l="0" r="0" t="0"/>
          <a:stretch/>
        </p:blipFill>
        <p:spPr>
          <a:xfrm>
            <a:off x="4760138" y="3326816"/>
            <a:ext cx="211226" cy="211226"/>
          </a:xfrm>
          <a:prstGeom prst="rect">
            <a:avLst/>
          </a:prstGeom>
          <a:noFill/>
          <a:ln>
            <a:noFill/>
          </a:ln>
        </p:spPr>
      </p:pic>
      <p:sp>
        <p:nvSpPr>
          <p:cNvPr id="413" name="Google Shape;413;p28"/>
          <p:cNvSpPr txBox="1"/>
          <p:nvPr/>
        </p:nvSpPr>
        <p:spPr>
          <a:xfrm>
            <a:off x="5143500" y="3243834"/>
            <a:ext cx="1314336" cy="3771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Age cap</a:t>
            </a:r>
            <a:endParaRPr b="0" i="0" sz="1200" u="none" cap="none" strike="noStrike">
              <a:solidFill>
                <a:schemeClr val="dk1"/>
              </a:solidFill>
              <a:latin typeface="Calibri"/>
              <a:ea typeface="Calibri"/>
              <a:cs typeface="Calibri"/>
              <a:sym typeface="Calibri"/>
            </a:endParaRPr>
          </a:p>
        </p:txBody>
      </p:sp>
      <p:sp>
        <p:nvSpPr>
          <p:cNvPr id="414" name="Google Shape;414;p28"/>
          <p:cNvSpPr txBox="1"/>
          <p:nvPr/>
        </p:nvSpPr>
        <p:spPr>
          <a:xfrm>
            <a:off x="4677156" y="3710178"/>
            <a:ext cx="1760106" cy="82981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 limit on neglect: a device skipped for 2 missions must be served next, with a hover stop just for it if needed.</a:t>
            </a:r>
            <a:endParaRPr b="0" i="0" sz="1100" u="none" cap="none" strike="noStrike">
              <a:solidFill>
                <a:schemeClr val="dk1"/>
              </a:solidFill>
              <a:latin typeface="Calibri"/>
              <a:ea typeface="Calibri"/>
              <a:cs typeface="Calibri"/>
              <a:sym typeface="Calibri"/>
            </a:endParaRPr>
          </a:p>
        </p:txBody>
      </p:sp>
      <p:sp>
        <p:nvSpPr>
          <p:cNvPr id="415" name="Google Shape;415;p28"/>
          <p:cNvSpPr/>
          <p:nvPr/>
        </p:nvSpPr>
        <p:spPr>
          <a:xfrm>
            <a:off x="6697866" y="3092958"/>
            <a:ext cx="2034426" cy="1515618"/>
          </a:xfrm>
          <a:prstGeom prst="roundRect">
            <a:avLst>
              <a:gd fmla="val 3620"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16" name="Google Shape;416;p28"/>
          <p:cNvSpPr/>
          <p:nvPr/>
        </p:nvSpPr>
        <p:spPr>
          <a:xfrm>
            <a:off x="6848742" y="3243834"/>
            <a:ext cx="377190" cy="377190"/>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17" name="Google Shape;417;p28"/>
          <p:cNvPicPr preferRelativeResize="0"/>
          <p:nvPr/>
        </p:nvPicPr>
        <p:blipFill rotWithShape="1">
          <a:blip r:embed="rId6">
            <a:alphaModFix/>
          </a:blip>
          <a:srcRect b="0" l="0" r="0" t="0"/>
          <a:stretch/>
        </p:blipFill>
        <p:spPr>
          <a:xfrm>
            <a:off x="6931724" y="3326816"/>
            <a:ext cx="211226" cy="211226"/>
          </a:xfrm>
          <a:prstGeom prst="rect">
            <a:avLst/>
          </a:prstGeom>
          <a:noFill/>
          <a:ln>
            <a:noFill/>
          </a:ln>
        </p:spPr>
      </p:pic>
      <p:sp>
        <p:nvSpPr>
          <p:cNvPr id="418" name="Google Shape;418;p28"/>
          <p:cNvSpPr txBox="1"/>
          <p:nvPr/>
        </p:nvSpPr>
        <p:spPr>
          <a:xfrm>
            <a:off x="7315086" y="3243834"/>
            <a:ext cx="1314336" cy="3771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Stale-aware merges</a:t>
            </a:r>
            <a:endParaRPr b="0" i="0" sz="1200" u="none" cap="none" strike="noStrike">
              <a:solidFill>
                <a:schemeClr val="dk1"/>
              </a:solidFill>
              <a:latin typeface="Calibri"/>
              <a:ea typeface="Calibri"/>
              <a:cs typeface="Calibri"/>
              <a:sym typeface="Calibri"/>
            </a:endParaRPr>
          </a:p>
        </p:txBody>
      </p:sp>
      <p:sp>
        <p:nvSpPr>
          <p:cNvPr id="419" name="Google Shape;419;p28"/>
          <p:cNvSpPr txBox="1"/>
          <p:nvPr/>
        </p:nvSpPr>
        <p:spPr>
          <a:xfrm>
            <a:off x="6848742" y="3710178"/>
            <a:ext cx="1760106" cy="82981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An update trained on an older model counts less: weight = examples × 1/(age + 1), on the drone and again at the server.</a:t>
            </a:r>
            <a:endParaRPr b="0" i="0" sz="1100" u="none" cap="none" strike="noStrike">
              <a:solidFill>
                <a:schemeClr val="dk1"/>
              </a:solidFill>
              <a:latin typeface="Calibri"/>
              <a:ea typeface="Calibri"/>
              <a:cs typeface="Calibri"/>
              <a:sym typeface="Calibri"/>
            </a:endParaRPr>
          </a:p>
        </p:txBody>
      </p:sp>
      <p:sp>
        <p:nvSpPr>
          <p:cNvPr id="420" name="Google Shape;420;p28"/>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9"/>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METHODS · JOINT RL MODEL</a:t>
            </a:r>
            <a:endParaRPr sz="900"/>
          </a:p>
        </p:txBody>
      </p:sp>
      <p:sp>
        <p:nvSpPr>
          <p:cNvPr id="427" name="Google Shape;427;p29"/>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Joint RL model: band + next stop together</a:t>
            </a:r>
            <a:endParaRPr sz="2700"/>
          </a:p>
        </p:txBody>
      </p:sp>
      <p:sp>
        <p:nvSpPr>
          <p:cNvPr id="428" name="Google Shape;428;p29"/>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At each stop, FeRRy can change the band and pick the next stop. Three options; RL means learning by trial and reward.</a:t>
            </a:r>
            <a:endParaRPr sz="1300"/>
          </a:p>
        </p:txBody>
      </p:sp>
      <p:sp>
        <p:nvSpPr>
          <p:cNvPr id="429" name="Google Shape;429;p29"/>
          <p:cNvSpPr/>
          <p:nvPr/>
        </p:nvSpPr>
        <p:spPr>
          <a:xfrm>
            <a:off x="411480" y="1435608"/>
            <a:ext cx="2674620" cy="841248"/>
          </a:xfrm>
          <a:prstGeom prst="roundRect">
            <a:avLst>
              <a:gd fmla="val 551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0" name="Google Shape;430;p29"/>
          <p:cNvSpPr txBox="1"/>
          <p:nvPr/>
        </p:nvSpPr>
        <p:spPr>
          <a:xfrm>
            <a:off x="582930" y="1536192"/>
            <a:ext cx="2331720" cy="67665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F · commit</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Stick to the plan: fly its band and order, with no per-stop change.</a:t>
            </a:r>
            <a:endParaRPr b="0" i="0" sz="1300" u="none" cap="none" strike="noStrike">
              <a:solidFill>
                <a:schemeClr val="dk1"/>
              </a:solidFill>
              <a:latin typeface="Calibri"/>
              <a:ea typeface="Calibri"/>
              <a:cs typeface="Calibri"/>
              <a:sym typeface="Calibri"/>
            </a:endParaRPr>
          </a:p>
        </p:txBody>
      </p:sp>
      <p:sp>
        <p:nvSpPr>
          <p:cNvPr id="431" name="Google Shape;431;p29"/>
          <p:cNvSpPr/>
          <p:nvPr/>
        </p:nvSpPr>
        <p:spPr>
          <a:xfrm>
            <a:off x="411480" y="2350008"/>
            <a:ext cx="2674620" cy="1051560"/>
          </a:xfrm>
          <a:prstGeom prst="roundRect">
            <a:avLst>
              <a:gd fmla="val 551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2" name="Google Shape;432;p29"/>
          <p:cNvSpPr txBox="1"/>
          <p:nvPr/>
        </p:nvSpPr>
        <p:spPr>
          <a:xfrm>
            <a:off x="582930" y="2450592"/>
            <a:ext cx="2331720" cy="8869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FX · fixed rule</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A hand-written rule: fastest band that still reaches the planned devices, then the nearest stop that keeps the plan feasible.</a:t>
            </a:r>
            <a:endParaRPr b="0" i="0" sz="1300" u="none" cap="none" strike="noStrike">
              <a:solidFill>
                <a:schemeClr val="dk1"/>
              </a:solidFill>
              <a:latin typeface="Calibri"/>
              <a:ea typeface="Calibri"/>
              <a:cs typeface="Calibri"/>
              <a:sym typeface="Calibri"/>
            </a:endParaRPr>
          </a:p>
        </p:txBody>
      </p:sp>
      <p:sp>
        <p:nvSpPr>
          <p:cNvPr id="433" name="Google Shape;433;p29"/>
          <p:cNvSpPr/>
          <p:nvPr/>
        </p:nvSpPr>
        <p:spPr>
          <a:xfrm>
            <a:off x="411480" y="3474720"/>
            <a:ext cx="2674620" cy="1097280"/>
          </a:xfrm>
          <a:prstGeom prst="roundRect">
            <a:avLst>
              <a:gd fmla="val 5517" name="adj"/>
            </a:avLst>
          </a:prstGeom>
          <a:solidFill>
            <a:schemeClr val="accent1">
              <a:alpha val="14118"/>
            </a:schemeClr>
          </a:solidFill>
          <a:ln cap="flat" cmpd="sng" w="1587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4" name="Google Shape;434;p29"/>
          <p:cNvSpPr txBox="1"/>
          <p:nvPr/>
        </p:nvSpPr>
        <p:spPr>
          <a:xfrm>
            <a:off x="582930" y="3575304"/>
            <a:ext cx="2331720" cy="9326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300"/>
              <a:buFont typeface="Calibri"/>
              <a:buNone/>
            </a:pPr>
            <a:r>
              <a:rPr b="1" i="0" lang="en" sz="1300" u="none" cap="none" strike="noStrike">
                <a:solidFill>
                  <a:schemeClr val="accent1"/>
                </a:solidFill>
                <a:latin typeface="Calibri"/>
                <a:ea typeface="Calibri"/>
                <a:cs typeface="Calibri"/>
                <a:sym typeface="Calibri"/>
              </a:rPr>
              <a:t>FQ · learned</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A masked double DQN scores each (band, next stop) pair and picks the best allowed one. DQN = a neural network trained by trial and reward.</a:t>
            </a:r>
            <a:endParaRPr b="0" i="0" sz="1300" u="none" cap="none" strike="noStrike">
              <a:solidFill>
                <a:schemeClr val="dk1"/>
              </a:solidFill>
              <a:latin typeface="Calibri"/>
              <a:ea typeface="Calibri"/>
              <a:cs typeface="Calibri"/>
              <a:sym typeface="Calibri"/>
            </a:endParaRPr>
          </a:p>
        </p:txBody>
      </p:sp>
      <p:sp>
        <p:nvSpPr>
          <p:cNvPr id="435" name="Google Shape;435;p29"/>
          <p:cNvSpPr/>
          <p:nvPr/>
        </p:nvSpPr>
        <p:spPr>
          <a:xfrm>
            <a:off x="3326130" y="1440180"/>
            <a:ext cx="1885950" cy="1714500"/>
          </a:xfrm>
          <a:prstGeom prst="roundRect">
            <a:avLst>
              <a:gd fmla="val 3200"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36" name="Google Shape;436;p29"/>
          <p:cNvSpPr txBox="1"/>
          <p:nvPr/>
        </p:nvSpPr>
        <p:spPr>
          <a:xfrm>
            <a:off x="3463290" y="1508760"/>
            <a:ext cx="1645920" cy="161163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State: what it sees</a:t>
            </a:r>
            <a:endParaRPr b="0" i="0" sz="12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000"/>
              <a:buFont typeface="Calibri"/>
              <a:buChar char="•"/>
            </a:pPr>
            <a:r>
              <a:rPr b="0" i="0" lang="en" sz="1000" u="none" cap="none" strike="noStrike">
                <a:solidFill>
                  <a:schemeClr val="dk1"/>
                </a:solidFill>
                <a:latin typeface="Calibri"/>
                <a:ea typeface="Calibri"/>
                <a:cs typeface="Calibri"/>
                <a:sym typeface="Calibri"/>
              </a:rPr>
              <a:t>Signal per band, here and at the next stop</a:t>
            </a:r>
            <a:endParaRPr b="0" i="0" sz="1200" u="none" cap="none" strike="noStrike">
              <a:solidFill>
                <a:schemeClr val="dk1"/>
              </a:solidFill>
              <a:latin typeface="Calibri"/>
              <a:ea typeface="Calibri"/>
              <a:cs typeface="Calibri"/>
              <a:sym typeface="Calibri"/>
            </a:endParaRPr>
          </a:p>
          <a:p>
            <a:pPr indent="-139700" lvl="0" marL="139700" marR="0" rtl="0" algn="l">
              <a:lnSpc>
                <a:spcPct val="100000"/>
              </a:lnSpc>
              <a:spcBef>
                <a:spcPts val="200"/>
              </a:spcBef>
              <a:spcAft>
                <a:spcPts val="0"/>
              </a:spcAft>
              <a:buClr>
                <a:schemeClr val="dk1"/>
              </a:buClr>
              <a:buSzPts val="1000"/>
              <a:buFont typeface="Calibri"/>
              <a:buChar char="•"/>
            </a:pPr>
            <a:r>
              <a:rPr b="0" i="0" lang="en" sz="1000" u="none" cap="none" strike="noStrike">
                <a:solidFill>
                  <a:schemeClr val="dk1"/>
                </a:solidFill>
                <a:latin typeface="Calibri"/>
                <a:ea typeface="Calibri"/>
                <a:cs typeface="Calibri"/>
                <a:sym typeface="Calibri"/>
              </a:rPr>
              <a:t>Dwell time</a:t>
            </a:r>
            <a:endParaRPr b="0" i="0" sz="1200" u="none" cap="none" strike="noStrike">
              <a:solidFill>
                <a:schemeClr val="dk1"/>
              </a:solidFill>
              <a:latin typeface="Calibri"/>
              <a:ea typeface="Calibri"/>
              <a:cs typeface="Calibri"/>
              <a:sym typeface="Calibri"/>
            </a:endParaRPr>
          </a:p>
          <a:p>
            <a:pPr indent="-139700" lvl="0" marL="139700" marR="0" rtl="0" algn="l">
              <a:lnSpc>
                <a:spcPct val="100000"/>
              </a:lnSpc>
              <a:spcBef>
                <a:spcPts val="200"/>
              </a:spcBef>
              <a:spcAft>
                <a:spcPts val="0"/>
              </a:spcAft>
              <a:buClr>
                <a:schemeClr val="dk1"/>
              </a:buClr>
              <a:buSzPts val="1000"/>
              <a:buFont typeface="Calibri"/>
              <a:buChar char="•"/>
            </a:pPr>
            <a:r>
              <a:rPr b="0" i="0" lang="en" sz="1000" u="none" cap="none" strike="noStrike">
                <a:solidFill>
                  <a:schemeClr val="dk1"/>
                </a:solidFill>
                <a:latin typeface="Calibri"/>
                <a:ea typeface="Calibri"/>
                <a:cs typeface="Calibri"/>
                <a:sym typeface="Calibri"/>
              </a:rPr>
              <a:t>Deadline slack</a:t>
            </a:r>
            <a:endParaRPr b="0" i="0" sz="1200" u="none" cap="none" strike="noStrike">
              <a:solidFill>
                <a:schemeClr val="dk1"/>
              </a:solidFill>
              <a:latin typeface="Calibri"/>
              <a:ea typeface="Calibri"/>
              <a:cs typeface="Calibri"/>
              <a:sym typeface="Calibri"/>
            </a:endParaRPr>
          </a:p>
          <a:p>
            <a:pPr indent="-139700" lvl="0" marL="139700" marR="0" rtl="0" algn="l">
              <a:lnSpc>
                <a:spcPct val="100000"/>
              </a:lnSpc>
              <a:spcBef>
                <a:spcPts val="200"/>
              </a:spcBef>
              <a:spcAft>
                <a:spcPts val="0"/>
              </a:spcAft>
              <a:buClr>
                <a:schemeClr val="dk1"/>
              </a:buClr>
              <a:buSzPts val="1000"/>
              <a:buFont typeface="Calibri"/>
              <a:buChar char="•"/>
            </a:pPr>
            <a:r>
              <a:rPr b="0" i="0" lang="en" sz="1000" u="none" cap="none" strike="noStrike">
                <a:solidFill>
                  <a:schemeClr val="dk1"/>
                </a:solidFill>
                <a:latin typeface="Calibri"/>
                <a:ea typeface="Calibri"/>
                <a:cs typeface="Calibri"/>
                <a:sym typeface="Calibri"/>
              </a:rPr>
              <a:t>Plan ages</a:t>
            </a:r>
            <a:endParaRPr b="0" i="0" sz="1200" u="none" cap="none" strike="noStrike">
              <a:solidFill>
                <a:schemeClr val="dk1"/>
              </a:solidFill>
              <a:latin typeface="Calibri"/>
              <a:ea typeface="Calibri"/>
              <a:cs typeface="Calibri"/>
              <a:sym typeface="Calibri"/>
            </a:endParaRPr>
          </a:p>
          <a:p>
            <a:pPr indent="-139700" lvl="0" marL="139700" marR="0" rtl="0" algn="l">
              <a:lnSpc>
                <a:spcPct val="100000"/>
              </a:lnSpc>
              <a:spcBef>
                <a:spcPts val="200"/>
              </a:spcBef>
              <a:spcAft>
                <a:spcPts val="0"/>
              </a:spcAft>
              <a:buClr>
                <a:schemeClr val="dk1"/>
              </a:buClr>
              <a:buSzPts val="1000"/>
              <a:buFont typeface="Calibri"/>
              <a:buChar char="•"/>
            </a:pPr>
            <a:r>
              <a:rPr b="0" i="0" lang="en" sz="1000" u="none" cap="none" strike="noStrike">
                <a:solidFill>
                  <a:schemeClr val="dk1"/>
                </a:solidFill>
                <a:latin typeface="Calibri"/>
                <a:ea typeface="Calibri"/>
                <a:cs typeface="Calibri"/>
                <a:sym typeface="Calibri"/>
              </a:rPr>
              <a:t>Mission time and energy left</a:t>
            </a:r>
            <a:endParaRPr b="0" i="0" sz="1200" u="none" cap="none" strike="noStrike">
              <a:solidFill>
                <a:schemeClr val="dk1"/>
              </a:solidFill>
              <a:latin typeface="Calibri"/>
              <a:ea typeface="Calibri"/>
              <a:cs typeface="Calibri"/>
              <a:sym typeface="Calibri"/>
            </a:endParaRPr>
          </a:p>
          <a:p>
            <a:pPr indent="-139700" lvl="0" marL="139700" marR="0" rtl="0" algn="l">
              <a:lnSpc>
                <a:spcPct val="100000"/>
              </a:lnSpc>
              <a:spcBef>
                <a:spcPts val="200"/>
              </a:spcBef>
              <a:spcAft>
                <a:spcPts val="0"/>
              </a:spcAft>
              <a:buClr>
                <a:schemeClr val="dk1"/>
              </a:buClr>
              <a:buSzPts val="1000"/>
              <a:buFont typeface="Calibri"/>
              <a:buChar char="•"/>
            </a:pPr>
            <a:r>
              <a:rPr b="0" i="0" lang="en" sz="1000" u="none" cap="none" strike="noStrike">
                <a:solidFill>
                  <a:schemeClr val="dk1"/>
                </a:solidFill>
                <a:latin typeface="Calibri"/>
                <a:ea typeface="Calibri"/>
                <a:cs typeface="Calibri"/>
                <a:sym typeface="Calibri"/>
              </a:rPr>
              <a:t>Interference phase</a:t>
            </a:r>
            <a:endParaRPr b="0" i="0" sz="1200" u="none" cap="none" strike="noStrike">
              <a:solidFill>
                <a:schemeClr val="dk1"/>
              </a:solidFill>
              <a:latin typeface="Calibri"/>
              <a:ea typeface="Calibri"/>
              <a:cs typeface="Calibri"/>
              <a:sym typeface="Calibri"/>
            </a:endParaRPr>
          </a:p>
        </p:txBody>
      </p:sp>
      <p:cxnSp>
        <p:nvCxnSpPr>
          <p:cNvPr id="437" name="Google Shape;437;p29"/>
          <p:cNvCxnSpPr/>
          <p:nvPr/>
        </p:nvCxnSpPr>
        <p:spPr>
          <a:xfrm>
            <a:off x="5246370" y="2297430"/>
            <a:ext cx="205740" cy="0"/>
          </a:xfrm>
          <a:prstGeom prst="straightConnector1">
            <a:avLst/>
          </a:prstGeom>
          <a:noFill/>
          <a:ln cap="flat" cmpd="sng" w="19050">
            <a:solidFill>
              <a:schemeClr val="accent3"/>
            </a:solidFill>
            <a:prstDash val="solid"/>
            <a:round/>
            <a:headEnd len="sm" w="sm" type="none"/>
            <a:tailEnd len="med" w="med" type="triangle"/>
          </a:ln>
        </p:spPr>
      </p:cxnSp>
      <p:sp>
        <p:nvSpPr>
          <p:cNvPr id="438" name="Google Shape;438;p29"/>
          <p:cNvSpPr/>
          <p:nvPr/>
        </p:nvSpPr>
        <p:spPr>
          <a:xfrm>
            <a:off x="5486400" y="1783080"/>
            <a:ext cx="1097280" cy="1028700"/>
          </a:xfrm>
          <a:prstGeom prst="roundRect">
            <a:avLst>
              <a:gd fmla="val 6667" name="adj"/>
            </a:avLst>
          </a:prstGeom>
          <a:solidFill>
            <a:schemeClr val="dk2"/>
          </a:solidFill>
          <a:ln cap="flat" cmpd="sng" w="12700">
            <a:solidFill>
              <a:schemeClr val="dk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39" name="Google Shape;439;p29"/>
          <p:cNvPicPr preferRelativeResize="0"/>
          <p:nvPr/>
        </p:nvPicPr>
        <p:blipFill rotWithShape="1">
          <a:blip r:embed="rId3">
            <a:alphaModFix/>
          </a:blip>
          <a:srcRect b="0" l="0" r="0" t="0"/>
          <a:stretch/>
        </p:blipFill>
        <p:spPr>
          <a:xfrm>
            <a:off x="5897880" y="1865376"/>
            <a:ext cx="274320" cy="274320"/>
          </a:xfrm>
          <a:prstGeom prst="rect">
            <a:avLst/>
          </a:prstGeom>
          <a:noFill/>
          <a:ln>
            <a:noFill/>
          </a:ln>
        </p:spPr>
      </p:pic>
      <p:sp>
        <p:nvSpPr>
          <p:cNvPr id="440" name="Google Shape;440;p29"/>
          <p:cNvSpPr txBox="1"/>
          <p:nvPr/>
        </p:nvSpPr>
        <p:spPr>
          <a:xfrm>
            <a:off x="5520690" y="2160270"/>
            <a:ext cx="1028700" cy="58293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libri"/>
              <a:buNone/>
            </a:pPr>
            <a:r>
              <a:rPr b="1" i="0" lang="en" sz="1100" u="none" cap="none" strike="noStrike">
                <a:solidFill>
                  <a:schemeClr val="lt1"/>
                </a:solidFill>
                <a:latin typeface="Calibri"/>
                <a:ea typeface="Calibri"/>
                <a:cs typeface="Calibri"/>
                <a:sym typeface="Calibri"/>
              </a:rPr>
              <a:t>Masked double DQN</a:t>
            </a:r>
            <a:endParaRPr b="0" i="0" sz="1100" u="none" cap="none" strike="noStrike">
              <a:solidFill>
                <a:schemeClr val="dk1"/>
              </a:solidFill>
              <a:latin typeface="Calibri"/>
              <a:ea typeface="Calibri"/>
              <a:cs typeface="Calibri"/>
              <a:sym typeface="Calibri"/>
            </a:endParaRPr>
          </a:p>
        </p:txBody>
      </p:sp>
      <p:cxnSp>
        <p:nvCxnSpPr>
          <p:cNvPr id="441" name="Google Shape;441;p29"/>
          <p:cNvCxnSpPr/>
          <p:nvPr/>
        </p:nvCxnSpPr>
        <p:spPr>
          <a:xfrm>
            <a:off x="6617970" y="2297430"/>
            <a:ext cx="205740" cy="0"/>
          </a:xfrm>
          <a:prstGeom prst="straightConnector1">
            <a:avLst/>
          </a:prstGeom>
          <a:noFill/>
          <a:ln cap="flat" cmpd="sng" w="19050">
            <a:solidFill>
              <a:schemeClr val="accent3"/>
            </a:solidFill>
            <a:prstDash val="solid"/>
            <a:round/>
            <a:headEnd len="sm" w="sm" type="none"/>
            <a:tailEnd len="med" w="med" type="triangle"/>
          </a:ln>
        </p:spPr>
      </p:cxnSp>
      <p:sp>
        <p:nvSpPr>
          <p:cNvPr id="442" name="Google Shape;442;p29"/>
          <p:cNvSpPr txBox="1"/>
          <p:nvPr/>
        </p:nvSpPr>
        <p:spPr>
          <a:xfrm>
            <a:off x="7406640" y="1426464"/>
            <a:ext cx="1261872" cy="15087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3"/>
              </a:buClr>
              <a:buSzPts val="800"/>
              <a:buFont typeface="Calibri"/>
              <a:buNone/>
            </a:pPr>
            <a:r>
              <a:rPr b="0" i="1" lang="en" sz="800" u="none" cap="none" strike="noStrike">
                <a:solidFill>
                  <a:schemeClr val="accent3"/>
                </a:solidFill>
                <a:latin typeface="Calibri"/>
                <a:ea typeface="Calibri"/>
                <a:cs typeface="Calibri"/>
                <a:sym typeface="Calibri"/>
              </a:rPr>
              <a:t>next stop</a:t>
            </a:r>
            <a:endParaRPr b="0" i="0" sz="800" u="none" cap="none" strike="noStrike">
              <a:solidFill>
                <a:schemeClr val="dk1"/>
              </a:solidFill>
              <a:latin typeface="Calibri"/>
              <a:ea typeface="Calibri"/>
              <a:cs typeface="Calibri"/>
              <a:sym typeface="Calibri"/>
            </a:endParaRPr>
          </a:p>
        </p:txBody>
      </p:sp>
      <p:sp>
        <p:nvSpPr>
          <p:cNvPr id="443" name="Google Shape;443;p29"/>
          <p:cNvSpPr txBox="1"/>
          <p:nvPr/>
        </p:nvSpPr>
        <p:spPr>
          <a:xfrm>
            <a:off x="7406640" y="1563624"/>
            <a:ext cx="315468" cy="137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A</a:t>
            </a:r>
            <a:endParaRPr b="0" i="0" sz="900" u="none" cap="none" strike="noStrike">
              <a:solidFill>
                <a:schemeClr val="dk1"/>
              </a:solidFill>
              <a:latin typeface="Calibri"/>
              <a:ea typeface="Calibri"/>
              <a:cs typeface="Calibri"/>
              <a:sym typeface="Calibri"/>
            </a:endParaRPr>
          </a:p>
        </p:txBody>
      </p:sp>
      <p:sp>
        <p:nvSpPr>
          <p:cNvPr id="444" name="Google Shape;444;p29"/>
          <p:cNvSpPr txBox="1"/>
          <p:nvPr/>
        </p:nvSpPr>
        <p:spPr>
          <a:xfrm>
            <a:off x="7722108" y="1563624"/>
            <a:ext cx="315468" cy="137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B</a:t>
            </a:r>
            <a:endParaRPr b="0" i="0" sz="900" u="none" cap="none" strike="noStrike">
              <a:solidFill>
                <a:schemeClr val="dk1"/>
              </a:solidFill>
              <a:latin typeface="Calibri"/>
              <a:ea typeface="Calibri"/>
              <a:cs typeface="Calibri"/>
              <a:sym typeface="Calibri"/>
            </a:endParaRPr>
          </a:p>
        </p:txBody>
      </p:sp>
      <p:sp>
        <p:nvSpPr>
          <p:cNvPr id="445" name="Google Shape;445;p29"/>
          <p:cNvSpPr txBox="1"/>
          <p:nvPr/>
        </p:nvSpPr>
        <p:spPr>
          <a:xfrm>
            <a:off x="8037576" y="1563624"/>
            <a:ext cx="315468" cy="137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C</a:t>
            </a:r>
            <a:endParaRPr b="0" i="0" sz="900" u="none" cap="none" strike="noStrike">
              <a:solidFill>
                <a:schemeClr val="dk1"/>
              </a:solidFill>
              <a:latin typeface="Calibri"/>
              <a:ea typeface="Calibri"/>
              <a:cs typeface="Calibri"/>
              <a:sym typeface="Calibri"/>
            </a:endParaRPr>
          </a:p>
        </p:txBody>
      </p:sp>
      <p:sp>
        <p:nvSpPr>
          <p:cNvPr id="446" name="Google Shape;446;p29"/>
          <p:cNvSpPr txBox="1"/>
          <p:nvPr/>
        </p:nvSpPr>
        <p:spPr>
          <a:xfrm>
            <a:off x="8353044" y="1563624"/>
            <a:ext cx="315468" cy="137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D</a:t>
            </a:r>
            <a:endParaRPr b="0" i="0" sz="900" u="none" cap="none" strike="noStrike">
              <a:solidFill>
                <a:schemeClr val="dk1"/>
              </a:solidFill>
              <a:latin typeface="Calibri"/>
              <a:ea typeface="Calibri"/>
              <a:cs typeface="Calibri"/>
              <a:sym typeface="Calibri"/>
            </a:endParaRPr>
          </a:p>
        </p:txBody>
      </p:sp>
      <p:sp>
        <p:nvSpPr>
          <p:cNvPr id="447" name="Google Shape;447;p29"/>
          <p:cNvSpPr txBox="1"/>
          <p:nvPr/>
        </p:nvSpPr>
        <p:spPr>
          <a:xfrm>
            <a:off x="6823710" y="1714500"/>
            <a:ext cx="548640" cy="3154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narrow</a:t>
            </a:r>
            <a:endParaRPr b="0" i="0" sz="900" u="none" cap="none" strike="noStrike">
              <a:solidFill>
                <a:schemeClr val="dk1"/>
              </a:solidFill>
              <a:latin typeface="Calibri"/>
              <a:ea typeface="Calibri"/>
              <a:cs typeface="Calibri"/>
              <a:sym typeface="Calibri"/>
            </a:endParaRPr>
          </a:p>
        </p:txBody>
      </p:sp>
      <p:sp>
        <p:nvSpPr>
          <p:cNvPr id="448" name="Google Shape;448;p29"/>
          <p:cNvSpPr/>
          <p:nvPr/>
        </p:nvSpPr>
        <p:spPr>
          <a:xfrm>
            <a:off x="7406640" y="1714500"/>
            <a:ext cx="315468" cy="315468"/>
          </a:xfrm>
          <a:prstGeom prst="rect">
            <a:avLst/>
          </a:prstGeom>
          <a:solidFill>
            <a:schemeClr val="accent2">
              <a:alpha val="30196"/>
            </a:schemeClr>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49" name="Google Shape;449;p29"/>
          <p:cNvSpPr/>
          <p:nvPr/>
        </p:nvSpPr>
        <p:spPr>
          <a:xfrm>
            <a:off x="7722108" y="1714500"/>
            <a:ext cx="315468" cy="315468"/>
          </a:xfrm>
          <a:prstGeom prst="rect">
            <a:avLst/>
          </a:prstGeom>
          <a:solidFill>
            <a:schemeClr val="accent2">
              <a:alpha val="30196"/>
            </a:schemeClr>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0" name="Google Shape;450;p29"/>
          <p:cNvSpPr/>
          <p:nvPr/>
        </p:nvSpPr>
        <p:spPr>
          <a:xfrm>
            <a:off x="8037576" y="1714500"/>
            <a:ext cx="315468" cy="315468"/>
          </a:xfrm>
          <a:prstGeom prst="rect">
            <a:avLst/>
          </a:prstGeom>
          <a:solidFill>
            <a:schemeClr val="lt2"/>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1" name="Google Shape;451;p29"/>
          <p:cNvSpPr txBox="1"/>
          <p:nvPr/>
        </p:nvSpPr>
        <p:spPr>
          <a:xfrm>
            <a:off x="8037576" y="1714500"/>
            <a:ext cx="315468"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52" name="Google Shape;452;p29"/>
          <p:cNvSpPr/>
          <p:nvPr/>
        </p:nvSpPr>
        <p:spPr>
          <a:xfrm>
            <a:off x="8353044" y="1714500"/>
            <a:ext cx="315468" cy="315468"/>
          </a:xfrm>
          <a:prstGeom prst="rect">
            <a:avLst/>
          </a:prstGeom>
          <a:solidFill>
            <a:schemeClr val="accent2">
              <a:alpha val="30196"/>
            </a:schemeClr>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3" name="Google Shape;453;p29"/>
          <p:cNvSpPr txBox="1"/>
          <p:nvPr/>
        </p:nvSpPr>
        <p:spPr>
          <a:xfrm>
            <a:off x="6823710" y="2029968"/>
            <a:ext cx="548640" cy="3154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medium</a:t>
            </a:r>
            <a:endParaRPr b="0" i="0" sz="900" u="none" cap="none" strike="noStrike">
              <a:solidFill>
                <a:schemeClr val="dk1"/>
              </a:solidFill>
              <a:latin typeface="Calibri"/>
              <a:ea typeface="Calibri"/>
              <a:cs typeface="Calibri"/>
              <a:sym typeface="Calibri"/>
            </a:endParaRPr>
          </a:p>
        </p:txBody>
      </p:sp>
      <p:sp>
        <p:nvSpPr>
          <p:cNvPr id="454" name="Google Shape;454;p29"/>
          <p:cNvSpPr/>
          <p:nvPr/>
        </p:nvSpPr>
        <p:spPr>
          <a:xfrm>
            <a:off x="7406640" y="2029968"/>
            <a:ext cx="315468" cy="315468"/>
          </a:xfrm>
          <a:prstGeom prst="rect">
            <a:avLst/>
          </a:prstGeom>
          <a:solidFill>
            <a:schemeClr val="accent2">
              <a:alpha val="30196"/>
            </a:schemeClr>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5" name="Google Shape;455;p29"/>
          <p:cNvSpPr/>
          <p:nvPr/>
        </p:nvSpPr>
        <p:spPr>
          <a:xfrm>
            <a:off x="7722108" y="2029968"/>
            <a:ext cx="315468" cy="315468"/>
          </a:xfrm>
          <a:prstGeom prst="rect">
            <a:avLst/>
          </a:prstGeom>
          <a:solidFill>
            <a:schemeClr val="accent1"/>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6" name="Google Shape;456;p29"/>
          <p:cNvSpPr txBox="1"/>
          <p:nvPr/>
        </p:nvSpPr>
        <p:spPr>
          <a:xfrm>
            <a:off x="7722108" y="2029968"/>
            <a:ext cx="315468"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800"/>
              <a:buFont typeface="Calibri"/>
              <a:buNone/>
            </a:pPr>
            <a:r>
              <a:rPr b="1" i="0" lang="en" sz="800" u="none" cap="none" strike="noStrike">
                <a:solidFill>
                  <a:schemeClr val="lt1"/>
                </a:solidFill>
                <a:latin typeface="Calibri"/>
                <a:ea typeface="Calibri"/>
                <a:cs typeface="Calibri"/>
                <a:sym typeface="Calibri"/>
              </a:rPr>
              <a:t>best</a:t>
            </a:r>
            <a:endParaRPr b="0" i="0" sz="800" u="none" cap="none" strike="noStrike">
              <a:solidFill>
                <a:schemeClr val="dk1"/>
              </a:solidFill>
              <a:latin typeface="Calibri"/>
              <a:ea typeface="Calibri"/>
              <a:cs typeface="Calibri"/>
              <a:sym typeface="Calibri"/>
            </a:endParaRPr>
          </a:p>
        </p:txBody>
      </p:sp>
      <p:sp>
        <p:nvSpPr>
          <p:cNvPr id="457" name="Google Shape;457;p29"/>
          <p:cNvSpPr/>
          <p:nvPr/>
        </p:nvSpPr>
        <p:spPr>
          <a:xfrm>
            <a:off x="8037576" y="2029968"/>
            <a:ext cx="315468" cy="315468"/>
          </a:xfrm>
          <a:prstGeom prst="rect">
            <a:avLst/>
          </a:prstGeom>
          <a:solidFill>
            <a:schemeClr val="lt2"/>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58" name="Google Shape;458;p29"/>
          <p:cNvSpPr txBox="1"/>
          <p:nvPr/>
        </p:nvSpPr>
        <p:spPr>
          <a:xfrm>
            <a:off x="8037576" y="2029968"/>
            <a:ext cx="315468"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59" name="Google Shape;459;p29"/>
          <p:cNvSpPr/>
          <p:nvPr/>
        </p:nvSpPr>
        <p:spPr>
          <a:xfrm>
            <a:off x="8353044" y="2029968"/>
            <a:ext cx="315468" cy="315468"/>
          </a:xfrm>
          <a:prstGeom prst="rect">
            <a:avLst/>
          </a:prstGeom>
          <a:solidFill>
            <a:schemeClr val="accent2">
              <a:alpha val="30196"/>
            </a:schemeClr>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0" name="Google Shape;460;p29"/>
          <p:cNvSpPr txBox="1"/>
          <p:nvPr/>
        </p:nvSpPr>
        <p:spPr>
          <a:xfrm>
            <a:off x="6823710" y="2345436"/>
            <a:ext cx="548640" cy="3154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dk1"/>
              </a:buClr>
              <a:buSzPts val="900"/>
              <a:buFont typeface="Calibri"/>
              <a:buNone/>
            </a:pPr>
            <a:r>
              <a:rPr b="1" i="0" lang="en" sz="900" u="none" cap="none" strike="noStrike">
                <a:solidFill>
                  <a:schemeClr val="dk1"/>
                </a:solidFill>
                <a:latin typeface="Calibri"/>
                <a:ea typeface="Calibri"/>
                <a:cs typeface="Calibri"/>
                <a:sym typeface="Calibri"/>
              </a:rPr>
              <a:t>wide</a:t>
            </a:r>
            <a:endParaRPr b="0" i="0" sz="900" u="none" cap="none" strike="noStrike">
              <a:solidFill>
                <a:schemeClr val="dk1"/>
              </a:solidFill>
              <a:latin typeface="Calibri"/>
              <a:ea typeface="Calibri"/>
              <a:cs typeface="Calibri"/>
              <a:sym typeface="Calibri"/>
            </a:endParaRPr>
          </a:p>
        </p:txBody>
      </p:sp>
      <p:sp>
        <p:nvSpPr>
          <p:cNvPr id="461" name="Google Shape;461;p29"/>
          <p:cNvSpPr/>
          <p:nvPr/>
        </p:nvSpPr>
        <p:spPr>
          <a:xfrm>
            <a:off x="7406640" y="2345436"/>
            <a:ext cx="315468" cy="315468"/>
          </a:xfrm>
          <a:prstGeom prst="rect">
            <a:avLst/>
          </a:prstGeom>
          <a:solidFill>
            <a:schemeClr val="lt2"/>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2" name="Google Shape;462;p29"/>
          <p:cNvSpPr txBox="1"/>
          <p:nvPr/>
        </p:nvSpPr>
        <p:spPr>
          <a:xfrm>
            <a:off x="7406640" y="2345436"/>
            <a:ext cx="315468"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63" name="Google Shape;463;p29"/>
          <p:cNvSpPr/>
          <p:nvPr/>
        </p:nvSpPr>
        <p:spPr>
          <a:xfrm>
            <a:off x="7722108" y="2345436"/>
            <a:ext cx="315468" cy="315468"/>
          </a:xfrm>
          <a:prstGeom prst="rect">
            <a:avLst/>
          </a:prstGeom>
          <a:solidFill>
            <a:schemeClr val="lt2"/>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4" name="Google Shape;464;p29"/>
          <p:cNvSpPr txBox="1"/>
          <p:nvPr/>
        </p:nvSpPr>
        <p:spPr>
          <a:xfrm>
            <a:off x="7722108" y="2345436"/>
            <a:ext cx="315468"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65" name="Google Shape;465;p29"/>
          <p:cNvSpPr/>
          <p:nvPr/>
        </p:nvSpPr>
        <p:spPr>
          <a:xfrm>
            <a:off x="8037576" y="2345436"/>
            <a:ext cx="315468" cy="315468"/>
          </a:xfrm>
          <a:prstGeom prst="rect">
            <a:avLst/>
          </a:prstGeom>
          <a:solidFill>
            <a:schemeClr val="lt2"/>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6" name="Google Shape;466;p29"/>
          <p:cNvSpPr txBox="1"/>
          <p:nvPr/>
        </p:nvSpPr>
        <p:spPr>
          <a:xfrm>
            <a:off x="8037576" y="2345436"/>
            <a:ext cx="315468"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3"/>
              </a:buClr>
              <a:buSzPts val="900"/>
              <a:buFont typeface="Calibri"/>
              <a:buNone/>
            </a:pPr>
            <a:r>
              <a:rPr b="1" i="0" lang="en" sz="900" u="none" cap="none" strike="noStrike">
                <a:solidFill>
                  <a:schemeClr val="accent3"/>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467" name="Google Shape;467;p29"/>
          <p:cNvSpPr/>
          <p:nvPr/>
        </p:nvSpPr>
        <p:spPr>
          <a:xfrm>
            <a:off x="8353044" y="2345436"/>
            <a:ext cx="315468" cy="315468"/>
          </a:xfrm>
          <a:prstGeom prst="rect">
            <a:avLst/>
          </a:prstGeom>
          <a:solidFill>
            <a:schemeClr val="accent2">
              <a:alpha val="30196"/>
            </a:schemeClr>
          </a:solidFill>
          <a:ln cap="flat" cmpd="sng" w="19050">
            <a:solidFill>
              <a:schemeClr val="l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68" name="Google Shape;468;p29"/>
          <p:cNvSpPr txBox="1"/>
          <p:nvPr/>
        </p:nvSpPr>
        <p:spPr>
          <a:xfrm>
            <a:off x="6823710" y="2715768"/>
            <a:ext cx="184480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3"/>
              </a:buClr>
              <a:buSzPts val="800"/>
              <a:buFont typeface="Calibri"/>
              <a:buNone/>
            </a:pPr>
            <a:r>
              <a:rPr b="0" i="1" lang="en" sz="800" u="none" cap="none" strike="noStrike">
                <a:solidFill>
                  <a:schemeClr val="accent3"/>
                </a:solidFill>
                <a:latin typeface="Calibri"/>
                <a:ea typeface="Calibri"/>
                <a:cs typeface="Calibri"/>
                <a:sym typeface="Calibri"/>
              </a:rPr>
              <a:t>Illustration: gray pairs are masked out</a:t>
            </a:r>
            <a:endParaRPr b="0" i="0" sz="800" u="none" cap="none" strike="noStrike">
              <a:solidFill>
                <a:schemeClr val="dk1"/>
              </a:solidFill>
              <a:latin typeface="Calibri"/>
              <a:ea typeface="Calibri"/>
              <a:cs typeface="Calibri"/>
              <a:sym typeface="Calibri"/>
            </a:endParaRPr>
          </a:p>
        </p:txBody>
      </p:sp>
      <p:sp>
        <p:nvSpPr>
          <p:cNvPr id="469" name="Google Shape;469;p29"/>
          <p:cNvSpPr/>
          <p:nvPr/>
        </p:nvSpPr>
        <p:spPr>
          <a:xfrm>
            <a:off x="3326130" y="3291840"/>
            <a:ext cx="1710613" cy="1337310"/>
          </a:xfrm>
          <a:prstGeom prst="roundRect">
            <a:avLst>
              <a:gd fmla="val 4103"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0" name="Google Shape;470;p29"/>
          <p:cNvSpPr txBox="1"/>
          <p:nvPr/>
        </p:nvSpPr>
        <p:spPr>
          <a:xfrm>
            <a:off x="3449574" y="3360420"/>
            <a:ext cx="1463725" cy="123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Mask</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000"/>
              <a:buFont typeface="Calibri"/>
              <a:buNone/>
            </a:pPr>
            <a:r>
              <a:rPr b="0" i="0" lang="en" sz="950" u="none" cap="none" strike="noStrike">
                <a:solidFill>
                  <a:schemeClr val="dk1"/>
                </a:solidFill>
                <a:latin typeface="Calibri"/>
                <a:ea typeface="Calibri"/>
                <a:cs typeface="Calibri"/>
                <a:sym typeface="Calibri"/>
              </a:rPr>
              <a:t>A safety filter: a (band, next stop) pair is allowed only if the band still reaches the planned devices and the rest of the flight passes the test. If none is, use FX.</a:t>
            </a:r>
            <a:endParaRPr b="0" i="0" sz="1100" u="none" cap="none" strike="noStrike">
              <a:solidFill>
                <a:schemeClr val="dk1"/>
              </a:solidFill>
              <a:latin typeface="Calibri"/>
              <a:ea typeface="Calibri"/>
              <a:cs typeface="Calibri"/>
              <a:sym typeface="Calibri"/>
            </a:endParaRPr>
          </a:p>
        </p:txBody>
      </p:sp>
      <p:sp>
        <p:nvSpPr>
          <p:cNvPr id="471" name="Google Shape;471;p29"/>
          <p:cNvSpPr/>
          <p:nvPr/>
        </p:nvSpPr>
        <p:spPr>
          <a:xfrm>
            <a:off x="5173904" y="3291840"/>
            <a:ext cx="1710613" cy="1337310"/>
          </a:xfrm>
          <a:prstGeom prst="roundRect">
            <a:avLst>
              <a:gd fmla="val 4103"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2" name="Google Shape;472;p29"/>
          <p:cNvSpPr txBox="1"/>
          <p:nvPr/>
        </p:nvSpPr>
        <p:spPr>
          <a:xfrm>
            <a:off x="5297348" y="3360420"/>
            <a:ext cx="1463726" cy="123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Reward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000"/>
              <a:buFont typeface="Calibri"/>
              <a:buNone/>
            </a:pPr>
            <a:r>
              <a:rPr b="0" i="0" lang="en" sz="950" u="none" cap="none" strike="noStrike">
                <a:solidFill>
                  <a:schemeClr val="dk1"/>
                </a:solidFill>
                <a:latin typeface="Calibri"/>
                <a:ea typeface="Calibri"/>
                <a:cs typeface="Calibri"/>
                <a:sym typeface="Calibri"/>
              </a:rPr>
              <a:t>The score the model tries to maximize: merge weight collected minus a time cost. Promised devices left unserved are charged at the end.</a:t>
            </a:r>
            <a:endParaRPr b="0" i="0" sz="1100" u="none" cap="none" strike="noStrike">
              <a:solidFill>
                <a:schemeClr val="dk1"/>
              </a:solidFill>
              <a:latin typeface="Calibri"/>
              <a:ea typeface="Calibri"/>
              <a:cs typeface="Calibri"/>
              <a:sym typeface="Calibri"/>
            </a:endParaRPr>
          </a:p>
        </p:txBody>
      </p:sp>
      <p:sp>
        <p:nvSpPr>
          <p:cNvPr id="473" name="Google Shape;473;p29"/>
          <p:cNvSpPr/>
          <p:nvPr/>
        </p:nvSpPr>
        <p:spPr>
          <a:xfrm>
            <a:off x="7021678" y="3291840"/>
            <a:ext cx="1710613" cy="1337310"/>
          </a:xfrm>
          <a:prstGeom prst="roundRect">
            <a:avLst>
              <a:gd fmla="val 4103"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474" name="Google Shape;474;p29"/>
          <p:cNvSpPr txBox="1"/>
          <p:nvPr/>
        </p:nvSpPr>
        <p:spPr>
          <a:xfrm>
            <a:off x="7145122" y="3360420"/>
            <a:ext cx="1463726" cy="123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Training</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000"/>
              <a:buFont typeface="Calibri"/>
              <a:buNone/>
            </a:pPr>
            <a:r>
              <a:rPr b="0" i="0" lang="en" sz="950" u="none" cap="none" strike="noStrike">
                <a:solidFill>
                  <a:schemeClr val="dk1"/>
                </a:solidFill>
                <a:latin typeface="Calibri"/>
                <a:ea typeface="Calibri"/>
                <a:cs typeface="Calibri"/>
                <a:sym typeface="Calibri"/>
              </a:rPr>
              <a:t>Practiced in FerrySim, the simulator built from the same code. Discount γ = 0.75: how much later rewards count (0 = only the next stop).</a:t>
            </a:r>
            <a:endParaRPr b="0" i="0" sz="1100" u="none" cap="none" strike="noStrike">
              <a:solidFill>
                <a:schemeClr val="dk1"/>
              </a:solidFill>
              <a:latin typeface="Calibri"/>
              <a:ea typeface="Calibri"/>
              <a:cs typeface="Calibri"/>
              <a:sym typeface="Calibri"/>
            </a:endParaRPr>
          </a:p>
        </p:txBody>
      </p:sp>
      <p:sp>
        <p:nvSpPr>
          <p:cNvPr id="475" name="Google Shape;475;p29"/>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26" name="Google Shape;426;p29"/>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METHODS · FX HEURISTIC</a:t>
            </a:r>
            <a:endParaRPr sz="900"/>
          </a:p>
        </p:txBody>
      </p:sp>
      <p:sp>
        <p:nvSpPr>
          <p:cNvPr id="427" name="Google Shape;427;p29"/>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FX: two fixed rules at every stop</a:t>
            </a:r>
            <a:endParaRPr sz="2700"/>
          </a:p>
        </p:txBody>
      </p:sp>
      <p:sp>
        <p:nvSpPr>
          <p:cNvPr id="428" name="Google Shape;428;p29"/>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FX takes FQ's place in flight with no learning and no randomness. Both rules run at each Pass 1 stop.</a:t>
            </a:r>
            <a:endParaRPr sz="1300"/>
          </a:p>
        </p:txBody>
      </p:sp>
      <p:sp>
        <p:nvSpPr>
          <p:cNvPr id="475" name="Google Shape;475;p29"/>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
        <p:nvSpPr>
          <p:cNvPr id="480" name="FX card 1"/>
          <p:cNvSpPr/>
          <p:nvPr/>
        </p:nvSpPr>
        <p:spPr>
          <a:xfrm>
            <a:off x="411480" y="1417320"/>
            <a:ext cx="4087368" cy="2743200"/>
          </a:xfrm>
          <a:prstGeom prst="roundRect">
            <a:avLst>
              <a:gd name="adj" fmla="val 5517"/>
            </a:avLst>
          </a:prstGeom>
          <a:solidFill>
            <a:schemeClr val="lt2"/>
          </a:solidFill>
          <a:ln>
            <a:noFill/>
          </a:ln>
        </p:spPr>
        <p:txBody>
          <a:bodyPr rtlCol="0" anchor="ctr"/>
          <a:lstStyle/>
          <a:p/>
        </p:txBody>
      </p:sp>
      <p:sp>
        <p:nvSpPr>
          <p:cNvPr id="481" name="Oval 480"/>
          <p:cNvSpPr/>
          <p:nvPr/>
        </p:nvSpPr>
        <p:spPr>
          <a:xfrm>
            <a:off x="585216" y="1545336"/>
            <a:ext cx="274320" cy="274320"/>
          </a:xfrm>
          <a:prstGeom prst="ellipse">
            <a:avLst/>
          </a:prstGeom>
          <a:solidFill>
            <a:schemeClr val="accent1"/>
          </a:solidFill>
          <a:ln>
            <a:noFill/>
          </a:ln>
        </p:spPr>
        <p:txBody>
          <a:bodyPr rtlCol="0" anchor="ctr" lIns="0" rIns="0" tIns="0" bIns="0"/>
          <a:lstStyle/>
          <a:p>
            <a:pPr algn="ctr"/>
            <a:r>
              <a:rPr sz="1050" b="1">
                <a:solidFill>
                  <a:schemeClr val="lt1"/>
                </a:solidFill>
                <a:latin typeface="Calibri"/>
              </a:rPr>
              <a:t>1</a:t>
            </a:r>
          </a:p>
        </p:txBody>
      </p:sp>
      <p:sp>
        <p:nvSpPr>
          <p:cNvPr id="482" name="TextBox 481"/>
          <p:cNvSpPr txBox="1"/>
          <p:nvPr/>
        </p:nvSpPr>
        <p:spPr>
          <a:xfrm>
            <a:off x="969264" y="1517904"/>
            <a:ext cx="3355848" cy="237744"/>
          </a:xfrm>
          <a:prstGeom prst="rect">
            <a:avLst/>
          </a:prstGeom>
          <a:noFill/>
        </p:spPr>
        <p:txBody>
          <a:bodyPr wrap="square" lIns="0" rIns="0" tIns="0" bIns="0" anchor="t">
            <a:spAutoFit/>
          </a:bodyPr>
          <a:lstStyle/>
          <a:p>
            <a:pPr algn="l"/>
            <a:r>
              <a:rPr sz="1300" b="1" i="0">
                <a:solidFill>
                  <a:schemeClr val="dk1"/>
                </a:solidFill>
                <a:latin typeface="Calibri"/>
              </a:rPr>
              <a:t>Band on arrival: fastest covering band</a:t>
            </a:r>
          </a:p>
        </p:txBody>
      </p:sp>
      <p:sp>
        <p:nvSpPr>
          <p:cNvPr id="483" name="TextBox 482"/>
          <p:cNvSpPr txBox="1"/>
          <p:nvPr/>
        </p:nvSpPr>
        <p:spPr>
          <a:xfrm>
            <a:off x="969264" y="1764792"/>
            <a:ext cx="3355848" cy="182880"/>
          </a:xfrm>
          <a:prstGeom prst="rect">
            <a:avLst/>
          </a:prstGeom>
          <a:noFill/>
        </p:spPr>
        <p:txBody>
          <a:bodyPr wrap="square" lIns="0" rIns="0" tIns="0" bIns="0" anchor="t">
            <a:spAutoFit/>
          </a:bodyPr>
          <a:lstStyle/>
          <a:p>
            <a:pPr algn="l"/>
            <a:r>
              <a:rPr sz="900" b="0" i="1">
                <a:solidFill>
                  <a:schemeClr val="accent3"/>
                </a:solidFill>
                <a:latin typeface="Calibri"/>
              </a:rPr>
              <a:t>Closest standard name: greedy constrained selection</a:t>
            </a:r>
          </a:p>
        </p:txBody>
      </p:sp>
      <p:sp>
        <p:nvSpPr>
          <p:cNvPr id="484" name="TextBox 483"/>
          <p:cNvSpPr txBox="1"/>
          <p:nvPr/>
        </p:nvSpPr>
        <p:spPr>
          <a:xfrm>
            <a:off x="585216" y="2057400"/>
            <a:ext cx="3739896" cy="786384"/>
          </a:xfrm>
          <a:prstGeom prst="rect">
            <a:avLst/>
          </a:prstGeom>
          <a:noFill/>
        </p:spPr>
        <p:txBody>
          <a:bodyPr wrap="square" lIns="0" rIns="0" tIns="0" bIns="0" anchor="t">
            <a:spAutoFit/>
          </a:bodyPr>
          <a:lstStyle/>
          <a:p>
            <a:pPr algn="l"/>
            <a:r>
              <a:rPr sz="1050" b="1" i="0">
                <a:solidFill>
                  <a:schemeClr val="dk1"/>
                </a:solidFill>
                <a:latin typeface="Calibri"/>
              </a:rPr>
              <a:t>Filter. </a:t>
            </a:r>
            <a:r>
              <a:rPr sz="1050" b="0" i="0">
                <a:solidFill>
                  <a:schemeClr val="dk1"/>
                </a:solidFill>
                <a:latin typeface="Calibri"/>
              </a:rPr>
              <a:t>Keep the bands that reach every device the plan's band reaches, priced at the signal measured on arrival.</a:t>
            </a:r>
          </a:p>
          <a:p>
            <a:pPr algn="l">
              <a:spcBef>
                <a:spcPts val="300"/>
              </a:spcBef>
            </a:pPr>
            <a:r>
              <a:rPr sz="1050" b="1" i="0">
                <a:solidFill>
                  <a:schemeClr val="dk1"/>
                </a:solidFill>
                <a:latin typeface="Calibri"/>
              </a:rPr>
              <a:t>Pick. </a:t>
            </a:r>
            <a:r>
              <a:rPr sz="1050" b="0" i="0">
                <a:solidFill>
                  <a:schemeClr val="dk1"/>
                </a:solidFill>
                <a:latin typeface="Calibri"/>
              </a:rPr>
              <a:t>Of those, take the one with the shortest dwell (hover time while data transfers).</a:t>
            </a:r>
          </a:p>
        </p:txBody>
      </p:sp>
      <p:sp>
        <p:nvSpPr>
          <p:cNvPr id="485" name="TextBox 484"/>
          <p:cNvSpPr txBox="1"/>
          <p:nvPr/>
        </p:nvSpPr>
        <p:spPr>
          <a:xfrm>
            <a:off x="658368" y="2807208"/>
            <a:ext cx="566928" cy="155448"/>
          </a:xfrm>
          <a:prstGeom prst="rect">
            <a:avLst/>
          </a:prstGeom>
          <a:noFill/>
        </p:spPr>
        <p:txBody>
          <a:bodyPr wrap="square" lIns="0" rIns="0" tIns="0" bIns="0" anchor="t">
            <a:spAutoFit/>
          </a:bodyPr>
          <a:lstStyle/>
          <a:p>
            <a:pPr algn="l"/>
            <a:r>
              <a:rPr sz="800" b="0" i="1">
                <a:solidFill>
                  <a:schemeClr val="accent3"/>
                </a:solidFill>
                <a:latin typeface="Calibri"/>
              </a:rPr>
              <a:t>band</a:t>
            </a:r>
          </a:p>
        </p:txBody>
      </p:sp>
      <p:sp>
        <p:nvSpPr>
          <p:cNvPr id="486" name="TextBox 485"/>
          <p:cNvSpPr txBox="1"/>
          <p:nvPr/>
        </p:nvSpPr>
        <p:spPr>
          <a:xfrm>
            <a:off x="1225295" y="2807208"/>
            <a:ext cx="1170432" cy="155448"/>
          </a:xfrm>
          <a:prstGeom prst="rect">
            <a:avLst/>
          </a:prstGeom>
          <a:noFill/>
        </p:spPr>
        <p:txBody>
          <a:bodyPr wrap="square" lIns="0" rIns="0" tIns="0" bIns="0" anchor="t">
            <a:spAutoFit/>
          </a:bodyPr>
          <a:lstStyle/>
          <a:p>
            <a:pPr algn="l"/>
            <a:r>
              <a:rPr sz="800" b="0" i="1">
                <a:solidFill>
                  <a:schemeClr val="accent3"/>
                </a:solidFill>
                <a:latin typeface="Calibri"/>
              </a:rPr>
              <a:t>reaches all 3?</a:t>
            </a:r>
          </a:p>
        </p:txBody>
      </p:sp>
      <p:sp>
        <p:nvSpPr>
          <p:cNvPr id="487" name="TextBox 486"/>
          <p:cNvSpPr txBox="1"/>
          <p:nvPr/>
        </p:nvSpPr>
        <p:spPr>
          <a:xfrm>
            <a:off x="2395728" y="2807208"/>
            <a:ext cx="566928" cy="155448"/>
          </a:xfrm>
          <a:prstGeom prst="rect">
            <a:avLst/>
          </a:prstGeom>
          <a:noFill/>
        </p:spPr>
        <p:txBody>
          <a:bodyPr wrap="square" lIns="0" rIns="0" tIns="0" bIns="0" anchor="t">
            <a:spAutoFit/>
          </a:bodyPr>
          <a:lstStyle/>
          <a:p>
            <a:pPr algn="l"/>
            <a:r>
              <a:rPr sz="800" b="0" i="1">
                <a:solidFill>
                  <a:schemeClr val="accent3"/>
                </a:solidFill>
                <a:latin typeface="Calibri"/>
              </a:rPr>
              <a:t>dwell</a:t>
            </a:r>
          </a:p>
        </p:txBody>
      </p:sp>
      <p:sp>
        <p:nvSpPr>
          <p:cNvPr id="488" name="Rounded Rectangle 487"/>
          <p:cNvSpPr/>
          <p:nvPr/>
        </p:nvSpPr>
        <p:spPr>
          <a:xfrm>
            <a:off x="585216" y="2980944"/>
            <a:ext cx="3739896" cy="201168"/>
          </a:xfrm>
          <a:prstGeom prst="roundRect">
            <a:avLst>
              <a:gd name="adj" fmla="val 18000"/>
            </a:avLst>
          </a:prstGeom>
          <a:solidFill>
            <a:schemeClr val="lt1"/>
          </a:solidFill>
          <a:ln>
            <a:noFill/>
          </a:ln>
        </p:spPr>
        <p:txBody>
          <a:bodyPr rtlCol="0" anchor="ctr"/>
          <a:lstStyle/>
          <a:p/>
        </p:txBody>
      </p:sp>
      <p:sp>
        <p:nvSpPr>
          <p:cNvPr id="489" name="TextBox 488"/>
          <p:cNvSpPr txBox="1"/>
          <p:nvPr/>
        </p:nvSpPr>
        <p:spPr>
          <a:xfrm>
            <a:off x="658368" y="2980944"/>
            <a:ext cx="566928" cy="201168"/>
          </a:xfrm>
          <a:prstGeom prst="rect">
            <a:avLst/>
          </a:prstGeom>
          <a:noFill/>
        </p:spPr>
        <p:txBody>
          <a:bodyPr wrap="square" lIns="0" rIns="0" tIns="0" bIns="0" anchor="ctr">
            <a:spAutoFit/>
          </a:bodyPr>
          <a:lstStyle/>
          <a:p>
            <a:pPr algn="l"/>
            <a:r>
              <a:rPr sz="950" b="1" i="0">
                <a:solidFill>
                  <a:schemeClr val="dk1"/>
                </a:solidFill>
                <a:latin typeface="Calibri"/>
              </a:rPr>
              <a:t>narrow</a:t>
            </a:r>
          </a:p>
        </p:txBody>
      </p:sp>
      <p:sp>
        <p:nvSpPr>
          <p:cNvPr id="490" name="TextBox 489"/>
          <p:cNvSpPr txBox="1"/>
          <p:nvPr/>
        </p:nvSpPr>
        <p:spPr>
          <a:xfrm>
            <a:off x="1225295" y="2980944"/>
            <a:ext cx="1170432" cy="201168"/>
          </a:xfrm>
          <a:prstGeom prst="rect">
            <a:avLst/>
          </a:prstGeom>
          <a:noFill/>
        </p:spPr>
        <p:txBody>
          <a:bodyPr wrap="square" lIns="0" rIns="0" tIns="0" bIns="0" anchor="ctr">
            <a:spAutoFit/>
          </a:bodyPr>
          <a:lstStyle/>
          <a:p>
            <a:pPr algn="l"/>
            <a:r>
              <a:rPr sz="950" b="0" i="0">
                <a:solidFill>
                  <a:schemeClr val="dk1"/>
                </a:solidFill>
                <a:latin typeface="Calibri"/>
              </a:rPr>
              <a:t>✓</a:t>
            </a:r>
          </a:p>
        </p:txBody>
      </p:sp>
      <p:sp>
        <p:nvSpPr>
          <p:cNvPr id="491" name="TextBox 490"/>
          <p:cNvSpPr txBox="1"/>
          <p:nvPr/>
        </p:nvSpPr>
        <p:spPr>
          <a:xfrm>
            <a:off x="2395728" y="2980944"/>
            <a:ext cx="566928" cy="201168"/>
          </a:xfrm>
          <a:prstGeom prst="rect">
            <a:avLst/>
          </a:prstGeom>
          <a:noFill/>
        </p:spPr>
        <p:txBody>
          <a:bodyPr wrap="square" lIns="0" rIns="0" tIns="0" bIns="0" anchor="ctr">
            <a:spAutoFit/>
          </a:bodyPr>
          <a:lstStyle/>
          <a:p>
            <a:pPr algn="l"/>
            <a:r>
              <a:rPr sz="950" b="0" i="0">
                <a:solidFill>
                  <a:schemeClr val="dk1"/>
                </a:solidFill>
                <a:latin typeface="Calibri"/>
              </a:rPr>
              <a:t>31 s</a:t>
            </a:r>
          </a:p>
        </p:txBody>
      </p:sp>
      <p:sp>
        <p:nvSpPr>
          <p:cNvPr id="492" name="Rounded Rectangle 491"/>
          <p:cNvSpPr/>
          <p:nvPr/>
        </p:nvSpPr>
        <p:spPr>
          <a:xfrm>
            <a:off x="585216" y="3209544"/>
            <a:ext cx="3739896" cy="201168"/>
          </a:xfrm>
          <a:prstGeom prst="roundRect">
            <a:avLst>
              <a:gd name="adj" fmla="val 18000"/>
            </a:avLst>
          </a:prstGeom>
          <a:solidFill>
            <a:schemeClr val="accent1">
              <a:alpha val="14118"/>
            </a:schemeClr>
          </a:solidFill>
          <a:ln w="15875">
            <a:solidFill>
              <a:schemeClr val="accent1"/>
            </a:solidFill>
          </a:ln>
        </p:spPr>
        <p:txBody>
          <a:bodyPr rtlCol="0" anchor="ctr"/>
          <a:lstStyle/>
          <a:p/>
        </p:txBody>
      </p:sp>
      <p:sp>
        <p:nvSpPr>
          <p:cNvPr id="493" name="TextBox 492"/>
          <p:cNvSpPr txBox="1"/>
          <p:nvPr/>
        </p:nvSpPr>
        <p:spPr>
          <a:xfrm>
            <a:off x="658368" y="3209544"/>
            <a:ext cx="566928" cy="201168"/>
          </a:xfrm>
          <a:prstGeom prst="rect">
            <a:avLst/>
          </a:prstGeom>
          <a:noFill/>
        </p:spPr>
        <p:txBody>
          <a:bodyPr wrap="square" lIns="0" rIns="0" tIns="0" bIns="0" anchor="ctr">
            <a:spAutoFit/>
          </a:bodyPr>
          <a:lstStyle/>
          <a:p>
            <a:pPr algn="l"/>
            <a:r>
              <a:rPr sz="950" b="1" i="0">
                <a:solidFill>
                  <a:schemeClr val="accent1"/>
                </a:solidFill>
                <a:latin typeface="Calibri"/>
              </a:rPr>
              <a:t>medium</a:t>
            </a:r>
          </a:p>
        </p:txBody>
      </p:sp>
      <p:sp>
        <p:nvSpPr>
          <p:cNvPr id="494" name="TextBox 493"/>
          <p:cNvSpPr txBox="1"/>
          <p:nvPr/>
        </p:nvSpPr>
        <p:spPr>
          <a:xfrm>
            <a:off x="1225295" y="3209544"/>
            <a:ext cx="1170432" cy="201168"/>
          </a:xfrm>
          <a:prstGeom prst="rect">
            <a:avLst/>
          </a:prstGeom>
          <a:noFill/>
        </p:spPr>
        <p:txBody>
          <a:bodyPr wrap="square" lIns="0" rIns="0" tIns="0" bIns="0" anchor="ctr">
            <a:spAutoFit/>
          </a:bodyPr>
          <a:lstStyle/>
          <a:p>
            <a:pPr algn="l"/>
            <a:r>
              <a:rPr sz="950" b="0" i="0">
                <a:solidFill>
                  <a:schemeClr val="accent1"/>
                </a:solidFill>
                <a:latin typeface="Calibri"/>
              </a:rPr>
              <a:t>✓</a:t>
            </a:r>
          </a:p>
        </p:txBody>
      </p:sp>
      <p:sp>
        <p:nvSpPr>
          <p:cNvPr id="495" name="TextBox 494"/>
          <p:cNvSpPr txBox="1"/>
          <p:nvPr/>
        </p:nvSpPr>
        <p:spPr>
          <a:xfrm>
            <a:off x="2395728" y="3209544"/>
            <a:ext cx="566928" cy="201168"/>
          </a:xfrm>
          <a:prstGeom prst="rect">
            <a:avLst/>
          </a:prstGeom>
          <a:noFill/>
        </p:spPr>
        <p:txBody>
          <a:bodyPr wrap="square" lIns="0" rIns="0" tIns="0" bIns="0" anchor="ctr">
            <a:spAutoFit/>
          </a:bodyPr>
          <a:lstStyle/>
          <a:p>
            <a:pPr algn="l"/>
            <a:r>
              <a:rPr sz="950" b="0" i="0">
                <a:solidFill>
                  <a:schemeClr val="accent1"/>
                </a:solidFill>
                <a:latin typeface="Calibri"/>
              </a:rPr>
              <a:t>19 s</a:t>
            </a:r>
          </a:p>
        </p:txBody>
      </p:sp>
      <p:sp>
        <p:nvSpPr>
          <p:cNvPr id="496" name="TextBox 495"/>
          <p:cNvSpPr txBox="1"/>
          <p:nvPr/>
        </p:nvSpPr>
        <p:spPr>
          <a:xfrm>
            <a:off x="3410711" y="3209544"/>
            <a:ext cx="841248" cy="201168"/>
          </a:xfrm>
          <a:prstGeom prst="rect">
            <a:avLst/>
          </a:prstGeom>
          <a:noFill/>
        </p:spPr>
        <p:txBody>
          <a:bodyPr wrap="square" lIns="0" rIns="0" tIns="0" bIns="0" anchor="ctr">
            <a:spAutoFit/>
          </a:bodyPr>
          <a:lstStyle/>
          <a:p>
            <a:pPr algn="r"/>
            <a:r>
              <a:rPr sz="950" b="1" i="0">
                <a:solidFill>
                  <a:schemeClr val="accent1"/>
                </a:solidFill>
                <a:latin typeface="Calibri"/>
              </a:rPr>
              <a:t>FX picks</a:t>
            </a:r>
          </a:p>
        </p:txBody>
      </p:sp>
      <p:sp>
        <p:nvSpPr>
          <p:cNvPr id="497" name="Rounded Rectangle 496"/>
          <p:cNvSpPr/>
          <p:nvPr/>
        </p:nvSpPr>
        <p:spPr>
          <a:xfrm>
            <a:off x="585216" y="3438144"/>
            <a:ext cx="3739896" cy="201168"/>
          </a:xfrm>
          <a:prstGeom prst="roundRect">
            <a:avLst>
              <a:gd name="adj" fmla="val 18000"/>
            </a:avLst>
          </a:prstGeom>
          <a:solidFill>
            <a:schemeClr val="lt1"/>
          </a:solidFill>
          <a:ln>
            <a:noFill/>
          </a:ln>
        </p:spPr>
        <p:txBody>
          <a:bodyPr rtlCol="0" anchor="ctr"/>
          <a:lstStyle/>
          <a:p/>
        </p:txBody>
      </p:sp>
      <p:sp>
        <p:nvSpPr>
          <p:cNvPr id="498" name="TextBox 497"/>
          <p:cNvSpPr txBox="1"/>
          <p:nvPr/>
        </p:nvSpPr>
        <p:spPr>
          <a:xfrm>
            <a:off x="658368" y="3438144"/>
            <a:ext cx="566928" cy="201168"/>
          </a:xfrm>
          <a:prstGeom prst="rect">
            <a:avLst/>
          </a:prstGeom>
          <a:noFill/>
        </p:spPr>
        <p:txBody>
          <a:bodyPr wrap="square" lIns="0" rIns="0" tIns="0" bIns="0" anchor="ctr">
            <a:spAutoFit/>
          </a:bodyPr>
          <a:lstStyle/>
          <a:p>
            <a:pPr algn="l"/>
            <a:r>
              <a:rPr sz="950" b="1" i="0">
                <a:solidFill>
                  <a:schemeClr val="dk1"/>
                </a:solidFill>
                <a:latin typeface="Calibri"/>
              </a:rPr>
              <a:t>wide</a:t>
            </a:r>
          </a:p>
        </p:txBody>
      </p:sp>
      <p:sp>
        <p:nvSpPr>
          <p:cNvPr id="499" name="TextBox 498"/>
          <p:cNvSpPr txBox="1"/>
          <p:nvPr/>
        </p:nvSpPr>
        <p:spPr>
          <a:xfrm>
            <a:off x="1225295" y="3438144"/>
            <a:ext cx="1170432" cy="201168"/>
          </a:xfrm>
          <a:prstGeom prst="rect">
            <a:avLst/>
          </a:prstGeom>
          <a:noFill/>
        </p:spPr>
        <p:txBody>
          <a:bodyPr wrap="square" lIns="0" rIns="0" tIns="0" bIns="0" anchor="ctr">
            <a:spAutoFit/>
          </a:bodyPr>
          <a:lstStyle/>
          <a:p>
            <a:pPr algn="l"/>
            <a:r>
              <a:rPr sz="950" b="0" i="0">
                <a:solidFill>
                  <a:schemeClr val="dk1"/>
                </a:solidFill>
                <a:latin typeface="Calibri"/>
              </a:rPr>
              <a:t>✕  2 of 3</a:t>
            </a:r>
          </a:p>
        </p:txBody>
      </p:sp>
      <p:sp>
        <p:nvSpPr>
          <p:cNvPr id="500" name="TextBox 499"/>
          <p:cNvSpPr txBox="1"/>
          <p:nvPr/>
        </p:nvSpPr>
        <p:spPr>
          <a:xfrm>
            <a:off x="2395728" y="3438144"/>
            <a:ext cx="566928" cy="201168"/>
          </a:xfrm>
          <a:prstGeom prst="rect">
            <a:avLst/>
          </a:prstGeom>
          <a:noFill/>
        </p:spPr>
        <p:txBody>
          <a:bodyPr wrap="square" lIns="0" rIns="0" tIns="0" bIns="0" anchor="ctr">
            <a:spAutoFit/>
          </a:bodyPr>
          <a:lstStyle/>
          <a:p>
            <a:pPr algn="l"/>
            <a:r>
              <a:rPr sz="950" b="0" i="0">
                <a:solidFill>
                  <a:schemeClr val="dk1"/>
                </a:solidFill>
                <a:latin typeface="Calibri"/>
              </a:rPr>
              <a:t>9 s</a:t>
            </a:r>
          </a:p>
        </p:txBody>
      </p:sp>
      <p:sp>
        <p:nvSpPr>
          <p:cNvPr id="501" name="TextBox 500"/>
          <p:cNvSpPr txBox="1"/>
          <p:nvPr/>
        </p:nvSpPr>
        <p:spPr>
          <a:xfrm>
            <a:off x="585216" y="3749039"/>
            <a:ext cx="3739896" cy="365760"/>
          </a:xfrm>
          <a:prstGeom prst="rect">
            <a:avLst/>
          </a:prstGeom>
          <a:noFill/>
        </p:spPr>
        <p:txBody>
          <a:bodyPr wrap="square" lIns="0" rIns="0" tIns="0" bIns="0" anchor="t">
            <a:spAutoFit/>
          </a:bodyPr>
          <a:lstStyle/>
          <a:p>
            <a:pPr algn="l"/>
            <a:r>
              <a:rPr sz="1050" b="1" i="0">
                <a:solidFill>
                  <a:schemeClr val="accent2"/>
                </a:solidFill>
                <a:latin typeface="Calibri"/>
              </a:rPr>
              <a:t>Guarantee. </a:t>
            </a:r>
            <a:r>
              <a:rPr sz="1050" b="0" i="0">
                <a:solidFill>
                  <a:schemeClr val="dk1"/>
                </a:solidFill>
                <a:latin typeface="Calibri"/>
              </a:rPr>
              <a:t>The plan's band always passes the filter, so FX never hovers longer than F and never reaches fewer devices.</a:t>
            </a:r>
          </a:p>
        </p:txBody>
      </p:sp>
      <p:sp>
        <p:nvSpPr>
          <p:cNvPr id="502" name="FX card 2"/>
          <p:cNvSpPr/>
          <p:nvPr/>
        </p:nvSpPr>
        <p:spPr>
          <a:xfrm>
            <a:off x="4645152" y="1417320"/>
            <a:ext cx="4087368" cy="2743200"/>
          </a:xfrm>
          <a:prstGeom prst="roundRect">
            <a:avLst>
              <a:gd name="adj" fmla="val 5517"/>
            </a:avLst>
          </a:prstGeom>
          <a:solidFill>
            <a:schemeClr val="lt2"/>
          </a:solidFill>
          <a:ln>
            <a:noFill/>
          </a:ln>
        </p:spPr>
        <p:txBody>
          <a:bodyPr rtlCol="0" anchor="ctr"/>
          <a:lstStyle/>
          <a:p/>
        </p:txBody>
      </p:sp>
      <p:sp>
        <p:nvSpPr>
          <p:cNvPr id="503" name="Oval 502"/>
          <p:cNvSpPr/>
          <p:nvPr/>
        </p:nvSpPr>
        <p:spPr>
          <a:xfrm>
            <a:off x="4818888" y="1545336"/>
            <a:ext cx="274320" cy="274320"/>
          </a:xfrm>
          <a:prstGeom prst="ellipse">
            <a:avLst/>
          </a:prstGeom>
          <a:solidFill>
            <a:schemeClr val="accent1"/>
          </a:solidFill>
          <a:ln>
            <a:noFill/>
          </a:ln>
        </p:spPr>
        <p:txBody>
          <a:bodyPr rtlCol="0" anchor="ctr" lIns="0" rIns="0" tIns="0" bIns="0"/>
          <a:lstStyle/>
          <a:p>
            <a:pPr algn="ctr"/>
            <a:r>
              <a:rPr sz="1050" b="1">
                <a:solidFill>
                  <a:schemeClr val="lt1"/>
                </a:solidFill>
                <a:latin typeface="Calibri"/>
              </a:rPr>
              <a:t>2</a:t>
            </a:r>
          </a:p>
        </p:txBody>
      </p:sp>
      <p:sp>
        <p:nvSpPr>
          <p:cNvPr id="504" name="TextBox 503"/>
          <p:cNvSpPr txBox="1"/>
          <p:nvPr/>
        </p:nvSpPr>
        <p:spPr>
          <a:xfrm>
            <a:off x="5202936" y="1517904"/>
            <a:ext cx="3355848" cy="237744"/>
          </a:xfrm>
          <a:prstGeom prst="rect">
            <a:avLst/>
          </a:prstGeom>
          <a:noFill/>
        </p:spPr>
        <p:txBody>
          <a:bodyPr wrap="square" lIns="0" rIns="0" tIns="0" bIns="0" anchor="t">
            <a:spAutoFit/>
          </a:bodyPr>
          <a:lstStyle/>
          <a:p>
            <a:pPr algn="l"/>
            <a:r>
              <a:rPr sz="1300" b="1" i="0">
                <a:solidFill>
                  <a:schemeClr val="dk1"/>
                </a:solidFill>
                <a:latin typeface="Calibri"/>
              </a:rPr>
              <a:t>Next stop: nearest stop that still fits</a:t>
            </a:r>
          </a:p>
        </p:txBody>
      </p:sp>
      <p:sp>
        <p:nvSpPr>
          <p:cNvPr id="505" name="TextBox 504"/>
          <p:cNvSpPr txBox="1"/>
          <p:nvPr/>
        </p:nvSpPr>
        <p:spPr>
          <a:xfrm>
            <a:off x="5202936" y="1764792"/>
            <a:ext cx="3355848" cy="182880"/>
          </a:xfrm>
          <a:prstGeom prst="rect">
            <a:avLst/>
          </a:prstGeom>
          <a:noFill/>
        </p:spPr>
        <p:txBody>
          <a:bodyPr wrap="square" lIns="0" rIns="0" tIns="0" bIns="0" anchor="t">
            <a:spAutoFit/>
          </a:bodyPr>
          <a:lstStyle/>
          <a:p>
            <a:pPr algn="l"/>
            <a:r>
              <a:rPr sz="900" b="0" i="1">
                <a:solidFill>
                  <a:schemeClr val="accent3"/>
                </a:solidFill>
                <a:latin typeface="Calibri"/>
              </a:rPr>
              <a:t>Closest standard name: nearest-neighbour heuristic</a:t>
            </a:r>
          </a:p>
        </p:txBody>
      </p:sp>
      <p:sp>
        <p:nvSpPr>
          <p:cNvPr id="506" name="TextBox 505"/>
          <p:cNvSpPr txBox="1"/>
          <p:nvPr/>
        </p:nvSpPr>
        <p:spPr>
          <a:xfrm>
            <a:off x="4818888" y="2057400"/>
            <a:ext cx="3739896" cy="786384"/>
          </a:xfrm>
          <a:prstGeom prst="rect">
            <a:avLst/>
          </a:prstGeom>
          <a:noFill/>
        </p:spPr>
        <p:txBody>
          <a:bodyPr wrap="square" lIns="0" rIns="0" tIns="0" bIns="0" anchor="t">
            <a:spAutoFit/>
          </a:bodyPr>
          <a:lstStyle/>
          <a:p>
            <a:pPr algn="l"/>
            <a:r>
              <a:rPr sz="1050" b="1" i="0">
                <a:solidFill>
                  <a:schemeClr val="dk1"/>
                </a:solidFill>
                <a:latin typeface="Calibri"/>
              </a:rPr>
              <a:t>Rank. </a:t>
            </a:r>
            <a:r>
              <a:rPr sz="1050" b="0" i="0">
                <a:solidFill>
                  <a:schemeClr val="dk1"/>
                </a:solidFill>
                <a:latin typeface="Calibri"/>
              </a:rPr>
              <a:t>Order the remaining stops by distance from the drone.</a:t>
            </a:r>
          </a:p>
          <a:p>
            <a:pPr algn="l">
              <a:spcBef>
                <a:spcPts val="300"/>
              </a:spcBef>
            </a:pPr>
            <a:r>
              <a:rPr sz="1050" b="1" i="0">
                <a:solidFill>
                  <a:schemeClr val="dk1"/>
                </a:solidFill>
                <a:latin typeface="Calibri"/>
              </a:rPr>
              <a:t>Pick. </a:t>
            </a:r>
            <a:r>
              <a:rPr sz="1050" b="0" i="0">
                <a:solidFill>
                  <a:schemeClr val="dk1"/>
                </a:solidFill>
                <a:latin typeface="Calibri"/>
              </a:rPr>
              <a:t>Take the nearest one that can move to the front while the rest of the plan still passes the feasibility test. If none can, keep the plan's next stop.</a:t>
            </a:r>
          </a:p>
        </p:txBody>
      </p:sp>
      <p:sp>
        <p:nvSpPr>
          <p:cNvPr id="507" name="TextBox 506"/>
          <p:cNvSpPr txBox="1"/>
          <p:nvPr/>
        </p:nvSpPr>
        <p:spPr>
          <a:xfrm>
            <a:off x="4892040" y="2807208"/>
            <a:ext cx="384048" cy="155448"/>
          </a:xfrm>
          <a:prstGeom prst="rect">
            <a:avLst/>
          </a:prstGeom>
          <a:noFill/>
        </p:spPr>
        <p:txBody>
          <a:bodyPr wrap="square" lIns="0" rIns="0" tIns="0" bIns="0" anchor="t">
            <a:spAutoFit/>
          </a:bodyPr>
          <a:lstStyle/>
          <a:p>
            <a:pPr algn="l"/>
            <a:r>
              <a:rPr sz="800" b="0" i="1">
                <a:solidFill>
                  <a:schemeClr val="accent3"/>
                </a:solidFill>
                <a:latin typeface="Calibri"/>
              </a:rPr>
              <a:t>stop</a:t>
            </a:r>
          </a:p>
        </p:txBody>
      </p:sp>
      <p:sp>
        <p:nvSpPr>
          <p:cNvPr id="508" name="TextBox 507"/>
          <p:cNvSpPr txBox="1"/>
          <p:nvPr/>
        </p:nvSpPr>
        <p:spPr>
          <a:xfrm>
            <a:off x="5276088" y="2807208"/>
            <a:ext cx="566928" cy="155448"/>
          </a:xfrm>
          <a:prstGeom prst="rect">
            <a:avLst/>
          </a:prstGeom>
          <a:noFill/>
        </p:spPr>
        <p:txBody>
          <a:bodyPr wrap="square" lIns="0" rIns="0" tIns="0" bIns="0" anchor="t">
            <a:spAutoFit/>
          </a:bodyPr>
          <a:lstStyle/>
          <a:p>
            <a:pPr algn="l"/>
            <a:r>
              <a:rPr sz="800" b="0" i="1">
                <a:solidFill>
                  <a:schemeClr val="accent3"/>
                </a:solidFill>
                <a:latin typeface="Calibri"/>
              </a:rPr>
              <a:t>distance</a:t>
            </a:r>
          </a:p>
        </p:txBody>
      </p:sp>
      <p:sp>
        <p:nvSpPr>
          <p:cNvPr id="509" name="TextBox 508"/>
          <p:cNvSpPr txBox="1"/>
          <p:nvPr/>
        </p:nvSpPr>
        <p:spPr>
          <a:xfrm>
            <a:off x="5843016" y="2807208"/>
            <a:ext cx="1572768" cy="155448"/>
          </a:xfrm>
          <a:prstGeom prst="rect">
            <a:avLst/>
          </a:prstGeom>
          <a:noFill/>
        </p:spPr>
        <p:txBody>
          <a:bodyPr wrap="square" lIns="0" rIns="0" tIns="0" bIns="0" anchor="t">
            <a:spAutoFit/>
          </a:bodyPr>
          <a:lstStyle/>
          <a:p>
            <a:pPr algn="l"/>
            <a:r>
              <a:rPr sz="800" b="0" i="1">
                <a:solidFill>
                  <a:schemeClr val="accent3"/>
                </a:solidFill>
                <a:latin typeface="Calibri"/>
              </a:rPr>
              <a:t>rest of plan fits?</a:t>
            </a:r>
          </a:p>
        </p:txBody>
      </p:sp>
      <p:sp>
        <p:nvSpPr>
          <p:cNvPr id="510" name="Rounded Rectangle 509"/>
          <p:cNvSpPr/>
          <p:nvPr/>
        </p:nvSpPr>
        <p:spPr>
          <a:xfrm>
            <a:off x="4818888" y="2980944"/>
            <a:ext cx="3739896" cy="201168"/>
          </a:xfrm>
          <a:prstGeom prst="roundRect">
            <a:avLst>
              <a:gd name="adj" fmla="val 18000"/>
            </a:avLst>
          </a:prstGeom>
          <a:solidFill>
            <a:schemeClr val="lt1"/>
          </a:solidFill>
          <a:ln>
            <a:noFill/>
          </a:ln>
        </p:spPr>
        <p:txBody>
          <a:bodyPr rtlCol="0" anchor="ctr"/>
          <a:lstStyle/>
          <a:p/>
        </p:txBody>
      </p:sp>
      <p:sp>
        <p:nvSpPr>
          <p:cNvPr id="511" name="TextBox 510"/>
          <p:cNvSpPr txBox="1"/>
          <p:nvPr/>
        </p:nvSpPr>
        <p:spPr>
          <a:xfrm>
            <a:off x="4892040" y="2980944"/>
            <a:ext cx="384048" cy="201168"/>
          </a:xfrm>
          <a:prstGeom prst="rect">
            <a:avLst/>
          </a:prstGeom>
          <a:noFill/>
        </p:spPr>
        <p:txBody>
          <a:bodyPr wrap="square" lIns="0" rIns="0" tIns="0" bIns="0" anchor="ctr">
            <a:spAutoFit/>
          </a:bodyPr>
          <a:lstStyle/>
          <a:p>
            <a:pPr algn="l"/>
            <a:r>
              <a:rPr sz="950" b="1" i="0">
                <a:solidFill>
                  <a:schemeClr val="dk1"/>
                </a:solidFill>
                <a:latin typeface="Calibri"/>
              </a:rPr>
              <a:t>A</a:t>
            </a:r>
          </a:p>
        </p:txBody>
      </p:sp>
      <p:sp>
        <p:nvSpPr>
          <p:cNvPr id="512" name="TextBox 511"/>
          <p:cNvSpPr txBox="1"/>
          <p:nvPr/>
        </p:nvSpPr>
        <p:spPr>
          <a:xfrm>
            <a:off x="5276088" y="2980944"/>
            <a:ext cx="566928" cy="201168"/>
          </a:xfrm>
          <a:prstGeom prst="rect">
            <a:avLst/>
          </a:prstGeom>
          <a:noFill/>
        </p:spPr>
        <p:txBody>
          <a:bodyPr wrap="square" lIns="0" rIns="0" tIns="0" bIns="0" anchor="ctr">
            <a:spAutoFit/>
          </a:bodyPr>
          <a:lstStyle/>
          <a:p>
            <a:pPr algn="l"/>
            <a:r>
              <a:rPr sz="950" b="0" i="0">
                <a:solidFill>
                  <a:schemeClr val="dk1"/>
                </a:solidFill>
                <a:latin typeface="Calibri"/>
              </a:rPr>
              <a:t>40 m</a:t>
            </a:r>
          </a:p>
        </p:txBody>
      </p:sp>
      <p:sp>
        <p:nvSpPr>
          <p:cNvPr id="513" name="TextBox 512"/>
          <p:cNvSpPr txBox="1"/>
          <p:nvPr/>
        </p:nvSpPr>
        <p:spPr>
          <a:xfrm>
            <a:off x="5843016" y="2980944"/>
            <a:ext cx="1572768" cy="201168"/>
          </a:xfrm>
          <a:prstGeom prst="rect">
            <a:avLst/>
          </a:prstGeom>
          <a:noFill/>
        </p:spPr>
        <p:txBody>
          <a:bodyPr wrap="square" lIns="0" rIns="0" tIns="0" bIns="0" anchor="ctr">
            <a:spAutoFit/>
          </a:bodyPr>
          <a:lstStyle/>
          <a:p>
            <a:pPr algn="l"/>
            <a:r>
              <a:rPr sz="950" b="0" i="0">
                <a:solidFill>
                  <a:schemeClr val="dk1"/>
                </a:solidFill>
                <a:latin typeface="Calibri"/>
              </a:rPr>
              <a:t>✕  a deadline is missed</a:t>
            </a:r>
          </a:p>
        </p:txBody>
      </p:sp>
      <p:sp>
        <p:nvSpPr>
          <p:cNvPr id="514" name="Rounded Rectangle 513"/>
          <p:cNvSpPr/>
          <p:nvPr/>
        </p:nvSpPr>
        <p:spPr>
          <a:xfrm>
            <a:off x="4818888" y="3209544"/>
            <a:ext cx="3739896" cy="201168"/>
          </a:xfrm>
          <a:prstGeom prst="roundRect">
            <a:avLst>
              <a:gd name="adj" fmla="val 18000"/>
            </a:avLst>
          </a:prstGeom>
          <a:solidFill>
            <a:schemeClr val="accent1">
              <a:alpha val="14118"/>
            </a:schemeClr>
          </a:solidFill>
          <a:ln w="15875">
            <a:solidFill>
              <a:schemeClr val="accent1"/>
            </a:solidFill>
          </a:ln>
        </p:spPr>
        <p:txBody>
          <a:bodyPr rtlCol="0" anchor="ctr"/>
          <a:lstStyle/>
          <a:p/>
        </p:txBody>
      </p:sp>
      <p:sp>
        <p:nvSpPr>
          <p:cNvPr id="515" name="TextBox 514"/>
          <p:cNvSpPr txBox="1"/>
          <p:nvPr/>
        </p:nvSpPr>
        <p:spPr>
          <a:xfrm>
            <a:off x="4892040" y="3209544"/>
            <a:ext cx="384048" cy="201168"/>
          </a:xfrm>
          <a:prstGeom prst="rect">
            <a:avLst/>
          </a:prstGeom>
          <a:noFill/>
        </p:spPr>
        <p:txBody>
          <a:bodyPr wrap="square" lIns="0" rIns="0" tIns="0" bIns="0" anchor="ctr">
            <a:spAutoFit/>
          </a:bodyPr>
          <a:lstStyle/>
          <a:p>
            <a:pPr algn="l"/>
            <a:r>
              <a:rPr sz="950" b="1" i="0">
                <a:solidFill>
                  <a:schemeClr val="accent1"/>
                </a:solidFill>
                <a:latin typeface="Calibri"/>
              </a:rPr>
              <a:t>B</a:t>
            </a:r>
          </a:p>
        </p:txBody>
      </p:sp>
      <p:sp>
        <p:nvSpPr>
          <p:cNvPr id="516" name="TextBox 515"/>
          <p:cNvSpPr txBox="1"/>
          <p:nvPr/>
        </p:nvSpPr>
        <p:spPr>
          <a:xfrm>
            <a:off x="5276088" y="3209544"/>
            <a:ext cx="566928" cy="201168"/>
          </a:xfrm>
          <a:prstGeom prst="rect">
            <a:avLst/>
          </a:prstGeom>
          <a:noFill/>
        </p:spPr>
        <p:txBody>
          <a:bodyPr wrap="square" lIns="0" rIns="0" tIns="0" bIns="0" anchor="ctr">
            <a:spAutoFit/>
          </a:bodyPr>
          <a:lstStyle/>
          <a:p>
            <a:pPr algn="l"/>
            <a:r>
              <a:rPr sz="950" b="0" i="0">
                <a:solidFill>
                  <a:schemeClr val="accent1"/>
                </a:solidFill>
                <a:latin typeface="Calibri"/>
              </a:rPr>
              <a:t>65 m</a:t>
            </a:r>
          </a:p>
        </p:txBody>
      </p:sp>
      <p:sp>
        <p:nvSpPr>
          <p:cNvPr id="517" name="TextBox 516"/>
          <p:cNvSpPr txBox="1"/>
          <p:nvPr/>
        </p:nvSpPr>
        <p:spPr>
          <a:xfrm>
            <a:off x="5843016" y="3209544"/>
            <a:ext cx="1572768" cy="201168"/>
          </a:xfrm>
          <a:prstGeom prst="rect">
            <a:avLst/>
          </a:prstGeom>
          <a:noFill/>
        </p:spPr>
        <p:txBody>
          <a:bodyPr wrap="square" lIns="0" rIns="0" tIns="0" bIns="0" anchor="ctr">
            <a:spAutoFit/>
          </a:bodyPr>
          <a:lstStyle/>
          <a:p>
            <a:pPr algn="l"/>
            <a:r>
              <a:rPr sz="950" b="0" i="0">
                <a:solidFill>
                  <a:schemeClr val="accent1"/>
                </a:solidFill>
                <a:latin typeface="Calibri"/>
              </a:rPr>
              <a:t>✓</a:t>
            </a:r>
          </a:p>
        </p:txBody>
      </p:sp>
      <p:sp>
        <p:nvSpPr>
          <p:cNvPr id="518" name="TextBox 517"/>
          <p:cNvSpPr txBox="1"/>
          <p:nvPr/>
        </p:nvSpPr>
        <p:spPr>
          <a:xfrm>
            <a:off x="7644383" y="3209544"/>
            <a:ext cx="841248" cy="201168"/>
          </a:xfrm>
          <a:prstGeom prst="rect">
            <a:avLst/>
          </a:prstGeom>
          <a:noFill/>
        </p:spPr>
        <p:txBody>
          <a:bodyPr wrap="square" lIns="0" rIns="0" tIns="0" bIns="0" anchor="ctr">
            <a:spAutoFit/>
          </a:bodyPr>
          <a:lstStyle/>
          <a:p>
            <a:pPr algn="r"/>
            <a:r>
              <a:rPr sz="950" b="1" i="0">
                <a:solidFill>
                  <a:schemeClr val="accent1"/>
                </a:solidFill>
                <a:latin typeface="Calibri"/>
              </a:rPr>
              <a:t>FX flies here</a:t>
            </a:r>
          </a:p>
        </p:txBody>
      </p:sp>
      <p:sp>
        <p:nvSpPr>
          <p:cNvPr id="519" name="Rounded Rectangle 518"/>
          <p:cNvSpPr/>
          <p:nvPr/>
        </p:nvSpPr>
        <p:spPr>
          <a:xfrm>
            <a:off x="4818888" y="3438144"/>
            <a:ext cx="3739896" cy="201168"/>
          </a:xfrm>
          <a:prstGeom prst="roundRect">
            <a:avLst>
              <a:gd name="adj" fmla="val 18000"/>
            </a:avLst>
          </a:prstGeom>
          <a:solidFill>
            <a:schemeClr val="lt1"/>
          </a:solidFill>
          <a:ln>
            <a:noFill/>
          </a:ln>
        </p:spPr>
        <p:txBody>
          <a:bodyPr rtlCol="0" anchor="ctr"/>
          <a:lstStyle/>
          <a:p/>
        </p:txBody>
      </p:sp>
      <p:sp>
        <p:nvSpPr>
          <p:cNvPr id="520" name="TextBox 519"/>
          <p:cNvSpPr txBox="1"/>
          <p:nvPr/>
        </p:nvSpPr>
        <p:spPr>
          <a:xfrm>
            <a:off x="4892040" y="3438144"/>
            <a:ext cx="384048" cy="201168"/>
          </a:xfrm>
          <a:prstGeom prst="rect">
            <a:avLst/>
          </a:prstGeom>
          <a:noFill/>
        </p:spPr>
        <p:txBody>
          <a:bodyPr wrap="square" lIns="0" rIns="0" tIns="0" bIns="0" anchor="ctr">
            <a:spAutoFit/>
          </a:bodyPr>
          <a:lstStyle/>
          <a:p>
            <a:pPr algn="l"/>
            <a:r>
              <a:rPr sz="950" b="1" i="0">
                <a:solidFill>
                  <a:schemeClr val="dk1"/>
                </a:solidFill>
                <a:latin typeface="Calibri"/>
              </a:rPr>
              <a:t>C</a:t>
            </a:r>
          </a:p>
        </p:txBody>
      </p:sp>
      <p:sp>
        <p:nvSpPr>
          <p:cNvPr id="521" name="TextBox 520"/>
          <p:cNvSpPr txBox="1"/>
          <p:nvPr/>
        </p:nvSpPr>
        <p:spPr>
          <a:xfrm>
            <a:off x="5276088" y="3438144"/>
            <a:ext cx="566928" cy="201168"/>
          </a:xfrm>
          <a:prstGeom prst="rect">
            <a:avLst/>
          </a:prstGeom>
          <a:noFill/>
        </p:spPr>
        <p:txBody>
          <a:bodyPr wrap="square" lIns="0" rIns="0" tIns="0" bIns="0" anchor="ctr">
            <a:spAutoFit/>
          </a:bodyPr>
          <a:lstStyle/>
          <a:p>
            <a:pPr algn="l"/>
            <a:r>
              <a:rPr sz="950" b="0" i="0">
                <a:solidFill>
                  <a:schemeClr val="dk1"/>
                </a:solidFill>
                <a:latin typeface="Calibri"/>
              </a:rPr>
              <a:t>90 m</a:t>
            </a:r>
          </a:p>
        </p:txBody>
      </p:sp>
      <p:sp>
        <p:nvSpPr>
          <p:cNvPr id="522" name="TextBox 521"/>
          <p:cNvSpPr txBox="1"/>
          <p:nvPr/>
        </p:nvSpPr>
        <p:spPr>
          <a:xfrm>
            <a:off x="5843016" y="3438144"/>
            <a:ext cx="1572768" cy="201168"/>
          </a:xfrm>
          <a:prstGeom prst="rect">
            <a:avLst/>
          </a:prstGeom>
          <a:noFill/>
        </p:spPr>
        <p:txBody>
          <a:bodyPr wrap="square" lIns="0" rIns="0" tIns="0" bIns="0" anchor="ctr">
            <a:spAutoFit/>
          </a:bodyPr>
          <a:lstStyle/>
          <a:p>
            <a:pPr algn="l"/>
            <a:r>
              <a:rPr sz="950" b="0" i="0">
                <a:solidFill>
                  <a:schemeClr val="dk1"/>
                </a:solidFill>
                <a:latin typeface="Calibri"/>
              </a:rPr>
              <a:t>✓</a:t>
            </a:r>
          </a:p>
        </p:txBody>
      </p:sp>
      <p:sp>
        <p:nvSpPr>
          <p:cNvPr id="523" name="TextBox 522"/>
          <p:cNvSpPr txBox="1"/>
          <p:nvPr/>
        </p:nvSpPr>
        <p:spPr>
          <a:xfrm>
            <a:off x="4818888" y="3749039"/>
            <a:ext cx="3739896" cy="365760"/>
          </a:xfrm>
          <a:prstGeom prst="rect">
            <a:avLst/>
          </a:prstGeom>
          <a:noFill/>
        </p:spPr>
        <p:txBody>
          <a:bodyPr wrap="square" lIns="0" rIns="0" tIns="0" bIns="0" anchor="t">
            <a:spAutoFit/>
          </a:bodyPr>
          <a:lstStyle/>
          <a:p>
            <a:pPr algn="l"/>
            <a:r>
              <a:rPr sz="1050" b="1" i="0">
                <a:solidFill>
                  <a:schemeClr val="accent2"/>
                </a:solidFill>
                <a:latin typeface="Calibri"/>
              </a:rPr>
              <a:t>Unchanged. </a:t>
            </a:r>
            <a:r>
              <a:rPr sz="1050" b="0" i="0">
                <a:solidFill>
                  <a:schemeClr val="dk1"/>
                </a:solidFill>
                <a:latin typeface="Calibri"/>
              </a:rPr>
              <a:t>The first stop after takeoff is always the plan's own, and Pass 2 (delivery) flies exactly as F does.</a:t>
            </a:r>
          </a:p>
        </p:txBody>
      </p:sp>
      <p:sp>
        <p:nvSpPr>
          <p:cNvPr id="524" name="TextBox 523"/>
          <p:cNvSpPr txBox="1"/>
          <p:nvPr/>
        </p:nvSpPr>
        <p:spPr>
          <a:xfrm>
            <a:off x="411480" y="4261104"/>
            <a:ext cx="8321040" cy="402336"/>
          </a:xfrm>
          <a:prstGeom prst="rect">
            <a:avLst/>
          </a:prstGeom>
          <a:noFill/>
        </p:spPr>
        <p:txBody>
          <a:bodyPr wrap="square" lIns="0" rIns="0" tIns="0" bIns="0" anchor="t">
            <a:spAutoFit/>
          </a:bodyPr>
          <a:lstStyle/>
          <a:p>
            <a:pPr algn="l"/>
            <a:r>
              <a:rPr sz="900" b="0" i="1">
                <a:solidFill>
                  <a:schemeClr val="accent3"/>
                </a:solidFill>
                <a:latin typeface="Calibri"/>
              </a:rPr>
              <a:t>Table rows are made-up examples. Ties go to more devices, then the plan's band (band rule), and to position, then the plan's order (stop rule). A first version picked the band that reached the most devices: it added a median 60.5 s of hovering and some last-stop switches ended past the budget, so it was dropped.</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1"/>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EXPERIMENTAL SETUP</a:t>
            </a:r>
            <a:endParaRPr sz="900"/>
          </a:p>
        </p:txBody>
      </p:sp>
      <p:sp>
        <p:nvSpPr>
          <p:cNvPr id="489" name="Google Shape;489;p31"/>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How I tested it</a:t>
            </a:r>
            <a:endParaRPr sz="2700"/>
          </a:p>
        </p:txBody>
      </p:sp>
      <p:sp>
        <p:nvSpPr>
          <p:cNvPr id="490" name="Google Shape;490;p31"/>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A prototype trains a real model; flight, radio and energy are simulated by models, not measured in the field.</a:t>
            </a:r>
            <a:endParaRPr sz="1300"/>
          </a:p>
        </p:txBody>
      </p:sp>
      <p:sp>
        <p:nvSpPr>
          <p:cNvPr id="491" name="Google Shape;491;p31"/>
          <p:cNvSpPr/>
          <p:nvPr/>
        </p:nvSpPr>
        <p:spPr>
          <a:xfrm>
            <a:off x="411480" y="1481328"/>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92" name="Google Shape;492;p31"/>
          <p:cNvPicPr preferRelativeResize="0"/>
          <p:nvPr/>
        </p:nvPicPr>
        <p:blipFill rotWithShape="1">
          <a:blip r:embed="rId3">
            <a:alphaModFix/>
          </a:blip>
          <a:srcRect b="0" l="0" r="0" t="0"/>
          <a:stretch/>
        </p:blipFill>
        <p:spPr>
          <a:xfrm>
            <a:off x="505023" y="1574871"/>
            <a:ext cx="238110" cy="238110"/>
          </a:xfrm>
          <a:prstGeom prst="rect">
            <a:avLst/>
          </a:prstGeom>
          <a:noFill/>
          <a:ln>
            <a:noFill/>
          </a:ln>
        </p:spPr>
      </p:pic>
      <p:sp>
        <p:nvSpPr>
          <p:cNvPr id="493" name="Google Shape;493;p31"/>
          <p:cNvSpPr txBox="1"/>
          <p:nvPr/>
        </p:nvSpPr>
        <p:spPr>
          <a:xfrm>
            <a:off x="994410" y="1440180"/>
            <a:ext cx="4046220" cy="72009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Prototype</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Server, drones and devices run as separate programs that talk over TCP (the standard reliable network protocol), as they would in a real deployment.</a:t>
            </a:r>
            <a:endParaRPr b="0" i="0" sz="1300" u="none" cap="none" strike="noStrike">
              <a:solidFill>
                <a:schemeClr val="dk1"/>
              </a:solidFill>
              <a:latin typeface="Calibri"/>
              <a:ea typeface="Calibri"/>
              <a:cs typeface="Calibri"/>
              <a:sym typeface="Calibri"/>
            </a:endParaRPr>
          </a:p>
        </p:txBody>
      </p:sp>
      <p:sp>
        <p:nvSpPr>
          <p:cNvPr id="494" name="Google Shape;494;p31"/>
          <p:cNvSpPr/>
          <p:nvPr/>
        </p:nvSpPr>
        <p:spPr>
          <a:xfrm>
            <a:off x="411480" y="2283714"/>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95" name="Google Shape;495;p31"/>
          <p:cNvPicPr preferRelativeResize="0"/>
          <p:nvPr/>
        </p:nvPicPr>
        <p:blipFill rotWithShape="1">
          <a:blip r:embed="rId4">
            <a:alphaModFix/>
          </a:blip>
          <a:srcRect b="0" l="0" r="0" t="0"/>
          <a:stretch/>
        </p:blipFill>
        <p:spPr>
          <a:xfrm>
            <a:off x="505023" y="2377257"/>
            <a:ext cx="238110" cy="238110"/>
          </a:xfrm>
          <a:prstGeom prst="rect">
            <a:avLst/>
          </a:prstGeom>
          <a:noFill/>
          <a:ln>
            <a:noFill/>
          </a:ln>
        </p:spPr>
      </p:pic>
      <p:sp>
        <p:nvSpPr>
          <p:cNvPr id="496" name="Google Shape;496;p31"/>
          <p:cNvSpPr txBox="1"/>
          <p:nvPr/>
        </p:nvSpPr>
        <p:spPr>
          <a:xfrm>
            <a:off x="994410" y="2242566"/>
            <a:ext cx="4046220" cy="72009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Real learning task</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The model is an MLP (a small neural network) that labels network traffic as attack or normal, on the CICIoT2023 dataset: 20,000 training flows, 6,000 test flows.</a:t>
            </a:r>
            <a:endParaRPr b="0" i="0" sz="1300" u="none" cap="none" strike="noStrike">
              <a:solidFill>
                <a:schemeClr val="dk1"/>
              </a:solidFill>
              <a:latin typeface="Calibri"/>
              <a:ea typeface="Calibri"/>
              <a:cs typeface="Calibri"/>
              <a:sym typeface="Calibri"/>
            </a:endParaRPr>
          </a:p>
        </p:txBody>
      </p:sp>
      <p:sp>
        <p:nvSpPr>
          <p:cNvPr id="497" name="Google Shape;497;p31"/>
          <p:cNvSpPr/>
          <p:nvPr/>
        </p:nvSpPr>
        <p:spPr>
          <a:xfrm>
            <a:off x="411480" y="3086100"/>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498" name="Google Shape;498;p31"/>
          <p:cNvPicPr preferRelativeResize="0"/>
          <p:nvPr/>
        </p:nvPicPr>
        <p:blipFill rotWithShape="1">
          <a:blip r:embed="rId5">
            <a:alphaModFix/>
          </a:blip>
          <a:srcRect b="0" l="0" r="0" t="0"/>
          <a:stretch/>
        </p:blipFill>
        <p:spPr>
          <a:xfrm>
            <a:off x="505023" y="3179643"/>
            <a:ext cx="238110" cy="238110"/>
          </a:xfrm>
          <a:prstGeom prst="rect">
            <a:avLst/>
          </a:prstGeom>
          <a:noFill/>
          <a:ln>
            <a:noFill/>
          </a:ln>
        </p:spPr>
      </p:pic>
      <p:sp>
        <p:nvSpPr>
          <p:cNvPr id="499" name="Google Shape;499;p31"/>
          <p:cNvSpPr txBox="1"/>
          <p:nvPr/>
        </p:nvSpPr>
        <p:spPr>
          <a:xfrm>
            <a:off x="994410" y="3044952"/>
            <a:ext cx="4046220" cy="72009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Simulated physics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Flight at 5 m/s, an interference-heavy radio channel and a rotary-wing energy model are computed by models, not measured in the field.</a:t>
            </a:r>
            <a:endParaRPr b="0" i="0" sz="1300" u="none" cap="none" strike="noStrike">
              <a:solidFill>
                <a:schemeClr val="dk1"/>
              </a:solidFill>
              <a:latin typeface="Calibri"/>
              <a:ea typeface="Calibri"/>
              <a:cs typeface="Calibri"/>
              <a:sym typeface="Calibri"/>
            </a:endParaRPr>
          </a:p>
        </p:txBody>
      </p:sp>
      <p:sp>
        <p:nvSpPr>
          <p:cNvPr id="500" name="Google Shape;500;p31"/>
          <p:cNvSpPr/>
          <p:nvPr/>
        </p:nvSpPr>
        <p:spPr>
          <a:xfrm>
            <a:off x="411480" y="3888486"/>
            <a:ext cx="425196" cy="425196"/>
          </a:xfrm>
          <a:prstGeom prst="ellipse">
            <a:avLst/>
          </a:prstGeom>
          <a:solidFill>
            <a:schemeClr val="accent2"/>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501" name="Google Shape;501;p31"/>
          <p:cNvPicPr preferRelativeResize="0"/>
          <p:nvPr/>
        </p:nvPicPr>
        <p:blipFill rotWithShape="1">
          <a:blip r:embed="rId6">
            <a:alphaModFix/>
          </a:blip>
          <a:srcRect b="0" l="0" r="0" t="0"/>
          <a:stretch/>
        </p:blipFill>
        <p:spPr>
          <a:xfrm>
            <a:off x="505023" y="3982029"/>
            <a:ext cx="238110" cy="238110"/>
          </a:xfrm>
          <a:prstGeom prst="rect">
            <a:avLst/>
          </a:prstGeom>
          <a:noFill/>
          <a:ln>
            <a:noFill/>
          </a:ln>
        </p:spPr>
      </p:pic>
      <p:sp>
        <p:nvSpPr>
          <p:cNvPr id="502" name="Google Shape;502;p31"/>
          <p:cNvSpPr txBox="1"/>
          <p:nvPr/>
        </p:nvSpPr>
        <p:spPr>
          <a:xfrm>
            <a:off x="994410" y="3847338"/>
            <a:ext cx="4046220" cy="72009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Scenarios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A 200 × 200 m field; 6, 12 or 24 devices in the prototype (FerrySim, my simulator, scales to 96); 1 to 3 drones.</a:t>
            </a:r>
            <a:endParaRPr b="0" i="0" sz="1300" u="none" cap="none" strike="noStrike">
              <a:solidFill>
                <a:schemeClr val="dk1"/>
              </a:solidFill>
              <a:latin typeface="Calibri"/>
              <a:ea typeface="Calibri"/>
              <a:cs typeface="Calibri"/>
              <a:sym typeface="Calibri"/>
            </a:endParaRPr>
          </a:p>
        </p:txBody>
      </p:sp>
      <p:sp>
        <p:nvSpPr>
          <p:cNvPr id="503" name="Google Shape;503;p31"/>
          <p:cNvSpPr/>
          <p:nvPr/>
        </p:nvSpPr>
        <p:spPr>
          <a:xfrm>
            <a:off x="5177790" y="1440180"/>
            <a:ext cx="3554501" cy="1874520"/>
          </a:xfrm>
          <a:prstGeom prst="roundRect">
            <a:avLst>
              <a:gd fmla="val 3200"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4" name="Google Shape;504;p31"/>
          <p:cNvSpPr txBox="1"/>
          <p:nvPr/>
        </p:nvSpPr>
        <p:spPr>
          <a:xfrm>
            <a:off x="5383530" y="1522476"/>
            <a:ext cx="3143021" cy="1755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How I score it</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100"/>
              <a:buFont typeface="Calibri"/>
              <a:buChar char="•"/>
            </a:pPr>
            <a:r>
              <a:rPr b="0" i="0" lang="en" sz="1000" u="none" cap="none" strike="noStrike">
                <a:solidFill>
                  <a:schemeClr val="dk1"/>
                </a:solidFill>
                <a:latin typeface="Calibri"/>
                <a:ea typeface="Calibri"/>
                <a:cs typeface="Calibri"/>
                <a:sym typeface="Calibri"/>
              </a:rPr>
              <a:t>Primary metric: time to reach 71% test accuracy (τ = 0.71). Lower is better.</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400"/>
              </a:spcBef>
              <a:spcAft>
                <a:spcPts val="0"/>
              </a:spcAft>
              <a:buClr>
                <a:schemeClr val="dk1"/>
              </a:buClr>
              <a:buSzPts val="1100"/>
              <a:buFont typeface="Calibri"/>
              <a:buChar char="•"/>
            </a:pPr>
            <a:r>
              <a:rPr b="0" i="0" lang="en" sz="1000" u="none" cap="none" strike="noStrike">
                <a:solidFill>
                  <a:schemeClr val="dk1"/>
                </a:solidFill>
                <a:latin typeface="Calibri"/>
                <a:ea typeface="Calibri"/>
                <a:cs typeface="Calibri"/>
                <a:sym typeface="Calibri"/>
              </a:rPr>
              <a:t>Two time budgets: knee (150 s at 6 devices, where more time stops helping) and stress (half of it)</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400"/>
              </a:spcBef>
              <a:spcAft>
                <a:spcPts val="0"/>
              </a:spcAft>
              <a:buClr>
                <a:schemeClr val="dk1"/>
              </a:buClr>
              <a:buSzPts val="1100"/>
              <a:buFont typeface="Calibri"/>
              <a:buChar char="•"/>
            </a:pPr>
            <a:r>
              <a:rPr b="0" i="0" lang="en" sz="1000" u="none" cap="none" strike="noStrike">
                <a:solidFill>
                  <a:schemeClr val="dk1"/>
                </a:solidFill>
                <a:latin typeface="Calibri"/>
                <a:ea typeface="Calibri"/>
                <a:cs typeface="Calibri"/>
                <a:sym typeface="Calibri"/>
              </a:rPr>
              <a:t>20 paired seeds: every scheduler gets the same layout, channel and data</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400"/>
              </a:spcBef>
              <a:spcAft>
                <a:spcPts val="0"/>
              </a:spcAft>
              <a:buClr>
                <a:schemeClr val="dk1"/>
              </a:buClr>
              <a:buSzPts val="1100"/>
              <a:buFont typeface="Calibri"/>
              <a:buChar char="•"/>
            </a:pPr>
            <a:r>
              <a:rPr b="0" i="0" lang="en" sz="1000" u="none" cap="none" strike="noStrike">
                <a:solidFill>
                  <a:schemeClr val="dk1"/>
                </a:solidFill>
                <a:latin typeface="Calibri"/>
                <a:ea typeface="Calibri"/>
                <a:cs typeface="Calibri"/>
                <a:sym typeface="Calibri"/>
              </a:rPr>
              <a:t>A claim needs a 95% CI that excludes 0 and a Holm‑corrected p &lt; 0.05 (a stricter test when many comparisons are made)</a:t>
            </a:r>
            <a:endParaRPr b="0" i="0" sz="1300" u="none" cap="none" strike="noStrike">
              <a:solidFill>
                <a:schemeClr val="dk1"/>
              </a:solidFill>
              <a:latin typeface="Calibri"/>
              <a:ea typeface="Calibri"/>
              <a:cs typeface="Calibri"/>
              <a:sym typeface="Calibri"/>
            </a:endParaRPr>
          </a:p>
        </p:txBody>
      </p:sp>
      <p:sp>
        <p:nvSpPr>
          <p:cNvPr id="505" name="Google Shape;505;p31"/>
          <p:cNvSpPr txBox="1"/>
          <p:nvPr/>
        </p:nvSpPr>
        <p:spPr>
          <a:xfrm>
            <a:off x="5177790" y="3401568"/>
            <a:ext cx="3554501" cy="2331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1" i="0" lang="en" sz="1100" u="none" cap="none" strike="noStrike">
                <a:solidFill>
                  <a:schemeClr val="dk1"/>
                </a:solidFill>
                <a:latin typeface="Calibri"/>
                <a:ea typeface="Calibri"/>
                <a:cs typeface="Calibri"/>
                <a:sym typeface="Calibri"/>
              </a:rPr>
              <a:t>Seven baselines (existing methods), wide band</a:t>
            </a:r>
            <a:endParaRPr b="0" i="0" sz="1100" u="none" cap="none" strike="noStrike">
              <a:solidFill>
                <a:schemeClr val="dk1"/>
              </a:solidFill>
              <a:latin typeface="Calibri"/>
              <a:ea typeface="Calibri"/>
              <a:cs typeface="Calibri"/>
              <a:sym typeface="Calibri"/>
            </a:endParaRPr>
          </a:p>
        </p:txBody>
      </p:sp>
      <p:sp>
        <p:nvSpPr>
          <p:cNvPr id="506" name="Google Shape;506;p31"/>
          <p:cNvSpPr/>
          <p:nvPr/>
        </p:nvSpPr>
        <p:spPr>
          <a:xfrm>
            <a:off x="5177790" y="3707892"/>
            <a:ext cx="1538935" cy="315468"/>
          </a:xfrm>
          <a:prstGeom prst="roundRect">
            <a:avLst>
              <a:gd fmla="val 50000" name="adj"/>
            </a:avLst>
          </a:prstGeom>
          <a:solidFill>
            <a:schemeClr val="lt2"/>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7" name="Google Shape;507;p31"/>
          <p:cNvSpPr txBox="1"/>
          <p:nvPr/>
        </p:nvSpPr>
        <p:spPr>
          <a:xfrm>
            <a:off x="5177790" y="3707892"/>
            <a:ext cx="1538935"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H1 (my earlier heuristic)</a:t>
            </a:r>
            <a:endParaRPr b="0" i="0" sz="1000" u="none" cap="none" strike="noStrike">
              <a:solidFill>
                <a:schemeClr val="dk1"/>
              </a:solidFill>
              <a:latin typeface="Calibri"/>
              <a:ea typeface="Calibri"/>
              <a:cs typeface="Calibri"/>
              <a:sym typeface="Calibri"/>
            </a:endParaRPr>
          </a:p>
        </p:txBody>
      </p:sp>
      <p:sp>
        <p:nvSpPr>
          <p:cNvPr id="508" name="Google Shape;508;p31"/>
          <p:cNvSpPr/>
          <p:nvPr/>
        </p:nvSpPr>
        <p:spPr>
          <a:xfrm>
            <a:off x="6799022" y="3707892"/>
            <a:ext cx="574700" cy="315468"/>
          </a:xfrm>
          <a:prstGeom prst="roundRect">
            <a:avLst>
              <a:gd fmla="val 50000" name="adj"/>
            </a:avLst>
          </a:prstGeom>
          <a:solidFill>
            <a:schemeClr val="lt2"/>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09" name="Google Shape;509;p31"/>
          <p:cNvSpPr txBox="1"/>
          <p:nvPr/>
        </p:nvSpPr>
        <p:spPr>
          <a:xfrm>
            <a:off x="6799022" y="3707892"/>
            <a:ext cx="574700"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MAX-AoI</a:t>
            </a:r>
            <a:endParaRPr b="0" i="0" sz="1000" u="none" cap="none" strike="noStrike">
              <a:solidFill>
                <a:schemeClr val="dk1"/>
              </a:solidFill>
              <a:latin typeface="Calibri"/>
              <a:ea typeface="Calibri"/>
              <a:cs typeface="Calibri"/>
              <a:sym typeface="Calibri"/>
            </a:endParaRPr>
          </a:p>
        </p:txBody>
      </p:sp>
      <p:sp>
        <p:nvSpPr>
          <p:cNvPr id="510" name="Google Shape;510;p31"/>
          <p:cNvSpPr/>
          <p:nvPr/>
        </p:nvSpPr>
        <p:spPr>
          <a:xfrm>
            <a:off x="7456018" y="3707892"/>
            <a:ext cx="422452" cy="315468"/>
          </a:xfrm>
          <a:prstGeom prst="roundRect">
            <a:avLst>
              <a:gd fmla="val 50000" name="adj"/>
            </a:avLst>
          </a:prstGeom>
          <a:solidFill>
            <a:schemeClr val="lt2"/>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1" name="Google Shape;511;p31"/>
          <p:cNvSpPr txBox="1"/>
          <p:nvPr/>
        </p:nvSpPr>
        <p:spPr>
          <a:xfrm>
            <a:off x="7456018" y="3707892"/>
            <a:ext cx="422452"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Oort</a:t>
            </a:r>
            <a:endParaRPr b="0" i="0" sz="1000" u="none" cap="none" strike="noStrike">
              <a:solidFill>
                <a:schemeClr val="dk1"/>
              </a:solidFill>
              <a:latin typeface="Calibri"/>
              <a:ea typeface="Calibri"/>
              <a:cs typeface="Calibri"/>
              <a:sym typeface="Calibri"/>
            </a:endParaRPr>
          </a:p>
        </p:txBody>
      </p:sp>
      <p:sp>
        <p:nvSpPr>
          <p:cNvPr id="512" name="Google Shape;512;p31"/>
          <p:cNvSpPr/>
          <p:nvPr/>
        </p:nvSpPr>
        <p:spPr>
          <a:xfrm>
            <a:off x="5177790" y="4119372"/>
            <a:ext cx="879196" cy="315468"/>
          </a:xfrm>
          <a:prstGeom prst="roundRect">
            <a:avLst>
              <a:gd fmla="val 50000" name="adj"/>
            </a:avLst>
          </a:prstGeom>
          <a:solidFill>
            <a:schemeClr val="lt2"/>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3" name="Google Shape;513;p31"/>
          <p:cNvSpPr txBox="1"/>
          <p:nvPr/>
        </p:nvSpPr>
        <p:spPr>
          <a:xfrm>
            <a:off x="5177790" y="4119372"/>
            <a:ext cx="879196"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Whittle index</a:t>
            </a:r>
            <a:endParaRPr b="0" i="0" sz="1000" u="none" cap="none" strike="noStrike">
              <a:solidFill>
                <a:schemeClr val="dk1"/>
              </a:solidFill>
              <a:latin typeface="Calibri"/>
              <a:ea typeface="Calibri"/>
              <a:cs typeface="Calibri"/>
              <a:sym typeface="Calibri"/>
            </a:endParaRPr>
          </a:p>
        </p:txBody>
      </p:sp>
      <p:sp>
        <p:nvSpPr>
          <p:cNvPr id="514" name="Google Shape;514;p31"/>
          <p:cNvSpPr/>
          <p:nvPr/>
        </p:nvSpPr>
        <p:spPr>
          <a:xfrm>
            <a:off x="6139282" y="4119372"/>
            <a:ext cx="777697" cy="315468"/>
          </a:xfrm>
          <a:prstGeom prst="roundRect">
            <a:avLst>
              <a:gd fmla="val 50000" name="adj"/>
            </a:avLst>
          </a:prstGeom>
          <a:solidFill>
            <a:schemeClr val="lt2"/>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5" name="Google Shape;515;p31"/>
          <p:cNvSpPr txBox="1"/>
          <p:nvPr/>
        </p:nvSpPr>
        <p:spPr>
          <a:xfrm>
            <a:off x="6139282" y="4119372"/>
            <a:ext cx="777697"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FedEx route</a:t>
            </a:r>
            <a:endParaRPr b="0" i="0" sz="1000" u="none" cap="none" strike="noStrike">
              <a:solidFill>
                <a:schemeClr val="dk1"/>
              </a:solidFill>
              <a:latin typeface="Calibri"/>
              <a:ea typeface="Calibri"/>
              <a:cs typeface="Calibri"/>
              <a:sym typeface="Calibri"/>
            </a:endParaRPr>
          </a:p>
        </p:txBody>
      </p:sp>
      <p:sp>
        <p:nvSpPr>
          <p:cNvPr id="516" name="Google Shape;516;p31"/>
          <p:cNvSpPr/>
          <p:nvPr/>
        </p:nvSpPr>
        <p:spPr>
          <a:xfrm>
            <a:off x="6999274" y="4119372"/>
            <a:ext cx="473202" cy="315468"/>
          </a:xfrm>
          <a:prstGeom prst="roundRect">
            <a:avLst>
              <a:gd fmla="val 50000" name="adj"/>
            </a:avLst>
          </a:prstGeom>
          <a:solidFill>
            <a:schemeClr val="lt2"/>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7" name="Google Shape;517;p31"/>
          <p:cNvSpPr txBox="1"/>
          <p:nvPr/>
        </p:nvSpPr>
        <p:spPr>
          <a:xfrm>
            <a:off x="6999274" y="4119372"/>
            <a:ext cx="473202"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FedCS</a:t>
            </a:r>
            <a:endParaRPr b="0" i="0" sz="1000" u="none" cap="none" strike="noStrike">
              <a:solidFill>
                <a:schemeClr val="dk1"/>
              </a:solidFill>
              <a:latin typeface="Calibri"/>
              <a:ea typeface="Calibri"/>
              <a:cs typeface="Calibri"/>
              <a:sym typeface="Calibri"/>
            </a:endParaRPr>
          </a:p>
        </p:txBody>
      </p:sp>
      <p:sp>
        <p:nvSpPr>
          <p:cNvPr id="518" name="Google Shape;518;p31"/>
          <p:cNvSpPr/>
          <p:nvPr/>
        </p:nvSpPr>
        <p:spPr>
          <a:xfrm>
            <a:off x="7554773" y="4119372"/>
            <a:ext cx="726948" cy="315468"/>
          </a:xfrm>
          <a:prstGeom prst="roundRect">
            <a:avLst>
              <a:gd fmla="val 50000" name="adj"/>
            </a:avLst>
          </a:prstGeom>
          <a:solidFill>
            <a:schemeClr val="lt2"/>
          </a:solidFill>
          <a:ln cap="flat" cmpd="sng" w="9525">
            <a:solidFill>
              <a:schemeClr val="accent3"/>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19" name="Google Shape;519;p31"/>
          <p:cNvSpPr txBox="1"/>
          <p:nvPr/>
        </p:nvSpPr>
        <p:spPr>
          <a:xfrm>
            <a:off x="7554773" y="4119372"/>
            <a:ext cx="726948" cy="3154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rPr b="0" i="0" lang="en" sz="1000" u="none" cap="none" strike="noStrike">
                <a:solidFill>
                  <a:schemeClr val="dk1"/>
                </a:solidFill>
                <a:latin typeface="Calibri"/>
                <a:ea typeface="Calibri"/>
                <a:cs typeface="Calibri"/>
                <a:sym typeface="Calibri"/>
              </a:rPr>
              <a:t>DQN (Chen)</a:t>
            </a:r>
            <a:endParaRPr b="0" i="0" sz="1000" u="none" cap="none" strike="noStrike">
              <a:solidFill>
                <a:schemeClr val="dk1"/>
              </a:solidFill>
              <a:latin typeface="Calibri"/>
              <a:ea typeface="Calibri"/>
              <a:cs typeface="Calibri"/>
              <a:sym typeface="Calibri"/>
            </a:endParaRPr>
          </a:p>
        </p:txBody>
      </p:sp>
      <p:sp>
        <p:nvSpPr>
          <p:cNvPr id="520" name="Google Shape;520;p31"/>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
        <p:nvSpPr>
          <p:cNvPr id="521" name="Google Shape;521;p31"/>
          <p:cNvSpPr txBox="1"/>
          <p:nvPr/>
        </p:nvSpPr>
        <p:spPr>
          <a:xfrm>
            <a:off x="5175504" y="4480560"/>
            <a:ext cx="355701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900" u="none" cap="none" strike="noStrike">
                <a:solidFill>
                  <a:schemeClr val="accent3"/>
                </a:solidFill>
                <a:latin typeface="Calibri"/>
                <a:ea typeface="Calibri"/>
                <a:cs typeface="Calibri"/>
                <a:sym typeface="Calibri"/>
              </a:rPr>
              <a:t>MAX-AoI: visit the longest-waiting device first. Sources: FedEx [7], Chen [8], FedCS [10], Oort [11], Whittle index (Cui) [12].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2"/>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AGAINST THE STATE OF THE ART</a:t>
            </a:r>
            <a:endParaRPr sz="900"/>
          </a:p>
        </p:txBody>
      </p:sp>
      <p:sp>
        <p:nvSpPr>
          <p:cNvPr id="528" name="Google Shape;528;p32"/>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FeRRy reaches the target 27–31% sooner</a:t>
            </a:r>
            <a:endParaRPr sz="2700"/>
          </a:p>
        </p:txBody>
      </p:sp>
      <p:sp>
        <p:nvSpPr>
          <p:cNvPr id="529" name="Google Shape;529;p32"/>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Time to 71% accuracy (lower is better), 6 devices, 1 drone, knee budget, mean of 20 paired trials.</a:t>
            </a:r>
            <a:endParaRPr sz="1300"/>
          </a:p>
        </p:txBody>
      </p:sp>
      <p:pic>
        <p:nvPicPr>
          <p:cNvPr id="530" name="Google Shape;530;p32"/>
          <p:cNvPicPr preferRelativeResize="0"/>
          <p:nvPr/>
        </p:nvPicPr>
        <p:blipFill rotWithShape="1">
          <a:blip r:embed="rId3">
            <a:alphaModFix/>
          </a:blip>
          <a:srcRect b="0" l="0" r="0" t="0"/>
          <a:stretch/>
        </p:blipFill>
        <p:spPr>
          <a:xfrm>
            <a:off x="342900" y="1337310"/>
            <a:ext cx="5280660" cy="3223260"/>
          </a:xfrm>
          <a:prstGeom prst="rect">
            <a:avLst/>
          </a:prstGeom>
          <a:noFill/>
          <a:ln>
            <a:noFill/>
          </a:ln>
        </p:spPr>
      </p:pic>
      <p:sp>
        <p:nvSpPr>
          <p:cNvPr id="531" name="Google Shape;531;p32"/>
          <p:cNvSpPr txBox="1"/>
          <p:nvPr/>
        </p:nvSpPr>
        <p:spPr>
          <a:xfrm>
            <a:off x="411480" y="4507992"/>
            <a:ext cx="52578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800"/>
              <a:buFont typeface="Calibri"/>
              <a:buNone/>
            </a:pPr>
            <a:r>
              <a:rPr b="0" i="1" lang="en" sz="800" u="none" cap="none" strike="noStrike">
                <a:solidFill>
                  <a:schemeClr val="accent3"/>
                </a:solidFill>
                <a:latin typeface="Calibri"/>
                <a:ea typeface="Calibri"/>
                <a:cs typeface="Calibri"/>
                <a:sym typeface="Calibri"/>
              </a:rPr>
              <a:t>Seconds are simulated. F = FeRRy flying its plan; FX adds the fixed per-stop rule, FQ the learned one (slide 12). *FQ was flown later, in an exploratory comparison. F, FX and FQ do not differ from each other.</a:t>
            </a:r>
            <a:endParaRPr b="0" i="0" sz="800" u="none" cap="none" strike="noStrike">
              <a:solidFill>
                <a:schemeClr val="dk1"/>
              </a:solidFill>
              <a:latin typeface="Calibri"/>
              <a:ea typeface="Calibri"/>
              <a:cs typeface="Calibri"/>
              <a:sym typeface="Calibri"/>
            </a:endParaRPr>
          </a:p>
        </p:txBody>
      </p:sp>
      <p:sp>
        <p:nvSpPr>
          <p:cNvPr id="532" name="Google Shape;532;p32"/>
          <p:cNvSpPr/>
          <p:nvPr/>
        </p:nvSpPr>
        <p:spPr>
          <a:xfrm>
            <a:off x="5863590" y="1405890"/>
            <a:ext cx="2868701" cy="720090"/>
          </a:xfrm>
          <a:prstGeom prst="roundRect">
            <a:avLst>
              <a:gd fmla="val 7619"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3" name="Google Shape;533;p32"/>
          <p:cNvSpPr txBox="1"/>
          <p:nvPr/>
        </p:nvSpPr>
        <p:spPr>
          <a:xfrm>
            <a:off x="6000750" y="1405890"/>
            <a:ext cx="96012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7 of 7</a:t>
            </a:r>
            <a:endParaRPr b="0" i="0" sz="1800" u="none" cap="none" strike="noStrike">
              <a:solidFill>
                <a:schemeClr val="dk1"/>
              </a:solidFill>
              <a:latin typeface="Calibri"/>
              <a:ea typeface="Calibri"/>
              <a:cs typeface="Calibri"/>
              <a:sym typeface="Calibri"/>
            </a:endParaRPr>
          </a:p>
        </p:txBody>
      </p:sp>
      <p:sp>
        <p:nvSpPr>
          <p:cNvPr id="534" name="Google Shape;534;p32"/>
          <p:cNvSpPr txBox="1"/>
          <p:nvPr/>
        </p:nvSpPr>
        <p:spPr>
          <a:xfrm>
            <a:off x="6931152" y="1405890"/>
            <a:ext cx="169164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baselines slower than F, by more than chance explains (p &lt; 0.05 after correction)</a:t>
            </a:r>
            <a:endParaRPr b="0" i="0" sz="1100" u="none" cap="none" strike="noStrike">
              <a:solidFill>
                <a:schemeClr val="dk1"/>
              </a:solidFill>
              <a:latin typeface="Calibri"/>
              <a:ea typeface="Calibri"/>
              <a:cs typeface="Calibri"/>
              <a:sym typeface="Calibri"/>
            </a:endParaRPr>
          </a:p>
        </p:txBody>
      </p:sp>
      <p:sp>
        <p:nvSpPr>
          <p:cNvPr id="535" name="Google Shape;535;p32"/>
          <p:cNvSpPr/>
          <p:nvPr/>
        </p:nvSpPr>
        <p:spPr>
          <a:xfrm>
            <a:off x="5863590" y="2215134"/>
            <a:ext cx="2868701" cy="720090"/>
          </a:xfrm>
          <a:prstGeom prst="roundRect">
            <a:avLst>
              <a:gd fmla="val 7619"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6" name="Google Shape;536;p32"/>
          <p:cNvSpPr txBox="1"/>
          <p:nvPr/>
        </p:nvSpPr>
        <p:spPr>
          <a:xfrm>
            <a:off x="6000750" y="2215134"/>
            <a:ext cx="96012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1800"/>
              <a:buFont typeface="Calibri"/>
              <a:buNone/>
            </a:pPr>
            <a:r>
              <a:rPr b="1" i="0" lang="en" sz="1800" u="none" cap="none" strike="noStrike">
                <a:solidFill>
                  <a:schemeClr val="accent1"/>
                </a:solidFill>
                <a:latin typeface="Calibri"/>
                <a:ea typeface="Calibri"/>
                <a:cs typeface="Calibri"/>
                <a:sym typeface="Calibri"/>
              </a:rPr>
              <a:t>80–90%</a:t>
            </a:r>
            <a:endParaRPr b="0" i="0" sz="1800" u="none" cap="none" strike="noStrike">
              <a:solidFill>
                <a:schemeClr val="dk1"/>
              </a:solidFill>
              <a:latin typeface="Calibri"/>
              <a:ea typeface="Calibri"/>
              <a:cs typeface="Calibri"/>
              <a:sym typeface="Calibri"/>
            </a:endParaRPr>
          </a:p>
        </p:txBody>
      </p:sp>
      <p:sp>
        <p:nvSpPr>
          <p:cNvPr id="537" name="Google Shape;537;p32"/>
          <p:cNvSpPr txBox="1"/>
          <p:nvPr/>
        </p:nvSpPr>
        <p:spPr>
          <a:xfrm>
            <a:off x="6931152" y="2215134"/>
            <a:ext cx="169164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of paired runs (same layout and data): F gets there first</a:t>
            </a:r>
            <a:endParaRPr b="0" i="0" sz="1100" u="none" cap="none" strike="noStrike">
              <a:solidFill>
                <a:schemeClr val="dk1"/>
              </a:solidFill>
              <a:latin typeface="Calibri"/>
              <a:ea typeface="Calibri"/>
              <a:cs typeface="Calibri"/>
              <a:sym typeface="Calibri"/>
            </a:endParaRPr>
          </a:p>
        </p:txBody>
      </p:sp>
      <p:sp>
        <p:nvSpPr>
          <p:cNvPr id="538" name="Google Shape;538;p32"/>
          <p:cNvSpPr/>
          <p:nvPr/>
        </p:nvSpPr>
        <p:spPr>
          <a:xfrm>
            <a:off x="5863590" y="3024378"/>
            <a:ext cx="2868701" cy="720090"/>
          </a:xfrm>
          <a:prstGeom prst="roundRect">
            <a:avLst>
              <a:gd fmla="val 7619"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39" name="Google Shape;539;p32"/>
          <p:cNvSpPr txBox="1"/>
          <p:nvPr/>
        </p:nvSpPr>
        <p:spPr>
          <a:xfrm>
            <a:off x="6000750" y="3024378"/>
            <a:ext cx="96012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3 drones</a:t>
            </a:r>
            <a:endParaRPr b="0" i="0" sz="1400" u="none" cap="none" strike="noStrike">
              <a:solidFill>
                <a:schemeClr val="dk1"/>
              </a:solidFill>
              <a:latin typeface="Calibri"/>
              <a:ea typeface="Calibri"/>
              <a:cs typeface="Calibri"/>
              <a:sym typeface="Calibri"/>
            </a:endParaRPr>
          </a:p>
        </p:txBody>
      </p:sp>
      <p:sp>
        <p:nvSpPr>
          <p:cNvPr id="540" name="Google Shape;540;p32"/>
          <p:cNvSpPr txBox="1"/>
          <p:nvPr/>
        </p:nvSpPr>
        <p:spPr>
          <a:xfrm>
            <a:off x="6931152" y="3024378"/>
            <a:ext cx="169164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More drones close the gap: every scheduler takes 52 to 65 s (FedEx with its own merge rule: 101 s)</a:t>
            </a:r>
            <a:endParaRPr b="0" i="0" sz="1100" u="none" cap="none" strike="noStrike">
              <a:solidFill>
                <a:schemeClr val="dk1"/>
              </a:solidFill>
              <a:latin typeface="Calibri"/>
              <a:ea typeface="Calibri"/>
              <a:cs typeface="Calibri"/>
              <a:sym typeface="Calibri"/>
            </a:endParaRPr>
          </a:p>
        </p:txBody>
      </p:sp>
      <p:sp>
        <p:nvSpPr>
          <p:cNvPr id="541" name="Google Shape;541;p32"/>
          <p:cNvSpPr/>
          <p:nvPr/>
        </p:nvSpPr>
        <p:spPr>
          <a:xfrm>
            <a:off x="5863590" y="3833622"/>
            <a:ext cx="2868701" cy="720090"/>
          </a:xfrm>
          <a:prstGeom prst="roundRect">
            <a:avLst>
              <a:gd fmla="val 7619"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42" name="Google Shape;542;p32"/>
          <p:cNvSpPr txBox="1"/>
          <p:nvPr/>
        </p:nvSpPr>
        <p:spPr>
          <a:xfrm>
            <a:off x="6000750" y="3833622"/>
            <a:ext cx="96012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No drone</a:t>
            </a:r>
            <a:endParaRPr b="0" i="0" sz="1400" u="none" cap="none" strike="noStrike">
              <a:solidFill>
                <a:schemeClr val="dk1"/>
              </a:solidFill>
              <a:latin typeface="Calibri"/>
              <a:ea typeface="Calibri"/>
              <a:cs typeface="Calibri"/>
              <a:sym typeface="Calibri"/>
            </a:endParaRPr>
          </a:p>
        </p:txBody>
      </p:sp>
      <p:sp>
        <p:nvSpPr>
          <p:cNvPr id="543" name="Google Shape;543;p32"/>
          <p:cNvSpPr txBox="1"/>
          <p:nvPr/>
        </p:nvSpPr>
        <p:spPr>
          <a:xfrm>
            <a:off x="6931152" y="3833622"/>
            <a:ext cx="1691640" cy="7200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FL over the degraded link: 0.5 updates merged per round, 68.6% accuracy (F: 3.5, 83.1%)</a:t>
            </a:r>
            <a:endParaRPr b="0" i="0" sz="1100" u="none" cap="none" strike="noStrike">
              <a:solidFill>
                <a:schemeClr val="dk1"/>
              </a:solidFill>
              <a:latin typeface="Calibri"/>
              <a:ea typeface="Calibri"/>
              <a:cs typeface="Calibri"/>
              <a:sym typeface="Calibri"/>
            </a:endParaRPr>
          </a:p>
        </p:txBody>
      </p:sp>
      <p:sp>
        <p:nvSpPr>
          <p:cNvPr id="544" name="Google Shape;544;p32"/>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3"/>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WHY IT IS FASTER</a:t>
            </a:r>
            <a:endParaRPr sz="900"/>
          </a:p>
        </p:txBody>
      </p:sp>
      <p:sp>
        <p:nvSpPr>
          <p:cNvPr id="551" name="Google Shape;551;p33"/>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Why: the right band removes the flying</a:t>
            </a:r>
            <a:endParaRPr sz="2700"/>
          </a:p>
        </p:txBody>
      </p:sp>
      <p:sp>
        <p:nvSpPr>
          <p:cNvPr id="552" name="Google Shape;552;p33"/>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A round = one loop of deliver, train, collect, merge. All schedulers need about 1.7 rounds; FeRRy's are shorter.</a:t>
            </a:r>
            <a:endParaRPr sz="1300"/>
          </a:p>
        </p:txBody>
      </p:sp>
      <p:pic>
        <p:nvPicPr>
          <p:cNvPr id="553" name="Google Shape;553;p33"/>
          <p:cNvPicPr preferRelativeResize="0"/>
          <p:nvPr/>
        </p:nvPicPr>
        <p:blipFill rotWithShape="1">
          <a:blip r:embed="rId3">
            <a:alphaModFix/>
          </a:blip>
          <a:srcRect b="0" l="0" r="0" t="0"/>
          <a:stretch/>
        </p:blipFill>
        <p:spPr>
          <a:xfrm>
            <a:off x="342900" y="1337310"/>
            <a:ext cx="5417820" cy="3326130"/>
          </a:xfrm>
          <a:prstGeom prst="rect">
            <a:avLst/>
          </a:prstGeom>
          <a:noFill/>
          <a:ln>
            <a:noFill/>
          </a:ln>
        </p:spPr>
      </p:pic>
      <p:sp>
        <p:nvSpPr>
          <p:cNvPr id="554" name="Google Shape;554;p33"/>
          <p:cNvSpPr/>
          <p:nvPr/>
        </p:nvSpPr>
        <p:spPr>
          <a:xfrm>
            <a:off x="6000750" y="1440180"/>
            <a:ext cx="2731541" cy="960120"/>
          </a:xfrm>
          <a:prstGeom prst="roundRect">
            <a:avLst>
              <a:gd fmla="val 571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5" name="Google Shape;555;p33"/>
          <p:cNvSpPr txBox="1"/>
          <p:nvPr/>
        </p:nvSpPr>
        <p:spPr>
          <a:xfrm>
            <a:off x="6172200" y="1522476"/>
            <a:ext cx="2388641" cy="3771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Calibri"/>
              <a:buNone/>
            </a:pPr>
            <a:r>
              <a:rPr b="1" i="0" lang="en" sz="2000" u="none" cap="none" strike="noStrike">
                <a:solidFill>
                  <a:schemeClr val="accent1"/>
                </a:solidFill>
                <a:latin typeface="Calibri"/>
                <a:ea typeface="Calibri"/>
                <a:cs typeface="Calibri"/>
                <a:sym typeface="Calibri"/>
              </a:rPr>
              <a:t>89%</a:t>
            </a:r>
            <a:endParaRPr b="0" i="0" sz="2000" u="none" cap="none" strike="noStrike">
              <a:solidFill>
                <a:schemeClr val="dk1"/>
              </a:solidFill>
              <a:latin typeface="Calibri"/>
              <a:ea typeface="Calibri"/>
              <a:cs typeface="Calibri"/>
              <a:sym typeface="Calibri"/>
            </a:endParaRPr>
          </a:p>
        </p:txBody>
      </p:sp>
      <p:sp>
        <p:nvSpPr>
          <p:cNvPr id="556" name="Google Shape;556;p33"/>
          <p:cNvSpPr txBox="1"/>
          <p:nvPr/>
        </p:nvSpPr>
        <p:spPr>
          <a:xfrm>
            <a:off x="6172200" y="1906524"/>
            <a:ext cx="2388641" cy="4457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of F's missions choose the narrow band (long reach) at 6 devices</a:t>
            </a:r>
            <a:endParaRPr b="0" i="0" sz="1100" u="none" cap="none" strike="noStrike">
              <a:solidFill>
                <a:schemeClr val="dk1"/>
              </a:solidFill>
              <a:latin typeface="Calibri"/>
              <a:ea typeface="Calibri"/>
              <a:cs typeface="Calibri"/>
              <a:sym typeface="Calibri"/>
            </a:endParaRPr>
          </a:p>
        </p:txBody>
      </p:sp>
      <p:sp>
        <p:nvSpPr>
          <p:cNvPr id="557" name="Google Shape;557;p33"/>
          <p:cNvSpPr/>
          <p:nvPr/>
        </p:nvSpPr>
        <p:spPr>
          <a:xfrm>
            <a:off x="6000750" y="2503170"/>
            <a:ext cx="2731541" cy="960120"/>
          </a:xfrm>
          <a:prstGeom prst="roundRect">
            <a:avLst>
              <a:gd fmla="val 571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58" name="Google Shape;558;p33"/>
          <p:cNvSpPr txBox="1"/>
          <p:nvPr/>
        </p:nvSpPr>
        <p:spPr>
          <a:xfrm>
            <a:off x="6172200" y="2585466"/>
            <a:ext cx="2388641" cy="3771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Calibri"/>
              <a:buNone/>
            </a:pPr>
            <a:r>
              <a:rPr b="1" i="0" lang="en" sz="2000" u="none" cap="none" strike="noStrike">
                <a:solidFill>
                  <a:schemeClr val="accent1"/>
                </a:solidFill>
                <a:latin typeface="Calibri"/>
                <a:ea typeface="Calibri"/>
                <a:cs typeface="Calibri"/>
                <a:sym typeface="Calibri"/>
              </a:rPr>
              <a:t>15 s vs ~140 s</a:t>
            </a:r>
            <a:endParaRPr b="0" i="0" sz="2000" u="none" cap="none" strike="noStrike">
              <a:solidFill>
                <a:schemeClr val="dk1"/>
              </a:solidFill>
              <a:latin typeface="Calibri"/>
              <a:ea typeface="Calibri"/>
              <a:cs typeface="Calibri"/>
              <a:sym typeface="Calibri"/>
            </a:endParaRPr>
          </a:p>
        </p:txBody>
      </p:sp>
      <p:sp>
        <p:nvSpPr>
          <p:cNvPr id="559" name="Google Shape;559;p33"/>
          <p:cNvSpPr txBox="1"/>
          <p:nvPr/>
        </p:nvSpPr>
        <p:spPr>
          <a:xfrm>
            <a:off x="6172200" y="2969514"/>
            <a:ext cx="2388641"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per mission spent flying between stops (red bars), F vs the baselines. Teal = hovering while data transfers.</a:t>
            </a:r>
            <a:endParaRPr b="0" i="0" sz="1100" u="none" cap="none" strike="noStrike">
              <a:solidFill>
                <a:schemeClr val="dk1"/>
              </a:solidFill>
              <a:latin typeface="Calibri"/>
              <a:ea typeface="Calibri"/>
              <a:cs typeface="Calibri"/>
              <a:sym typeface="Calibri"/>
            </a:endParaRPr>
          </a:p>
        </p:txBody>
      </p:sp>
      <p:sp>
        <p:nvSpPr>
          <p:cNvPr id="560" name="Google Shape;560;p33"/>
          <p:cNvSpPr/>
          <p:nvPr/>
        </p:nvSpPr>
        <p:spPr>
          <a:xfrm>
            <a:off x="6000750" y="3566160"/>
            <a:ext cx="2731541" cy="960120"/>
          </a:xfrm>
          <a:prstGeom prst="roundRect">
            <a:avLst>
              <a:gd fmla="val 571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61" name="Google Shape;561;p33"/>
          <p:cNvSpPr txBox="1"/>
          <p:nvPr/>
        </p:nvSpPr>
        <p:spPr>
          <a:xfrm>
            <a:off x="6172200" y="3648456"/>
            <a:ext cx="2388641" cy="37719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2000"/>
              <a:buFont typeface="Calibri"/>
              <a:buNone/>
            </a:pPr>
            <a:r>
              <a:rPr b="1" i="0" lang="en" sz="2000" u="none" cap="none" strike="noStrike">
                <a:solidFill>
                  <a:schemeClr val="accent1"/>
                </a:solidFill>
                <a:latin typeface="Calibri"/>
                <a:ea typeface="Calibri"/>
                <a:cs typeface="Calibri"/>
                <a:sym typeface="Calibri"/>
              </a:rPr>
              <a:t>≈ 265 s</a:t>
            </a:r>
            <a:endParaRPr b="0" i="0" sz="2000" u="none" cap="none" strike="noStrike">
              <a:solidFill>
                <a:schemeClr val="dk1"/>
              </a:solidFill>
              <a:latin typeface="Calibri"/>
              <a:ea typeface="Calibri"/>
              <a:cs typeface="Calibri"/>
              <a:sym typeface="Calibri"/>
            </a:endParaRPr>
          </a:p>
        </p:txBody>
      </p:sp>
      <p:sp>
        <p:nvSpPr>
          <p:cNvPr id="562" name="Google Shape;562;p33"/>
          <p:cNvSpPr txBox="1"/>
          <p:nvPr/>
        </p:nvSpPr>
        <p:spPr>
          <a:xfrm>
            <a:off x="6172200" y="4032504"/>
            <a:ext cx="2388641"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Pinned = forced to one band. Forced wide, F takes about 265 s, like FedEx's route; forced narrow, 196 s.</a:t>
            </a:r>
            <a:endParaRPr b="0" i="0" sz="1100" u="none" cap="none" strike="noStrike">
              <a:solidFill>
                <a:schemeClr val="dk1"/>
              </a:solidFill>
              <a:latin typeface="Calibri"/>
              <a:ea typeface="Calibri"/>
              <a:cs typeface="Calibri"/>
              <a:sym typeface="Calibri"/>
            </a:endParaRPr>
          </a:p>
        </p:txBody>
      </p:sp>
      <p:sp>
        <p:nvSpPr>
          <p:cNvPr id="563" name="Google Shape;563;p33"/>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4"/>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WHY IT IS FASTER</a:t>
            </a:r>
            <a:endParaRPr sz="900"/>
          </a:p>
        </p:txBody>
      </p:sp>
      <p:sp>
        <p:nvSpPr>
          <p:cNvPr id="570" name="Google Shape;570;p34"/>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The band choice adapts to the field</a:t>
            </a:r>
            <a:endParaRPr sz="2700"/>
          </a:p>
        </p:txBody>
      </p:sp>
      <p:sp>
        <p:nvSpPr>
          <p:cNvPr id="571" name="Google Shape;571;p34"/>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Share of F's plans using each band. Knee = base time budget; stress = half of it.</a:t>
            </a:r>
            <a:endParaRPr sz="1300"/>
          </a:p>
        </p:txBody>
      </p:sp>
      <p:pic>
        <p:nvPicPr>
          <p:cNvPr id="572" name="Google Shape;572;p34"/>
          <p:cNvPicPr preferRelativeResize="0"/>
          <p:nvPr/>
        </p:nvPicPr>
        <p:blipFill rotWithShape="1">
          <a:blip r:embed="rId3">
            <a:alphaModFix/>
          </a:blip>
          <a:srcRect b="0" l="0" r="0" t="0"/>
          <a:stretch/>
        </p:blipFill>
        <p:spPr>
          <a:xfrm>
            <a:off x="342900" y="1337310"/>
            <a:ext cx="5692140" cy="3326130"/>
          </a:xfrm>
          <a:prstGeom prst="rect">
            <a:avLst/>
          </a:prstGeom>
          <a:noFill/>
          <a:ln>
            <a:noFill/>
          </a:ln>
        </p:spPr>
      </p:pic>
      <p:sp>
        <p:nvSpPr>
          <p:cNvPr id="573" name="Google Shape;573;p34"/>
          <p:cNvSpPr/>
          <p:nvPr/>
        </p:nvSpPr>
        <p:spPr>
          <a:xfrm>
            <a:off x="6240780" y="1440180"/>
            <a:ext cx="2491511" cy="1508760"/>
          </a:xfrm>
          <a:prstGeom prst="roundRect">
            <a:avLst>
              <a:gd fmla="val 3636"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4" name="Google Shape;574;p34"/>
          <p:cNvSpPr txBox="1"/>
          <p:nvPr/>
        </p:nvSpPr>
        <p:spPr>
          <a:xfrm>
            <a:off x="6412230" y="1543050"/>
            <a:ext cx="2148611" cy="13030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Near the best possible</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Compared with an exhaustive oracle that tries every possible plan: F serves as many devices at the knee budget, and 4 points fewer under stress.</a:t>
            </a:r>
            <a:endParaRPr b="0" i="0" sz="1300" u="none" cap="none" strike="noStrike">
              <a:solidFill>
                <a:schemeClr val="dk1"/>
              </a:solidFill>
              <a:latin typeface="Calibri"/>
              <a:ea typeface="Calibri"/>
              <a:cs typeface="Calibri"/>
              <a:sym typeface="Calibri"/>
            </a:endParaRPr>
          </a:p>
        </p:txBody>
      </p:sp>
      <p:sp>
        <p:nvSpPr>
          <p:cNvPr id="575" name="Google Shape;575;p34"/>
          <p:cNvSpPr/>
          <p:nvPr/>
        </p:nvSpPr>
        <p:spPr>
          <a:xfrm>
            <a:off x="6240780" y="3086100"/>
            <a:ext cx="2491511" cy="1508760"/>
          </a:xfrm>
          <a:prstGeom prst="roundRect">
            <a:avLst>
              <a:gd fmla="val 3636" name="adj"/>
            </a:avLst>
          </a:prstGeom>
          <a:solidFill>
            <a:schemeClr val="accent1">
              <a:alpha val="14118"/>
            </a:schemeClr>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76" name="Google Shape;576;p34"/>
          <p:cNvSpPr txBox="1"/>
          <p:nvPr/>
        </p:nvSpPr>
        <p:spPr>
          <a:xfrm>
            <a:off x="6412230" y="3188970"/>
            <a:ext cx="2148611" cy="13373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No single band fits all</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Narrow reaches far but is slow; wide is fast but short-range. Denser fields and tighter budgets push F wider, so the band is chosen per mission.</a:t>
            </a:r>
            <a:endParaRPr b="0" i="0" sz="1300" u="none" cap="none" strike="noStrike">
              <a:solidFill>
                <a:schemeClr val="dk1"/>
              </a:solidFill>
              <a:latin typeface="Calibri"/>
              <a:ea typeface="Calibri"/>
              <a:cs typeface="Calibri"/>
              <a:sym typeface="Calibri"/>
            </a:endParaRPr>
          </a:p>
        </p:txBody>
      </p:sp>
      <p:sp>
        <p:nvSpPr>
          <p:cNvPr id="577" name="Google Shape;577;p34"/>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5"/>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SCALE AND COST</a:t>
            </a:r>
            <a:endParaRPr sz="900"/>
          </a:p>
        </p:txBody>
      </p:sp>
      <p:sp>
        <p:nvSpPr>
          <p:cNvPr id="584" name="Google Shape;584;p35"/>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It scales, and planning stays cheap</a:t>
            </a:r>
            <a:endParaRPr sz="2700"/>
          </a:p>
        </p:txBody>
      </p:sp>
      <p:sp>
        <p:nvSpPr>
          <p:cNvPr id="585" name="Google Shape;585;p35"/>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Time to build the plan per mission on one computer, and time to target as devices and drones are added.</a:t>
            </a:r>
            <a:endParaRPr sz="1300"/>
          </a:p>
        </p:txBody>
      </p:sp>
      <p:pic>
        <p:nvPicPr>
          <p:cNvPr id="586" name="Google Shape;586;p35"/>
          <p:cNvPicPr preferRelativeResize="0"/>
          <p:nvPr/>
        </p:nvPicPr>
        <p:blipFill rotWithShape="1">
          <a:blip r:embed="rId3">
            <a:alphaModFix/>
          </a:blip>
          <a:srcRect b="0" l="0" r="0" t="0"/>
          <a:stretch/>
        </p:blipFill>
        <p:spPr>
          <a:xfrm>
            <a:off x="342900" y="1337310"/>
            <a:ext cx="4251960" cy="3326130"/>
          </a:xfrm>
          <a:prstGeom prst="rect">
            <a:avLst/>
          </a:prstGeom>
          <a:noFill/>
          <a:ln>
            <a:noFill/>
          </a:ln>
        </p:spPr>
      </p:pic>
      <p:sp>
        <p:nvSpPr>
          <p:cNvPr id="587" name="Google Shape;587;p35"/>
          <p:cNvSpPr/>
          <p:nvPr/>
        </p:nvSpPr>
        <p:spPr>
          <a:xfrm>
            <a:off x="4629150" y="1440180"/>
            <a:ext cx="4103141" cy="1611630"/>
          </a:xfrm>
          <a:prstGeom prst="roundRect">
            <a:avLst>
              <a:gd fmla="val 3404"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88" name="Google Shape;588;p35"/>
          <p:cNvSpPr txBox="1"/>
          <p:nvPr/>
        </p:nvSpPr>
        <p:spPr>
          <a:xfrm>
            <a:off x="4834890" y="1522476"/>
            <a:ext cx="3691661" cy="147447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24 devices, 1 drone</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100"/>
              <a:buFont typeface="Calibri"/>
              <a:buChar char="•"/>
            </a:pPr>
            <a:r>
              <a:rPr b="0" i="0" lang="en" sz="1050" u="none" cap="none" strike="noStrike">
                <a:solidFill>
                  <a:schemeClr val="dk1"/>
                </a:solidFill>
                <a:latin typeface="Calibri"/>
                <a:ea typeface="Calibri"/>
                <a:cs typeface="Calibri"/>
                <a:sym typeface="Calibri"/>
              </a:rPr>
              <a:t>Knee: F 749 s vs H1 951 s and Whittle index 911 s (a difference beyond chance)</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100"/>
              <a:buFont typeface="Calibri"/>
              <a:buChar char="•"/>
            </a:pPr>
            <a:r>
              <a:rPr b="0" i="0" lang="en" sz="1050" u="none" cap="none" strike="noStrike">
                <a:solidFill>
                  <a:schemeClr val="dk1"/>
                </a:solidFill>
                <a:latin typeface="Calibri"/>
                <a:ea typeface="Calibri"/>
                <a:cs typeface="Calibri"/>
                <a:sym typeface="Calibri"/>
              </a:rPr>
              <a:t>Ties FedEx's route at the knee (752 s); beats it under stress (661 vs 752 s)</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100"/>
              <a:buFont typeface="Calibri"/>
              <a:buChar char="•"/>
            </a:pPr>
            <a:r>
              <a:rPr b="0" i="0" lang="en" sz="1050" u="none" cap="none" strike="noStrike">
                <a:solidFill>
                  <a:schemeClr val="dk1"/>
                </a:solidFill>
                <a:latin typeface="Calibri"/>
                <a:ea typeface="Calibri"/>
                <a:cs typeface="Calibri"/>
                <a:sym typeface="Calibri"/>
              </a:rPr>
              <a:t>At 12 devices the differences were within chance</a:t>
            </a:r>
            <a:endParaRPr b="0" i="0" sz="1300" u="none" cap="none" strike="noStrike">
              <a:solidFill>
                <a:schemeClr val="dk1"/>
              </a:solidFill>
              <a:latin typeface="Calibri"/>
              <a:ea typeface="Calibri"/>
              <a:cs typeface="Calibri"/>
              <a:sym typeface="Calibri"/>
            </a:endParaRPr>
          </a:p>
        </p:txBody>
      </p:sp>
      <p:sp>
        <p:nvSpPr>
          <p:cNvPr id="589" name="Google Shape;589;p35"/>
          <p:cNvSpPr/>
          <p:nvPr/>
        </p:nvSpPr>
        <p:spPr>
          <a:xfrm>
            <a:off x="4629150" y="3188970"/>
            <a:ext cx="4103141" cy="1405890"/>
          </a:xfrm>
          <a:prstGeom prst="roundRect">
            <a:avLst>
              <a:gd fmla="val 3902"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590" name="Google Shape;590;p35"/>
          <p:cNvSpPr txBox="1"/>
          <p:nvPr/>
        </p:nvSpPr>
        <p:spPr>
          <a:xfrm>
            <a:off x="4834890" y="3271266"/>
            <a:ext cx="3691661"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Adding drones (12 devices, knee)</a:t>
            </a:r>
            <a:endParaRPr b="0" i="0" sz="1300" u="none" cap="none" strike="noStrike">
              <a:solidFill>
                <a:schemeClr val="dk1"/>
              </a:solidFill>
              <a:latin typeface="Calibri"/>
              <a:ea typeface="Calibri"/>
              <a:cs typeface="Calibri"/>
              <a:sym typeface="Calibri"/>
            </a:endParaRPr>
          </a:p>
        </p:txBody>
      </p:sp>
      <p:sp>
        <p:nvSpPr>
          <p:cNvPr id="591" name="Google Shape;591;p35"/>
          <p:cNvSpPr txBox="1"/>
          <p:nvPr/>
        </p:nvSpPr>
        <p:spPr>
          <a:xfrm>
            <a:off x="4834890" y="3600450"/>
            <a:ext cx="1062990"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Calibri"/>
              <a:buNone/>
            </a:pPr>
            <a:r>
              <a:rPr b="1" i="0" lang="en" sz="2000" u="none" cap="none" strike="noStrike">
                <a:solidFill>
                  <a:schemeClr val="dk1"/>
                </a:solidFill>
                <a:latin typeface="Calibri"/>
                <a:ea typeface="Calibri"/>
                <a:cs typeface="Calibri"/>
                <a:sym typeface="Calibri"/>
              </a:rPr>
              <a:t>486 s</a:t>
            </a:r>
            <a:endParaRPr b="0"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accent3"/>
              </a:buClr>
              <a:buSzPts val="1100"/>
              <a:buFont typeface="Calibri"/>
              <a:buNone/>
            </a:pPr>
            <a:r>
              <a:rPr b="0" i="0" lang="en" sz="1100" u="none" cap="none" strike="noStrike">
                <a:solidFill>
                  <a:schemeClr val="accent3"/>
                </a:solidFill>
                <a:latin typeface="Calibri"/>
                <a:ea typeface="Calibri"/>
                <a:cs typeface="Calibri"/>
                <a:sym typeface="Calibri"/>
              </a:rPr>
              <a:t>1 drone</a:t>
            </a:r>
            <a:endParaRPr b="0" i="0" sz="2000" u="none" cap="none" strike="noStrike">
              <a:solidFill>
                <a:schemeClr val="dk1"/>
              </a:solidFill>
              <a:latin typeface="Calibri"/>
              <a:ea typeface="Calibri"/>
              <a:cs typeface="Calibri"/>
              <a:sym typeface="Calibri"/>
            </a:endParaRPr>
          </a:p>
        </p:txBody>
      </p:sp>
      <p:cxnSp>
        <p:nvCxnSpPr>
          <p:cNvPr id="592" name="Google Shape;592;p35"/>
          <p:cNvCxnSpPr/>
          <p:nvPr/>
        </p:nvCxnSpPr>
        <p:spPr>
          <a:xfrm>
            <a:off x="5932170" y="3895344"/>
            <a:ext cx="182766" cy="0"/>
          </a:xfrm>
          <a:prstGeom prst="straightConnector1">
            <a:avLst/>
          </a:prstGeom>
          <a:noFill/>
          <a:ln cap="flat" cmpd="sng" w="19050">
            <a:solidFill>
              <a:schemeClr val="accent3"/>
            </a:solidFill>
            <a:prstDash val="solid"/>
            <a:round/>
            <a:headEnd len="sm" w="sm" type="none"/>
            <a:tailEnd len="med" w="med" type="triangle"/>
          </a:ln>
        </p:spPr>
      </p:cxnSp>
      <p:sp>
        <p:nvSpPr>
          <p:cNvPr id="593" name="Google Shape;593;p35"/>
          <p:cNvSpPr txBox="1"/>
          <p:nvPr/>
        </p:nvSpPr>
        <p:spPr>
          <a:xfrm>
            <a:off x="6149226" y="3600450"/>
            <a:ext cx="1062990"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Calibri"/>
              <a:buNone/>
            </a:pPr>
            <a:r>
              <a:rPr b="1" i="0" lang="en" sz="2000" u="none" cap="none" strike="noStrike">
                <a:solidFill>
                  <a:schemeClr val="dk1"/>
                </a:solidFill>
                <a:latin typeface="Calibri"/>
                <a:ea typeface="Calibri"/>
                <a:cs typeface="Calibri"/>
                <a:sym typeface="Calibri"/>
              </a:rPr>
              <a:t>226 s</a:t>
            </a:r>
            <a:endParaRPr b="0"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accent3"/>
              </a:buClr>
              <a:buSzPts val="1100"/>
              <a:buFont typeface="Calibri"/>
              <a:buNone/>
            </a:pPr>
            <a:r>
              <a:rPr b="0" i="0" lang="en" sz="1100" u="none" cap="none" strike="noStrike">
                <a:solidFill>
                  <a:schemeClr val="accent3"/>
                </a:solidFill>
                <a:latin typeface="Calibri"/>
                <a:ea typeface="Calibri"/>
                <a:cs typeface="Calibri"/>
                <a:sym typeface="Calibri"/>
              </a:rPr>
              <a:t>2 drones</a:t>
            </a:r>
            <a:endParaRPr b="0" i="0" sz="2000" u="none" cap="none" strike="noStrike">
              <a:solidFill>
                <a:schemeClr val="dk1"/>
              </a:solidFill>
              <a:latin typeface="Calibri"/>
              <a:ea typeface="Calibri"/>
              <a:cs typeface="Calibri"/>
              <a:sym typeface="Calibri"/>
            </a:endParaRPr>
          </a:p>
        </p:txBody>
      </p:sp>
      <p:cxnSp>
        <p:nvCxnSpPr>
          <p:cNvPr id="594" name="Google Shape;594;p35"/>
          <p:cNvCxnSpPr/>
          <p:nvPr/>
        </p:nvCxnSpPr>
        <p:spPr>
          <a:xfrm>
            <a:off x="7246506" y="3895344"/>
            <a:ext cx="182766" cy="0"/>
          </a:xfrm>
          <a:prstGeom prst="straightConnector1">
            <a:avLst/>
          </a:prstGeom>
          <a:noFill/>
          <a:ln cap="flat" cmpd="sng" w="19050">
            <a:solidFill>
              <a:schemeClr val="accent3"/>
            </a:solidFill>
            <a:prstDash val="solid"/>
            <a:round/>
            <a:headEnd len="sm" w="sm" type="none"/>
            <a:tailEnd len="med" w="med" type="triangle"/>
          </a:ln>
        </p:spPr>
      </p:cxnSp>
      <p:sp>
        <p:nvSpPr>
          <p:cNvPr id="595" name="Google Shape;595;p35"/>
          <p:cNvSpPr txBox="1"/>
          <p:nvPr/>
        </p:nvSpPr>
        <p:spPr>
          <a:xfrm>
            <a:off x="7463561" y="3600450"/>
            <a:ext cx="1062990" cy="8229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accent1"/>
              </a:buClr>
              <a:buSzPts val="2000"/>
              <a:buFont typeface="Calibri"/>
              <a:buNone/>
            </a:pPr>
            <a:r>
              <a:rPr b="1" i="0" lang="en" sz="2000" u="none" cap="none" strike="noStrike">
                <a:solidFill>
                  <a:schemeClr val="accent1"/>
                </a:solidFill>
                <a:latin typeface="Calibri"/>
                <a:ea typeface="Calibri"/>
                <a:cs typeface="Calibri"/>
                <a:sym typeface="Calibri"/>
              </a:rPr>
              <a:t>151 s</a:t>
            </a:r>
            <a:endParaRPr b="0" i="0" sz="2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chemeClr val="accent3"/>
              </a:buClr>
              <a:buSzPts val="1100"/>
              <a:buFont typeface="Calibri"/>
              <a:buNone/>
            </a:pPr>
            <a:r>
              <a:rPr b="0" i="0" lang="en" sz="1100" u="none" cap="none" strike="noStrike">
                <a:solidFill>
                  <a:schemeClr val="accent3"/>
                </a:solidFill>
                <a:latin typeface="Calibri"/>
                <a:ea typeface="Calibri"/>
                <a:cs typeface="Calibri"/>
                <a:sym typeface="Calibri"/>
              </a:rPr>
              <a:t>3 drones</a:t>
            </a:r>
            <a:endParaRPr b="0" i="0" sz="2000" u="none" cap="none" strike="noStrike">
              <a:solidFill>
                <a:schemeClr val="dk1"/>
              </a:solidFill>
              <a:latin typeface="Calibri"/>
              <a:ea typeface="Calibri"/>
              <a:cs typeface="Calibri"/>
              <a:sym typeface="Calibri"/>
            </a:endParaRPr>
          </a:p>
        </p:txBody>
      </p:sp>
      <p:sp>
        <p:nvSpPr>
          <p:cNvPr id="596" name="Google Shape;596;p35"/>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6"/>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DESIGN CLAIMS</a:t>
            </a:r>
            <a:endParaRPr sz="900"/>
          </a:p>
        </p:txBody>
      </p:sp>
      <p:sp>
        <p:nvSpPr>
          <p:cNvPr id="603" name="Google Shape;603;p36"/>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Fresher updates under tight budgets</a:t>
            </a:r>
            <a:endParaRPr sz="2700"/>
          </a:p>
        </p:txBody>
      </p:sp>
      <p:sp>
        <p:nvSpPr>
          <p:cNvPr id="604" name="Google Shape;604;p36"/>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Age of updates under the stress budget: missions since each device was last merged (lower is better).</a:t>
            </a:r>
            <a:endParaRPr sz="1300"/>
          </a:p>
        </p:txBody>
      </p:sp>
      <p:pic>
        <p:nvPicPr>
          <p:cNvPr id="605" name="Google Shape;605;p36"/>
          <p:cNvPicPr preferRelativeResize="0"/>
          <p:nvPr/>
        </p:nvPicPr>
        <p:blipFill rotWithShape="1">
          <a:blip r:embed="rId3">
            <a:alphaModFix/>
          </a:blip>
          <a:srcRect b="0" l="0" r="0" t="0"/>
          <a:stretch/>
        </p:blipFill>
        <p:spPr>
          <a:xfrm>
            <a:off x="342900" y="1337310"/>
            <a:ext cx="4526280" cy="2743200"/>
          </a:xfrm>
          <a:prstGeom prst="rect">
            <a:avLst/>
          </a:prstGeom>
          <a:noFill/>
          <a:ln>
            <a:noFill/>
          </a:ln>
        </p:spPr>
      </p:pic>
      <p:sp>
        <p:nvSpPr>
          <p:cNvPr id="606" name="Google Shape;606;p36"/>
          <p:cNvSpPr txBox="1"/>
          <p:nvPr/>
        </p:nvSpPr>
        <p:spPr>
          <a:xfrm>
            <a:off x="411480" y="4151376"/>
            <a:ext cx="42519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900"/>
              <a:buFont typeface="Calibri"/>
              <a:buNone/>
            </a:pPr>
            <a:r>
              <a:rPr b="0" i="1" lang="en" sz="900" u="none" cap="none" strike="noStrike">
                <a:solidFill>
                  <a:schemeClr val="accent3"/>
                </a:solidFill>
                <a:latin typeface="Calibri"/>
                <a:ea typeface="Calibri"/>
                <a:cs typeface="Calibri"/>
                <a:sym typeface="Calibri"/>
              </a:rPr>
              <a:t>All three differences are real, not chance (Holm p ≤ 0.009: a p-value corrected for making many comparisons).</a:t>
            </a:r>
            <a:endParaRPr b="0" i="0" sz="900" u="none" cap="none" strike="noStrike">
              <a:solidFill>
                <a:schemeClr val="dk1"/>
              </a:solidFill>
              <a:latin typeface="Calibri"/>
              <a:ea typeface="Calibri"/>
              <a:cs typeface="Calibri"/>
              <a:sym typeface="Calibri"/>
            </a:endParaRPr>
          </a:p>
        </p:txBody>
      </p:sp>
      <p:sp>
        <p:nvSpPr>
          <p:cNvPr id="607" name="Google Shape;607;p36"/>
          <p:cNvSpPr/>
          <p:nvPr/>
        </p:nvSpPr>
        <p:spPr>
          <a:xfrm>
            <a:off x="4800600" y="1405890"/>
            <a:ext cx="3931691" cy="1611630"/>
          </a:xfrm>
          <a:prstGeom prst="roundRect">
            <a:avLst>
              <a:gd fmla="val 3404" name="adj"/>
            </a:avLst>
          </a:prstGeom>
          <a:solidFill>
            <a:schemeClr val="accent2">
              <a:alpha val="12157"/>
            </a:schemeClr>
          </a:solidFill>
          <a:ln cap="flat" cmpd="sng" w="12700">
            <a:solidFill>
              <a:schemeClr val="accen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08" name="Google Shape;608;p36"/>
          <p:cNvSpPr txBox="1"/>
          <p:nvPr/>
        </p:nvSpPr>
        <p:spPr>
          <a:xfrm>
            <a:off x="5006340" y="1488186"/>
            <a:ext cx="3520211" cy="147447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Design choices that matter</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100"/>
              <a:buFont typeface="Calibri"/>
              <a:buChar char="•"/>
            </a:pPr>
            <a:r>
              <a:rPr b="1" i="0" lang="en" sz="1000" u="none" cap="none" strike="noStrike">
                <a:solidFill>
                  <a:schemeClr val="dk1"/>
                </a:solidFill>
                <a:latin typeface="Calibri"/>
                <a:ea typeface="Calibri"/>
                <a:cs typeface="Calibri"/>
                <a:sym typeface="Calibri"/>
              </a:rPr>
              <a:t>Coverage term</a:t>
            </a:r>
            <a:r>
              <a:rPr b="0" i="0" lang="en" sz="1000" u="none" cap="none" strike="noStrike">
                <a:solidFill>
                  <a:schemeClr val="dk1"/>
                </a:solidFill>
                <a:latin typeface="Calibri"/>
                <a:ea typeface="Calibri"/>
                <a:cs typeface="Calibri"/>
                <a:sym typeface="Calibri"/>
              </a:rPr>
              <a:t> (urgency grows the longer a device waits): without it, rounds that close (merge their updates) fall from 99% to 74% (12 devices)</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100"/>
              <a:buFont typeface="Calibri"/>
              <a:buChar char="•"/>
            </a:pPr>
            <a:r>
              <a:rPr b="0" i="0" lang="en" sz="1000" u="none" cap="none" strike="noStrike">
                <a:solidFill>
                  <a:schemeClr val="dk1"/>
                </a:solidFill>
                <a:latin typeface="Calibri"/>
                <a:ea typeface="Calibri"/>
                <a:cs typeface="Calibri"/>
                <a:sym typeface="Calibri"/>
              </a:rPr>
              <a:t>About 26% fresher than age-of-information schedulers (they visit the stalest device first)</a:t>
            </a:r>
            <a:endParaRPr b="0" i="0" sz="1300" u="none" cap="none" strike="noStrike">
              <a:solidFill>
                <a:schemeClr val="dk1"/>
              </a:solidFill>
              <a:latin typeface="Calibri"/>
              <a:ea typeface="Calibri"/>
              <a:cs typeface="Calibri"/>
              <a:sym typeface="Calibri"/>
            </a:endParaRPr>
          </a:p>
          <a:p>
            <a:pPr indent="-139700" lvl="0" marL="139700" marR="0" rtl="0" algn="l">
              <a:lnSpc>
                <a:spcPct val="100000"/>
              </a:lnSpc>
              <a:spcBef>
                <a:spcPts val="300"/>
              </a:spcBef>
              <a:spcAft>
                <a:spcPts val="0"/>
              </a:spcAft>
              <a:buClr>
                <a:schemeClr val="dk1"/>
              </a:buClr>
              <a:buSzPts val="1100"/>
              <a:buFont typeface="Calibri"/>
              <a:buChar char="•"/>
            </a:pPr>
            <a:r>
              <a:rPr b="1" i="0" lang="en" sz="1000" u="none" cap="none" strike="noStrike">
                <a:solidFill>
                  <a:schemeClr val="dk1"/>
                </a:solidFill>
                <a:latin typeface="Calibri"/>
                <a:ea typeface="Calibri"/>
                <a:cs typeface="Calibri"/>
                <a:sym typeface="Calibri"/>
              </a:rPr>
              <a:t>Adaptive backhaul carrier</a:t>
            </a:r>
            <a:r>
              <a:rPr b="0" i="0" lang="en" sz="1000" u="none" cap="none" strike="noStrike">
                <a:solidFill>
                  <a:schemeClr val="dk1"/>
                </a:solidFill>
                <a:latin typeface="Calibri"/>
                <a:ea typeface="Calibri"/>
                <a:cs typeface="Calibri"/>
                <a:sym typeface="Calibri"/>
              </a:rPr>
              <a:t> (the radio carrier chosen for the long link back to the server): age 0.88 → 0.69 missions</a:t>
            </a:r>
            <a:endParaRPr b="0" i="0" sz="1300" u="none" cap="none" strike="noStrike">
              <a:solidFill>
                <a:schemeClr val="dk1"/>
              </a:solidFill>
              <a:latin typeface="Calibri"/>
              <a:ea typeface="Calibri"/>
              <a:cs typeface="Calibri"/>
              <a:sym typeface="Calibri"/>
            </a:endParaRPr>
          </a:p>
        </p:txBody>
      </p:sp>
      <p:sp>
        <p:nvSpPr>
          <p:cNvPr id="609" name="Google Shape;609;p36"/>
          <p:cNvSpPr/>
          <p:nvPr/>
        </p:nvSpPr>
        <p:spPr>
          <a:xfrm>
            <a:off x="4800600" y="3154680"/>
            <a:ext cx="3931691" cy="1440180"/>
          </a:xfrm>
          <a:prstGeom prst="roundRect">
            <a:avLst>
              <a:gd fmla="val 3810"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10" name="Google Shape;610;p36"/>
          <p:cNvSpPr txBox="1"/>
          <p:nvPr/>
        </p:nvSpPr>
        <p:spPr>
          <a:xfrm>
            <a:off x="5006340" y="3236976"/>
            <a:ext cx="3520211" cy="13030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300"/>
              <a:buFont typeface="Calibri"/>
              <a:buNone/>
            </a:pPr>
            <a:r>
              <a:rPr b="1" i="0" lang="en" sz="1300" u="none" cap="none" strike="noStrike">
                <a:solidFill>
                  <a:schemeClr val="dk1"/>
                </a:solidFill>
                <a:latin typeface="Calibri"/>
                <a:ea typeface="Calibri"/>
                <a:cs typeface="Calibri"/>
                <a:sym typeface="Calibri"/>
              </a:rPr>
              <a:t>No measurable effect at these settings</a:t>
            </a:r>
            <a:endParaRPr b="0" i="0" sz="13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Pinning the band (on age), the dwell term, the age cap over 4 missions, other merge rules (updates almost always arrive fresh), and FedCS- or Oort-style deadlines. I report these anyway: they found no clear benefit or harm.</a:t>
            </a:r>
            <a:endParaRPr b="0" i="0" sz="1300" u="none" cap="none" strike="noStrike">
              <a:solidFill>
                <a:schemeClr val="dk1"/>
              </a:solidFill>
              <a:latin typeface="Calibri"/>
              <a:ea typeface="Calibri"/>
              <a:cs typeface="Calibri"/>
              <a:sym typeface="Calibri"/>
            </a:endParaRPr>
          </a:p>
        </p:txBody>
      </p:sp>
      <p:sp>
        <p:nvSpPr>
          <p:cNvPr id="611" name="Google Shape;611;p36"/>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7"/>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JOINT RL MODEL</a:t>
            </a:r>
            <a:endParaRPr sz="900"/>
          </a:p>
        </p:txBody>
      </p:sp>
      <p:sp>
        <p:nvSpPr>
          <p:cNvPr id="618" name="Google Shape;618;p37"/>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Learning helps only inside the plan</a:t>
            </a:r>
            <a:endParaRPr sz="2700"/>
          </a:p>
        </p:txBody>
      </p:sp>
      <p:sp>
        <p:nvSpPr>
          <p:cNvPr id="619" name="Google Shape;619;p37"/>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Time to 71% accuracy (knee budget). E3 is a learned DQN scheduler, after Chen [8], with no plan.</a:t>
            </a:r>
            <a:endParaRPr sz="1300"/>
          </a:p>
        </p:txBody>
      </p:sp>
      <p:pic>
        <p:nvPicPr>
          <p:cNvPr id="620" name="Google Shape;620;p37"/>
          <p:cNvPicPr preferRelativeResize="0"/>
          <p:nvPr/>
        </p:nvPicPr>
        <p:blipFill rotWithShape="1">
          <a:blip r:embed="rId3">
            <a:alphaModFix/>
          </a:blip>
          <a:srcRect b="0" l="0" r="0" t="0"/>
          <a:stretch/>
        </p:blipFill>
        <p:spPr>
          <a:xfrm>
            <a:off x="342900" y="1337310"/>
            <a:ext cx="4526280" cy="2743200"/>
          </a:xfrm>
          <a:prstGeom prst="rect">
            <a:avLst/>
          </a:prstGeom>
          <a:noFill/>
          <a:ln>
            <a:noFill/>
          </a:ln>
        </p:spPr>
      </p:pic>
      <p:sp>
        <p:nvSpPr>
          <p:cNvPr id="621" name="Google Shape;621;p37"/>
          <p:cNvSpPr/>
          <p:nvPr/>
        </p:nvSpPr>
        <p:spPr>
          <a:xfrm>
            <a:off x="4800600" y="1405890"/>
            <a:ext cx="3931691" cy="994410"/>
          </a:xfrm>
          <a:prstGeom prst="roundRect">
            <a:avLst>
              <a:gd fmla="val 551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2" name="Google Shape;622;p37"/>
          <p:cNvSpPr txBox="1"/>
          <p:nvPr/>
        </p:nvSpPr>
        <p:spPr>
          <a:xfrm>
            <a:off x="5006340" y="1474470"/>
            <a:ext cx="3520211" cy="8572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Pre-registered test: flat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Pre-registered = fixed before running. No discount γ (how much later rewards count) beat γ = 0, and FQ matched FX (and F). So FX stays FeRRy's per-stop rule.</a:t>
            </a:r>
            <a:endParaRPr b="0" i="0" sz="1200" u="none" cap="none" strike="noStrike">
              <a:solidFill>
                <a:schemeClr val="dk1"/>
              </a:solidFill>
              <a:latin typeface="Calibri"/>
              <a:ea typeface="Calibri"/>
              <a:cs typeface="Calibri"/>
              <a:sym typeface="Calibri"/>
            </a:endParaRPr>
          </a:p>
        </p:txBody>
      </p:sp>
      <p:sp>
        <p:nvSpPr>
          <p:cNvPr id="623" name="Google Shape;623;p37"/>
          <p:cNvSpPr/>
          <p:nvPr/>
        </p:nvSpPr>
        <p:spPr>
          <a:xfrm>
            <a:off x="4800600" y="2482596"/>
            <a:ext cx="3931691" cy="994410"/>
          </a:xfrm>
          <a:prstGeom prst="roundRect">
            <a:avLst>
              <a:gd fmla="val 5517"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4" name="Google Shape;624;p37"/>
          <p:cNvSpPr txBox="1"/>
          <p:nvPr/>
        </p:nvSpPr>
        <p:spPr>
          <a:xfrm>
            <a:off x="5006340" y="2551176"/>
            <a:ext cx="3520211" cy="8572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Exploratory: FQ vs E3</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Exploratory = not planned in advance, so read with more caution. 180 vs 280 s at the knee: 100 s faster (95% CI 63–141 s, corrected p &lt; 0.001). Under stress, 174 vs 211 s: not significant.</a:t>
            </a:r>
            <a:endParaRPr b="0" i="0" sz="1200" u="none" cap="none" strike="noStrike">
              <a:solidFill>
                <a:schemeClr val="dk1"/>
              </a:solidFill>
              <a:latin typeface="Calibri"/>
              <a:ea typeface="Calibri"/>
              <a:cs typeface="Calibri"/>
              <a:sym typeface="Calibri"/>
            </a:endParaRPr>
          </a:p>
        </p:txBody>
      </p:sp>
      <p:sp>
        <p:nvSpPr>
          <p:cNvPr id="625" name="Google Shape;625;p37"/>
          <p:cNvSpPr/>
          <p:nvPr/>
        </p:nvSpPr>
        <p:spPr>
          <a:xfrm>
            <a:off x="4800600" y="3559302"/>
            <a:ext cx="3931691" cy="994410"/>
          </a:xfrm>
          <a:prstGeom prst="roundRect">
            <a:avLst>
              <a:gd fmla="val 5517" name="adj"/>
            </a:avLst>
          </a:prstGeom>
          <a:solidFill>
            <a:schemeClr val="accent1">
              <a:alpha val="14118"/>
            </a:schemeClr>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26" name="Google Shape;626;p37"/>
          <p:cNvSpPr txBox="1"/>
          <p:nvPr/>
        </p:nvSpPr>
        <p:spPr>
          <a:xfrm>
            <a:off x="5006340" y="3627882"/>
            <a:ext cx="3520211" cy="8572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Calibri"/>
              <a:buNone/>
            </a:pPr>
            <a:r>
              <a:rPr b="1" i="0" lang="en" sz="1200" u="none" cap="none" strike="noStrike">
                <a:solidFill>
                  <a:schemeClr val="dk1"/>
                </a:solidFill>
                <a:latin typeface="Calibri"/>
                <a:ea typeface="Calibri"/>
                <a:cs typeface="Calibri"/>
                <a:sym typeface="Calibri"/>
              </a:rPr>
              <a:t>Why</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dk1"/>
              </a:buClr>
              <a:buSzPts val="1100"/>
              <a:buFont typeface="Calibri"/>
              <a:buNone/>
            </a:pPr>
            <a:r>
              <a:rPr b="0" i="0" lang="en" sz="1000" u="none" cap="none" strike="noStrike">
                <a:solidFill>
                  <a:schemeClr val="dk1"/>
                </a:solidFill>
                <a:latin typeface="Calibri"/>
                <a:ea typeface="Calibri"/>
                <a:cs typeface="Calibri"/>
                <a:sym typeface="Calibri"/>
              </a:rPr>
              <a:t>FQ inherits the plan's band: 15 s of a 155 s mission is flying, vs 144 s of 228 s for E3. The gain is the plan, not the learning.</a:t>
            </a:r>
            <a:endParaRPr b="0" i="0" sz="1200" u="none" cap="none" strike="noStrike">
              <a:solidFill>
                <a:schemeClr val="dk1"/>
              </a:solidFill>
              <a:latin typeface="Calibri"/>
              <a:ea typeface="Calibri"/>
              <a:cs typeface="Calibri"/>
              <a:sym typeface="Calibri"/>
            </a:endParaRPr>
          </a:p>
        </p:txBody>
      </p:sp>
      <p:sp>
        <p:nvSpPr>
          <p:cNvPr id="627" name="Google Shape;627;p37"/>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426" name="Google Shape;426;p29"/>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ENERGY</a:t>
            </a:r>
            <a:endParaRPr sz="900"/>
          </a:p>
        </p:txBody>
      </p:sp>
      <p:sp>
        <p:nvSpPr>
          <p:cNvPr id="427" name="Google Shape;427;p29"/>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FeRRy reaches the target on 22–33% less energy</a:t>
            </a:r>
            <a:endParaRPr sz="2700"/>
          </a:p>
        </p:txBody>
      </p:sp>
      <p:sp>
        <p:nvSpPr>
          <p:cNvPr id="428" name="Google Shape;428;p29"/>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Drone energy until 71% accuracy (lower is better), 6 devices, 1 drone, knee budget, mean of 20 paired trials.</a:t>
            </a:r>
            <a:endParaRPr sz="1300"/>
          </a:p>
        </p:txBody>
      </p:sp>
      <p:sp>
        <p:nvSpPr>
          <p:cNvPr id="475" name="Google Shape;475;p29"/>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graphicFrame>
        <p:nvGraphicFramePr>
          <p:cNvPr id="632" name="Energy to target chart"/>
          <p:cNvGraphicFramePr>
            <a:graphicFrameLocks noGrp="1"/>
          </p:cNvGraphicFramePr>
          <p:nvPr/>
        </p:nvGraphicFramePr>
        <p:xfrm>
          <a:off x="347472" y="1335024"/>
          <a:ext cx="5285232" cy="3154680"/>
        </p:xfrm>
        <a:graphic>
          <a:graphicData uri="http://schemas.openxmlformats.org/drawingml/2006/chart">
            <c:chart r:id="rId3"/>
          </a:graphicData>
        </a:graphic>
      </p:graphicFrame>
      <p:sp>
        <p:nvSpPr>
          <p:cNvPr id="633" name="Rounded Rectangle 632"/>
          <p:cNvSpPr/>
          <p:nvPr/>
        </p:nvSpPr>
        <p:spPr>
          <a:xfrm>
            <a:off x="5870448" y="1408176"/>
            <a:ext cx="2862072" cy="722376"/>
          </a:xfrm>
          <a:prstGeom prst="roundRect">
            <a:avLst>
              <a:gd name="adj" fmla="val 5517"/>
            </a:avLst>
          </a:prstGeom>
          <a:solidFill>
            <a:schemeClr val="lt2"/>
          </a:solidFill>
          <a:ln>
            <a:noFill/>
          </a:ln>
        </p:spPr>
        <p:txBody>
          <a:bodyPr rtlCol="0" anchor="ctr"/>
          <a:lstStyle/>
          <a:p/>
        </p:txBody>
      </p:sp>
      <p:sp>
        <p:nvSpPr>
          <p:cNvPr id="634" name="TextBox 633"/>
          <p:cNvSpPr txBox="1"/>
          <p:nvPr/>
        </p:nvSpPr>
        <p:spPr>
          <a:xfrm>
            <a:off x="5998464" y="1408176"/>
            <a:ext cx="932688" cy="722376"/>
          </a:xfrm>
          <a:prstGeom prst="rect">
            <a:avLst/>
          </a:prstGeom>
          <a:noFill/>
        </p:spPr>
        <p:txBody>
          <a:bodyPr wrap="square" lIns="0" rIns="0" tIns="0" bIns="0" anchor="ctr">
            <a:spAutoFit/>
          </a:bodyPr>
          <a:lstStyle/>
          <a:p>
            <a:pPr algn="l"/>
            <a:r>
              <a:rPr sz="1800" b="1" i="0">
                <a:solidFill>
                  <a:schemeClr val="accent1"/>
                </a:solidFill>
                <a:latin typeface="Calibri"/>
              </a:rPr>
              <a:t>7 of 7</a:t>
            </a:r>
          </a:p>
        </p:txBody>
      </p:sp>
      <p:sp>
        <p:nvSpPr>
          <p:cNvPr id="635" name="TextBox 634"/>
          <p:cNvSpPr txBox="1"/>
          <p:nvPr/>
        </p:nvSpPr>
        <p:spPr>
          <a:xfrm>
            <a:off x="6986016" y="1444752"/>
            <a:ext cx="1618487" cy="649224"/>
          </a:xfrm>
          <a:prstGeom prst="rect">
            <a:avLst/>
          </a:prstGeom>
          <a:noFill/>
        </p:spPr>
        <p:txBody>
          <a:bodyPr wrap="square" lIns="0" rIns="0" tIns="0" bIns="0" anchor="ctr">
            <a:spAutoFit/>
          </a:bodyPr>
          <a:lstStyle/>
          <a:p>
            <a:pPr algn="l"/>
            <a:r>
              <a:rPr sz="1050" b="0" i="0">
                <a:solidFill>
                  <a:schemeClr val="dk1"/>
                </a:solidFill>
                <a:latin typeface="Calibri"/>
              </a:rPr>
              <a:t>baselines use more energy than F, FX and FQ alike (p &lt; 0.05 after correction)</a:t>
            </a:r>
          </a:p>
        </p:txBody>
      </p:sp>
      <p:sp>
        <p:nvSpPr>
          <p:cNvPr id="636" name="Rounded Rectangle 635"/>
          <p:cNvSpPr/>
          <p:nvPr/>
        </p:nvSpPr>
        <p:spPr>
          <a:xfrm>
            <a:off x="5870448" y="2217420"/>
            <a:ext cx="2862072" cy="722376"/>
          </a:xfrm>
          <a:prstGeom prst="roundRect">
            <a:avLst>
              <a:gd name="adj" fmla="val 5517"/>
            </a:avLst>
          </a:prstGeom>
          <a:solidFill>
            <a:schemeClr val="lt2"/>
          </a:solidFill>
          <a:ln>
            <a:noFill/>
          </a:ln>
        </p:spPr>
        <p:txBody>
          <a:bodyPr rtlCol="0" anchor="ctr"/>
          <a:lstStyle/>
          <a:p/>
        </p:txBody>
      </p:sp>
      <p:sp>
        <p:nvSpPr>
          <p:cNvPr id="637" name="TextBox 636"/>
          <p:cNvSpPr txBox="1"/>
          <p:nvPr/>
        </p:nvSpPr>
        <p:spPr>
          <a:xfrm>
            <a:off x="5998464" y="2217420"/>
            <a:ext cx="932688" cy="722376"/>
          </a:xfrm>
          <a:prstGeom prst="rect">
            <a:avLst/>
          </a:prstGeom>
          <a:noFill/>
        </p:spPr>
        <p:txBody>
          <a:bodyPr wrap="square" lIns="0" rIns="0" tIns="0" bIns="0" anchor="ctr">
            <a:spAutoFit/>
          </a:bodyPr>
          <a:lstStyle/>
          <a:p>
            <a:pPr algn="l"/>
            <a:r>
              <a:rPr sz="1800" b="1" i="0">
                <a:solidFill>
                  <a:schemeClr val="accent1"/>
                </a:solidFill>
                <a:latin typeface="Calibri"/>
              </a:rPr>
              <a:t>30–33%</a:t>
            </a:r>
          </a:p>
        </p:txBody>
      </p:sp>
      <p:sp>
        <p:nvSpPr>
          <p:cNvPr id="638" name="TextBox 637"/>
          <p:cNvSpPr txBox="1"/>
          <p:nvPr/>
        </p:nvSpPr>
        <p:spPr>
          <a:xfrm>
            <a:off x="6986016" y="2253996"/>
            <a:ext cx="1618487" cy="649224"/>
          </a:xfrm>
          <a:prstGeom prst="rect">
            <a:avLst/>
          </a:prstGeom>
          <a:noFill/>
        </p:spPr>
        <p:txBody>
          <a:bodyPr wrap="square" lIns="0" rIns="0" tIns="0" bIns="0" anchor="ctr">
            <a:spAutoFit/>
          </a:bodyPr>
          <a:lstStyle/>
          <a:p>
            <a:pPr algn="l"/>
            <a:r>
              <a:rPr sz="1050" b="0" i="0">
                <a:solidFill>
                  <a:schemeClr val="dk1"/>
                </a:solidFill>
                <a:latin typeface="Calibri"/>
              </a:rPr>
              <a:t>less energy than each baseline for FX (F: 22–26%, FQ: 28–32%)</a:t>
            </a:r>
          </a:p>
        </p:txBody>
      </p:sp>
      <p:sp>
        <p:nvSpPr>
          <p:cNvPr id="639" name="Rounded Rectangle 638"/>
          <p:cNvSpPr/>
          <p:nvPr/>
        </p:nvSpPr>
        <p:spPr>
          <a:xfrm>
            <a:off x="5870448" y="3026664"/>
            <a:ext cx="2862072" cy="722376"/>
          </a:xfrm>
          <a:prstGeom prst="roundRect">
            <a:avLst>
              <a:gd name="adj" fmla="val 5517"/>
            </a:avLst>
          </a:prstGeom>
          <a:solidFill>
            <a:schemeClr val="lt2"/>
          </a:solidFill>
          <a:ln>
            <a:noFill/>
          </a:ln>
        </p:spPr>
        <p:txBody>
          <a:bodyPr rtlCol="0" anchor="ctr"/>
          <a:lstStyle/>
          <a:p/>
        </p:txBody>
      </p:sp>
      <p:sp>
        <p:nvSpPr>
          <p:cNvPr id="640" name="TextBox 639"/>
          <p:cNvSpPr txBox="1"/>
          <p:nvPr/>
        </p:nvSpPr>
        <p:spPr>
          <a:xfrm>
            <a:off x="5998464" y="3026664"/>
            <a:ext cx="932688" cy="722376"/>
          </a:xfrm>
          <a:prstGeom prst="rect">
            <a:avLst/>
          </a:prstGeom>
          <a:noFill/>
        </p:spPr>
        <p:txBody>
          <a:bodyPr wrap="square" lIns="0" rIns="0" tIns="0" bIns="0" anchor="ctr">
            <a:spAutoFit/>
          </a:bodyPr>
          <a:lstStyle/>
          <a:p>
            <a:pPr algn="l"/>
            <a:r>
              <a:rPr sz="1800" b="1" i="0">
                <a:solidFill>
                  <a:schemeClr val="dk1"/>
                </a:solidFill>
                <a:latin typeface="Calibri"/>
              </a:rPr>
              <a:t>5.4 kJ</a:t>
            </a:r>
          </a:p>
        </p:txBody>
      </p:sp>
      <p:sp>
        <p:nvSpPr>
          <p:cNvPr id="641" name="TextBox 640"/>
          <p:cNvSpPr txBox="1"/>
          <p:nvPr/>
        </p:nvSpPr>
        <p:spPr>
          <a:xfrm>
            <a:off x="6986016" y="3063240"/>
            <a:ext cx="1618487" cy="649224"/>
          </a:xfrm>
          <a:prstGeom prst="rect">
            <a:avLst/>
          </a:prstGeom>
          <a:noFill/>
        </p:spPr>
        <p:txBody>
          <a:bodyPr wrap="square" lIns="0" rIns="0" tIns="0" bIns="0" anchor="ctr">
            <a:spAutoFit/>
          </a:bodyPr>
          <a:lstStyle/>
          <a:p>
            <a:pPr algn="l"/>
            <a:r>
              <a:rPr sz="1050" b="0" i="0">
                <a:solidFill>
                  <a:schemeClr val="dk1"/>
                </a:solidFill>
                <a:latin typeface="Calibri"/>
              </a:rPr>
              <a:t>per merged update for FX (FQ 5.7, F 6.4) vs 7.7–8.4 kJ for the baselines</a:t>
            </a:r>
          </a:p>
        </p:txBody>
      </p:sp>
      <p:sp>
        <p:nvSpPr>
          <p:cNvPr id="642" name="Rounded Rectangle 641"/>
          <p:cNvSpPr/>
          <p:nvPr/>
        </p:nvSpPr>
        <p:spPr>
          <a:xfrm>
            <a:off x="5870448" y="3835908"/>
            <a:ext cx="2862072" cy="722376"/>
          </a:xfrm>
          <a:prstGeom prst="roundRect">
            <a:avLst>
              <a:gd name="adj" fmla="val 5517"/>
            </a:avLst>
          </a:prstGeom>
          <a:solidFill>
            <a:schemeClr val="lt2"/>
          </a:solidFill>
          <a:ln>
            <a:noFill/>
          </a:ln>
        </p:spPr>
        <p:txBody>
          <a:bodyPr rtlCol="0" anchor="ctr"/>
          <a:lstStyle/>
          <a:p/>
        </p:txBody>
      </p:sp>
      <p:sp>
        <p:nvSpPr>
          <p:cNvPr id="643" name="TextBox 642"/>
          <p:cNvSpPr txBox="1"/>
          <p:nvPr/>
        </p:nvSpPr>
        <p:spPr>
          <a:xfrm>
            <a:off x="5998464" y="3835908"/>
            <a:ext cx="932688" cy="722376"/>
          </a:xfrm>
          <a:prstGeom prst="rect">
            <a:avLst/>
          </a:prstGeom>
          <a:noFill/>
        </p:spPr>
        <p:txBody>
          <a:bodyPr wrap="square" lIns="0" rIns="0" tIns="0" bIns="0" anchor="ctr">
            <a:spAutoFit/>
          </a:bodyPr>
          <a:lstStyle/>
          <a:p>
            <a:pPr algn="l"/>
            <a:r>
              <a:rPr sz="1800" b="1" i="0">
                <a:solidFill>
                  <a:schemeClr val="dk1"/>
                </a:solidFill>
                <a:latin typeface="Calibri"/>
              </a:rPr>
              <a:t>FQ +5%</a:t>
            </a:r>
          </a:p>
        </p:txBody>
      </p:sp>
      <p:sp>
        <p:nvSpPr>
          <p:cNvPr id="644" name="TextBox 643"/>
          <p:cNvSpPr txBox="1"/>
          <p:nvPr/>
        </p:nvSpPr>
        <p:spPr>
          <a:xfrm>
            <a:off x="6986016" y="3872484"/>
            <a:ext cx="1618487" cy="649224"/>
          </a:xfrm>
          <a:prstGeom prst="rect">
            <a:avLst/>
          </a:prstGeom>
          <a:noFill/>
        </p:spPr>
        <p:txBody>
          <a:bodyPr wrap="square" lIns="0" rIns="0" tIns="0" bIns="0" anchor="ctr">
            <a:spAutoFit/>
          </a:bodyPr>
          <a:lstStyle/>
          <a:p>
            <a:pPr algn="l"/>
            <a:r>
              <a:rPr sz="1050" b="0" i="0">
                <a:solidFill>
                  <a:schemeClr val="dk1"/>
                </a:solidFill>
                <a:latin typeface="Calibri"/>
              </a:rPr>
              <a:t>energy per mission vs FX, lower in only 3 of 20 runs. Its reward had no energy term.</a:t>
            </a:r>
          </a:p>
        </p:txBody>
      </p:sp>
      <p:sp>
        <p:nvSpPr>
          <p:cNvPr id="645" name="TextBox 644"/>
          <p:cNvSpPr txBox="1"/>
          <p:nvPr/>
        </p:nvSpPr>
        <p:spPr>
          <a:xfrm>
            <a:off x="411480" y="4507992"/>
            <a:ext cx="5257800" cy="274320"/>
          </a:xfrm>
          <a:prstGeom prst="rect">
            <a:avLst/>
          </a:prstGeom>
          <a:noFill/>
        </p:spPr>
        <p:txBody>
          <a:bodyPr wrap="square" lIns="0" rIns="0" tIns="0" bIns="0" anchor="t">
            <a:spAutoFit/>
          </a:bodyPr>
          <a:lstStyle/>
          <a:p>
            <a:pPr algn="l"/>
            <a:r>
              <a:rPr sz="900" b="0" i="1">
                <a:solidFill>
                  <a:schemeClr val="accent3"/>
                </a:solidFill>
                <a:latin typeface="Calibri"/>
              </a:rPr>
              <a:t>Simulated rotary-wing energy. All schedulers draw 124–132 W, so energy tracks flight time (FeRRy flies ~15 s per mission, the baselines ~140 s). *FQ: exploratory, flown later.</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426" name="Google Shape;426;p29"/>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TRADE-OFFS</a:t>
            </a:r>
            <a:endParaRPr sz="900"/>
          </a:p>
        </p:txBody>
      </p:sp>
      <p:sp>
        <p:nvSpPr>
          <p:cNvPr id="427" name="Google Shape;427;p29"/>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Tight budgets, not loose ones, erase FeRRy's lead</a:t>
            </a:r>
            <a:endParaRPr sz="2700"/>
          </a:p>
        </p:txBody>
      </p:sp>
      <p:sp>
        <p:nvSpPr>
          <p:cNvPr id="428" name="Google Shape;428;p29"/>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Time to 71% accuracy (lower is better) as the budget grows, 6 devices, mean of 20 paired trials.</a:t>
            </a:r>
            <a:endParaRPr sz="1300"/>
          </a:p>
        </p:txBody>
      </p:sp>
      <p:sp>
        <p:nvSpPr>
          <p:cNvPr id="475" name="Google Shape;475;p29"/>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graphicFrame>
        <p:nvGraphicFramePr>
          <p:cNvPr id="639" name="Budget trade-off chart"/>
          <p:cNvGraphicFramePr>
            <a:graphicFrameLocks noGrp="1"/>
          </p:cNvGraphicFramePr>
          <p:nvPr/>
        </p:nvGraphicFramePr>
        <p:xfrm>
          <a:off x="347472" y="1335024"/>
          <a:ext cx="5120640" cy="3108960"/>
        </p:xfrm>
        <a:graphic>
          <a:graphicData uri="http://schemas.openxmlformats.org/drawingml/2006/chart">
            <c:chart r:id="rId3"/>
          </a:graphicData>
        </a:graphic>
      </p:graphicFrame>
      <p:sp>
        <p:nvSpPr>
          <p:cNvPr id="640" name="Rounded Rectangle 639"/>
          <p:cNvSpPr/>
          <p:nvPr/>
        </p:nvSpPr>
        <p:spPr>
          <a:xfrm>
            <a:off x="5687568" y="1408176"/>
            <a:ext cx="3044952" cy="731520"/>
          </a:xfrm>
          <a:prstGeom prst="roundRect">
            <a:avLst>
              <a:gd name="adj" fmla="val 5517"/>
            </a:avLst>
          </a:prstGeom>
          <a:solidFill>
            <a:schemeClr val="lt2"/>
          </a:solidFill>
          <a:ln>
            <a:noFill/>
          </a:ln>
        </p:spPr>
        <p:txBody>
          <a:bodyPr rtlCol="0" anchor="ctr"/>
          <a:lstStyle/>
          <a:p/>
        </p:txBody>
      </p:sp>
      <p:sp>
        <p:nvSpPr>
          <p:cNvPr id="641" name="TextBox 640"/>
          <p:cNvSpPr txBox="1"/>
          <p:nvPr/>
        </p:nvSpPr>
        <p:spPr>
          <a:xfrm>
            <a:off x="5815583" y="1408176"/>
            <a:ext cx="914400" cy="731520"/>
          </a:xfrm>
          <a:prstGeom prst="rect">
            <a:avLst/>
          </a:prstGeom>
          <a:noFill/>
        </p:spPr>
        <p:txBody>
          <a:bodyPr wrap="square" lIns="0" rIns="0" tIns="0" bIns="0" anchor="ctr">
            <a:spAutoFit/>
          </a:bodyPr>
          <a:lstStyle/>
          <a:p>
            <a:pPr algn="l"/>
            <a:r>
              <a:rPr sz="1600" b="1" i="0">
                <a:solidFill>
                  <a:schemeClr val="accent1"/>
                </a:solidFill>
                <a:latin typeface="Calibri"/>
              </a:rPr>
              <a:t>7 of 7</a:t>
            </a:r>
          </a:p>
        </p:txBody>
      </p:sp>
      <p:sp>
        <p:nvSpPr>
          <p:cNvPr id="642" name="TextBox 641"/>
          <p:cNvSpPr txBox="1"/>
          <p:nvPr/>
        </p:nvSpPr>
        <p:spPr>
          <a:xfrm>
            <a:off x="6784847" y="1444752"/>
            <a:ext cx="1819656" cy="658368"/>
          </a:xfrm>
          <a:prstGeom prst="rect">
            <a:avLst/>
          </a:prstGeom>
          <a:noFill/>
        </p:spPr>
        <p:txBody>
          <a:bodyPr wrap="square" lIns="0" rIns="0" tIns="0" bIns="0" anchor="ctr">
            <a:spAutoFit/>
          </a:bodyPr>
          <a:lstStyle/>
          <a:p>
            <a:pPr algn="l"/>
            <a:r>
              <a:rPr sz="1000" b="0" i="0">
                <a:solidFill>
                  <a:schemeClr val="dk1"/>
                </a:solidFill>
                <a:latin typeface="Calibri"/>
              </a:rPr>
              <a:t>baselines slower at the knee and at 300 or 1800 s, where no one overruns: 26–33% sooner</a:t>
            </a:r>
          </a:p>
        </p:txBody>
      </p:sp>
      <p:sp>
        <p:nvSpPr>
          <p:cNvPr id="643" name="Rounded Rectangle 642"/>
          <p:cNvSpPr/>
          <p:nvPr/>
        </p:nvSpPr>
        <p:spPr>
          <a:xfrm>
            <a:off x="5687568" y="2217420"/>
            <a:ext cx="3044952" cy="731520"/>
          </a:xfrm>
          <a:prstGeom prst="roundRect">
            <a:avLst>
              <a:gd name="adj" fmla="val 5517"/>
            </a:avLst>
          </a:prstGeom>
          <a:solidFill>
            <a:schemeClr val="lt2"/>
          </a:solidFill>
          <a:ln>
            <a:noFill/>
          </a:ln>
        </p:spPr>
        <p:txBody>
          <a:bodyPr rtlCol="0" anchor="ctr"/>
          <a:lstStyle/>
          <a:p/>
        </p:txBody>
      </p:sp>
      <p:sp>
        <p:nvSpPr>
          <p:cNvPr id="644" name="TextBox 643"/>
          <p:cNvSpPr txBox="1"/>
          <p:nvPr/>
        </p:nvSpPr>
        <p:spPr>
          <a:xfrm>
            <a:off x="5815583" y="2217420"/>
            <a:ext cx="914400" cy="731520"/>
          </a:xfrm>
          <a:prstGeom prst="rect">
            <a:avLst/>
          </a:prstGeom>
          <a:noFill/>
        </p:spPr>
        <p:txBody>
          <a:bodyPr wrap="square" lIns="0" rIns="0" tIns="0" bIns="0" anchor="ctr">
            <a:spAutoFit/>
          </a:bodyPr>
          <a:lstStyle/>
          <a:p>
            <a:pPr algn="l"/>
            <a:r>
              <a:rPr sz="1600" b="1" i="0">
                <a:solidFill>
                  <a:schemeClr val="dk1"/>
                </a:solidFill>
                <a:latin typeface="Calibri"/>
              </a:rPr>
              <a:t>1 of 7</a:t>
            </a:r>
          </a:p>
        </p:txBody>
      </p:sp>
      <p:sp>
        <p:nvSpPr>
          <p:cNvPr id="645" name="TextBox 644"/>
          <p:cNvSpPr txBox="1"/>
          <p:nvPr/>
        </p:nvSpPr>
        <p:spPr>
          <a:xfrm>
            <a:off x="6784847" y="2253996"/>
            <a:ext cx="1819656" cy="658368"/>
          </a:xfrm>
          <a:prstGeom prst="rect">
            <a:avLst/>
          </a:prstGeom>
          <a:noFill/>
        </p:spPr>
        <p:txBody>
          <a:bodyPr wrap="square" lIns="0" rIns="0" tIns="0" bIns="0" anchor="ctr">
            <a:spAutoFit/>
          </a:bodyPr>
          <a:lstStyle/>
          <a:p>
            <a:pPr algn="l"/>
            <a:r>
              <a:rPr sz="1000" b="0" i="0">
                <a:solidFill>
                  <a:schemeClr val="dk1"/>
                </a:solidFill>
                <a:latin typeface="Calibri"/>
              </a:rPr>
              <a:t>under the tight budget: cut-short tours shrink the baselines' missions to ~175 s, so they catch up</a:t>
            </a:r>
          </a:p>
        </p:txBody>
      </p:sp>
      <p:sp>
        <p:nvSpPr>
          <p:cNvPr id="646" name="Rounded Rectangle 645"/>
          <p:cNvSpPr/>
          <p:nvPr/>
        </p:nvSpPr>
        <p:spPr>
          <a:xfrm>
            <a:off x="5687568" y="3026664"/>
            <a:ext cx="3044952" cy="731520"/>
          </a:xfrm>
          <a:prstGeom prst="roundRect">
            <a:avLst>
              <a:gd name="adj" fmla="val 5517"/>
            </a:avLst>
          </a:prstGeom>
          <a:solidFill>
            <a:schemeClr val="lt2"/>
          </a:solidFill>
          <a:ln>
            <a:noFill/>
          </a:ln>
        </p:spPr>
        <p:txBody>
          <a:bodyPr rtlCol="0" anchor="ctr"/>
          <a:lstStyle/>
          <a:p/>
        </p:txBody>
      </p:sp>
      <p:sp>
        <p:nvSpPr>
          <p:cNvPr id="647" name="TextBox 646"/>
          <p:cNvSpPr txBox="1"/>
          <p:nvPr/>
        </p:nvSpPr>
        <p:spPr>
          <a:xfrm>
            <a:off x="5815583" y="3026664"/>
            <a:ext cx="914400" cy="731520"/>
          </a:xfrm>
          <a:prstGeom prst="rect">
            <a:avLst/>
          </a:prstGeom>
          <a:noFill/>
        </p:spPr>
        <p:txBody>
          <a:bodyPr wrap="square" lIns="0" rIns="0" tIns="0" bIns="0" anchor="ctr">
            <a:spAutoFit/>
          </a:bodyPr>
          <a:lstStyle/>
          <a:p>
            <a:pPr algn="l"/>
            <a:r>
              <a:rPr sz="1600" b="1" i="0">
                <a:solidFill>
                  <a:schemeClr val="dk1"/>
                </a:solidFill>
                <a:latin typeface="Calibri"/>
              </a:rPr>
              <a:t>0 of 7</a:t>
            </a:r>
          </a:p>
        </p:txBody>
      </p:sp>
      <p:sp>
        <p:nvSpPr>
          <p:cNvPr id="648" name="TextBox 647"/>
          <p:cNvSpPr txBox="1"/>
          <p:nvPr/>
        </p:nvSpPr>
        <p:spPr>
          <a:xfrm>
            <a:off x="6784847" y="3063240"/>
            <a:ext cx="1819656" cy="658368"/>
          </a:xfrm>
          <a:prstGeom prst="rect">
            <a:avLst/>
          </a:prstGeom>
          <a:noFill/>
        </p:spPr>
        <p:txBody>
          <a:bodyPr wrap="square" lIns="0" rIns="0" tIns="0" bIns="0" anchor="ctr">
            <a:spAutoFit/>
          </a:bodyPr>
          <a:lstStyle/>
          <a:p>
            <a:pPr algn="l"/>
            <a:r>
              <a:rPr sz="1000" b="0" i="0">
                <a:solidFill>
                  <a:schemeClr val="dk1"/>
                </a:solidFill>
                <a:latin typeface="Calibri"/>
              </a:rPr>
              <a:t>with 3 drones: each covers ~2 devices, flying is short for all, and everyone takes 52–65 s</a:t>
            </a:r>
          </a:p>
        </p:txBody>
      </p:sp>
      <p:sp>
        <p:nvSpPr>
          <p:cNvPr id="649" name="Rounded Rectangle 648"/>
          <p:cNvSpPr/>
          <p:nvPr/>
        </p:nvSpPr>
        <p:spPr>
          <a:xfrm>
            <a:off x="5687568" y="3835908"/>
            <a:ext cx="3044952" cy="731520"/>
          </a:xfrm>
          <a:prstGeom prst="roundRect">
            <a:avLst>
              <a:gd name="adj" fmla="val 5517"/>
            </a:avLst>
          </a:prstGeom>
          <a:solidFill>
            <a:schemeClr val="lt2"/>
          </a:solidFill>
          <a:ln>
            <a:noFill/>
          </a:ln>
        </p:spPr>
        <p:txBody>
          <a:bodyPr rtlCol="0" anchor="ctr"/>
          <a:lstStyle/>
          <a:p/>
        </p:txBody>
      </p:sp>
      <p:sp>
        <p:nvSpPr>
          <p:cNvPr id="650" name="TextBox 649"/>
          <p:cNvSpPr txBox="1"/>
          <p:nvPr/>
        </p:nvSpPr>
        <p:spPr>
          <a:xfrm>
            <a:off x="5815583" y="3835908"/>
            <a:ext cx="914400" cy="731520"/>
          </a:xfrm>
          <a:prstGeom prst="rect">
            <a:avLst/>
          </a:prstGeom>
          <a:noFill/>
        </p:spPr>
        <p:txBody>
          <a:bodyPr wrap="square" lIns="0" rIns="0" tIns="0" bIns="0" anchor="ctr">
            <a:spAutoFit/>
          </a:bodyPr>
          <a:lstStyle/>
          <a:p>
            <a:pPr algn="l"/>
            <a:r>
              <a:rPr sz="1600" b="1" i="0">
                <a:solidFill>
                  <a:schemeClr val="dk1"/>
                </a:solidFill>
                <a:latin typeface="Calibri"/>
              </a:rPr>
              <a:t>30%</a:t>
            </a:r>
          </a:p>
        </p:txBody>
      </p:sp>
      <p:sp>
        <p:nvSpPr>
          <p:cNvPr id="651" name="TextBox 650"/>
          <p:cNvSpPr txBox="1"/>
          <p:nvPr/>
        </p:nvSpPr>
        <p:spPr>
          <a:xfrm>
            <a:off x="6784847" y="3872484"/>
            <a:ext cx="1819656" cy="658368"/>
          </a:xfrm>
          <a:prstGeom prst="rect">
            <a:avLst/>
          </a:prstGeom>
          <a:noFill/>
        </p:spPr>
        <p:txBody>
          <a:bodyPr wrap="square" lIns="0" rIns="0" tIns="0" bIns="0" anchor="ctr">
            <a:spAutoFit/>
          </a:bodyPr>
          <a:lstStyle/>
          <a:p>
            <a:pPr algn="l"/>
            <a:r>
              <a:rPr sz="1000" b="0" i="0">
                <a:solidFill>
                  <a:schemeClr val="dk1"/>
                </a:solidFill>
                <a:latin typeface="Calibri"/>
              </a:rPr>
              <a:t>of F's tight-budget missions overrun (by ~28 s), vs ≤ 9% for the baselines that obey the budget</a:t>
            </a:r>
          </a:p>
        </p:txBody>
      </p:sp>
      <p:sp>
        <p:nvSpPr>
          <p:cNvPr id="652" name="TextBox 651"/>
          <p:cNvSpPr txBox="1"/>
          <p:nvPr/>
        </p:nvSpPr>
        <p:spPr>
          <a:xfrm>
            <a:off x="411480" y="4507992"/>
            <a:ext cx="5120640" cy="274320"/>
          </a:xfrm>
          <a:prstGeom prst="rect">
            <a:avLst/>
          </a:prstGeom>
          <a:noFill/>
        </p:spPr>
        <p:txBody>
          <a:bodyPr wrap="square" lIns="0" rIns="0" tIns="0" bIns="0" anchor="t">
            <a:spAutoFit/>
          </a:bodyPr>
          <a:lstStyle/>
          <a:p>
            <a:pPr algn="l"/>
            <a:r>
              <a:rPr sz="900" b="0" i="1">
                <a:solidFill>
                  <a:schemeClr val="accent3"/>
                </a:solidFill>
                <a:latin typeface="Calibri"/>
              </a:rPr>
              <a:t>Relaxed = 300 s (the pre-registered 2× knee) and 1800 s, flown 16 Oct and scored on their own; both give the same times. Beats = CI excludes 0, Holm p &lt; 0.05.</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40"/>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LIMITATIONS</a:t>
            </a:r>
            <a:endParaRPr sz="900"/>
          </a:p>
        </p:txBody>
      </p:sp>
      <p:sp>
        <p:nvSpPr>
          <p:cNvPr id="648" name="Google Shape;648;p40"/>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Limits I measured</a:t>
            </a:r>
            <a:endParaRPr sz="2700"/>
          </a:p>
        </p:txBody>
      </p:sp>
      <p:sp>
        <p:nvSpPr>
          <p:cNvPr id="649" name="Google Shape;649;p40"/>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Two limits matter most, and each comes from something the plan does not price.</a:t>
            </a:r>
            <a:endParaRPr sz="1300"/>
          </a:p>
        </p:txBody>
      </p:sp>
      <p:sp>
        <p:nvSpPr>
          <p:cNvPr id="650" name="Google Shape;650;p40"/>
          <p:cNvSpPr/>
          <p:nvPr/>
        </p:nvSpPr>
        <p:spPr>
          <a:xfrm>
            <a:off x="411480" y="1371600"/>
            <a:ext cx="4091826" cy="2983230"/>
          </a:xfrm>
          <a:prstGeom prst="roundRect">
            <a:avLst>
              <a:gd fmla="val 1839"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51" name="Google Shape;651;p40"/>
          <p:cNvSpPr/>
          <p:nvPr/>
        </p:nvSpPr>
        <p:spPr>
          <a:xfrm>
            <a:off x="617220" y="1522476"/>
            <a:ext cx="411480" cy="411480"/>
          </a:xfrm>
          <a:prstGeom prst="ellipse">
            <a:avLst/>
          </a:prstGeom>
          <a:solidFill>
            <a:schemeClr val="accent4"/>
          </a:solidFill>
          <a:ln cap="flat" cmpd="sng" w="12700">
            <a:solidFill>
              <a:schemeClr val="accent4">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652" name="Google Shape;652;p40"/>
          <p:cNvPicPr preferRelativeResize="0"/>
          <p:nvPr/>
        </p:nvPicPr>
        <p:blipFill rotWithShape="1">
          <a:blip r:embed="rId3">
            <a:alphaModFix/>
          </a:blip>
          <a:srcRect b="0" l="0" r="0" t="0"/>
          <a:stretch/>
        </p:blipFill>
        <p:spPr>
          <a:xfrm>
            <a:off x="707746" y="1613002"/>
            <a:ext cx="230428" cy="230428"/>
          </a:xfrm>
          <a:prstGeom prst="rect">
            <a:avLst/>
          </a:prstGeom>
          <a:noFill/>
          <a:ln>
            <a:noFill/>
          </a:ln>
        </p:spPr>
      </p:pic>
      <p:sp>
        <p:nvSpPr>
          <p:cNvPr id="653" name="Google Shape;653;p40"/>
          <p:cNvSpPr txBox="1"/>
          <p:nvPr/>
        </p:nvSpPr>
        <p:spPr>
          <a:xfrm>
            <a:off x="1131570" y="1522476"/>
            <a:ext cx="3200286"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Tight budgets: 3 in 10 missions finish late</a:t>
            </a:r>
            <a:endParaRPr b="0" i="0" sz="1400" u="none" cap="none" strike="noStrike">
              <a:solidFill>
                <a:schemeClr val="dk1"/>
              </a:solidFill>
              <a:latin typeface="Calibri"/>
              <a:ea typeface="Calibri"/>
              <a:cs typeface="Calibri"/>
              <a:sym typeface="Calibri"/>
            </a:endParaRPr>
          </a:p>
        </p:txBody>
      </p:sp>
      <p:sp>
        <p:nvSpPr>
          <p:cNvPr id="654" name="Google Shape;654;p40"/>
          <p:cNvSpPr txBox="1"/>
          <p:nvPr/>
        </p:nvSpPr>
        <p:spPr>
          <a:xfrm>
            <a:off x="617220" y="2057400"/>
            <a:ext cx="78867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000"/>
              <a:buFont typeface="Calibri"/>
              <a:buNone/>
            </a:pPr>
            <a:r>
              <a:rPr b="1" i="0" lang="en" sz="1000" u="none" cap="none" strike="noStrike">
                <a:solidFill>
                  <a:schemeClr val="accent3"/>
                </a:solidFill>
                <a:latin typeface="Calibri"/>
                <a:ea typeface="Calibri"/>
                <a:cs typeface="Calibri"/>
                <a:sym typeface="Calibri"/>
              </a:rPr>
              <a:t>What happens</a:t>
            </a:r>
            <a:endParaRPr b="0" i="0" sz="1000" u="none" cap="none" strike="noStrike">
              <a:solidFill>
                <a:schemeClr val="dk1"/>
              </a:solidFill>
              <a:latin typeface="Calibri"/>
              <a:ea typeface="Calibri"/>
              <a:cs typeface="Calibri"/>
              <a:sym typeface="Calibri"/>
            </a:endParaRPr>
          </a:p>
        </p:txBody>
      </p:sp>
      <p:sp>
        <p:nvSpPr>
          <p:cNvPr id="655" name="Google Shape;655;p40"/>
          <p:cNvSpPr txBox="1"/>
          <p:nvPr/>
        </p:nvSpPr>
        <p:spPr>
          <a:xfrm>
            <a:off x="1440180" y="2057400"/>
            <a:ext cx="2891676"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Under the stress budget, 30% of F's missions overrun (finish past the 75 s budget), by about 28 s. FedEx's route, which never skips a device, overruns in 85%.</a:t>
            </a:r>
            <a:endParaRPr b="0" i="0" sz="1100" u="none" cap="none" strike="noStrike">
              <a:solidFill>
                <a:schemeClr val="dk1"/>
              </a:solidFill>
              <a:latin typeface="Calibri"/>
              <a:ea typeface="Calibri"/>
              <a:cs typeface="Calibri"/>
              <a:sym typeface="Calibri"/>
            </a:endParaRPr>
          </a:p>
        </p:txBody>
      </p:sp>
      <p:sp>
        <p:nvSpPr>
          <p:cNvPr id="656" name="Google Shape;656;p40"/>
          <p:cNvSpPr txBox="1"/>
          <p:nvPr/>
        </p:nvSpPr>
        <p:spPr>
          <a:xfrm>
            <a:off x="617220" y="2914650"/>
            <a:ext cx="78867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000"/>
              <a:buFont typeface="Calibri"/>
              <a:buNone/>
            </a:pPr>
            <a:r>
              <a:rPr b="1" i="0" lang="en" sz="1000" u="none" cap="none" strike="noStrike">
                <a:solidFill>
                  <a:schemeClr val="accent3"/>
                </a:solidFill>
                <a:latin typeface="Calibri"/>
                <a:ea typeface="Calibri"/>
                <a:cs typeface="Calibri"/>
                <a:sym typeface="Calibri"/>
              </a:rPr>
              <a:t>Why</a:t>
            </a:r>
            <a:endParaRPr b="0" i="0" sz="1000" u="none" cap="none" strike="noStrike">
              <a:solidFill>
                <a:schemeClr val="dk1"/>
              </a:solidFill>
              <a:latin typeface="Calibri"/>
              <a:ea typeface="Calibri"/>
              <a:cs typeface="Calibri"/>
              <a:sym typeface="Calibri"/>
            </a:endParaRPr>
          </a:p>
        </p:txBody>
      </p:sp>
      <p:sp>
        <p:nvSpPr>
          <p:cNvPr id="657" name="Google Shape;657;p40"/>
          <p:cNvSpPr txBox="1"/>
          <p:nvPr/>
        </p:nvSpPr>
        <p:spPr>
          <a:xfrm>
            <a:off x="1440180" y="2914650"/>
            <a:ext cx="2891676" cy="10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050" u="none" cap="none" strike="noStrike">
                <a:solidFill>
                  <a:schemeClr val="dk1"/>
                </a:solidFill>
                <a:latin typeface="Calibri"/>
                <a:ea typeface="Calibri"/>
                <a:cs typeface="Calibri"/>
                <a:sym typeface="Calibri"/>
              </a:rPr>
              <a:t>The plan prices the average signal, but interference and shadowing (obstacles blocking the signal) make the real signal dip, so transfers run long. Most of F's mission is transfer time (85 of 155 s), and nothing re-checks after the last stop.</a:t>
            </a:r>
            <a:endParaRPr b="0" i="0" sz="1100" u="none" cap="none" strike="noStrike">
              <a:solidFill>
                <a:schemeClr val="dk1"/>
              </a:solidFill>
              <a:latin typeface="Calibri"/>
              <a:ea typeface="Calibri"/>
              <a:cs typeface="Calibri"/>
              <a:sym typeface="Calibri"/>
            </a:endParaRPr>
          </a:p>
        </p:txBody>
      </p:sp>
      <p:sp>
        <p:nvSpPr>
          <p:cNvPr id="658" name="Google Shape;658;p40"/>
          <p:cNvSpPr txBox="1"/>
          <p:nvPr/>
        </p:nvSpPr>
        <p:spPr>
          <a:xfrm>
            <a:off x="617220" y="3977640"/>
            <a:ext cx="78867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2"/>
              </a:buClr>
              <a:buSzPts val="1000"/>
              <a:buFont typeface="Calibri"/>
              <a:buNone/>
            </a:pPr>
            <a:r>
              <a:rPr b="1" i="0" lang="en" sz="1000" u="none" cap="none" strike="noStrike">
                <a:solidFill>
                  <a:schemeClr val="accent2"/>
                </a:solidFill>
                <a:latin typeface="Calibri"/>
                <a:ea typeface="Calibri"/>
                <a:cs typeface="Calibri"/>
                <a:sym typeface="Calibri"/>
              </a:rPr>
              <a:t>Next step</a:t>
            </a:r>
            <a:endParaRPr b="0" i="0" sz="1000" u="none" cap="none" strike="noStrike">
              <a:solidFill>
                <a:schemeClr val="dk1"/>
              </a:solidFill>
              <a:latin typeface="Calibri"/>
              <a:ea typeface="Calibri"/>
              <a:cs typeface="Calibri"/>
              <a:sym typeface="Calibri"/>
            </a:endParaRPr>
          </a:p>
        </p:txBody>
      </p:sp>
      <p:sp>
        <p:nvSpPr>
          <p:cNvPr id="659" name="Google Shape;659;p40"/>
          <p:cNvSpPr txBox="1"/>
          <p:nvPr/>
        </p:nvSpPr>
        <p:spPr>
          <a:xfrm>
            <a:off x="1440180" y="3977640"/>
            <a:ext cx="2891676"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Price the signal's variation, or keep slack in reserve.</a:t>
            </a:r>
            <a:endParaRPr b="0" i="0" sz="1100" u="none" cap="none" strike="noStrike">
              <a:solidFill>
                <a:schemeClr val="dk1"/>
              </a:solidFill>
              <a:latin typeface="Calibri"/>
              <a:ea typeface="Calibri"/>
              <a:cs typeface="Calibri"/>
              <a:sym typeface="Calibri"/>
            </a:endParaRPr>
          </a:p>
        </p:txBody>
      </p:sp>
      <p:sp>
        <p:nvSpPr>
          <p:cNvPr id="660" name="Google Shape;660;p40"/>
          <p:cNvSpPr/>
          <p:nvPr/>
        </p:nvSpPr>
        <p:spPr>
          <a:xfrm>
            <a:off x="4640466" y="1371600"/>
            <a:ext cx="4091826" cy="2983230"/>
          </a:xfrm>
          <a:prstGeom prst="roundRect">
            <a:avLst>
              <a:gd fmla="val 1839" name="adj"/>
            </a:avLst>
          </a:prstGeom>
          <a:solidFill>
            <a:schemeClr val="lt2"/>
          </a:solidFill>
          <a:ln cap="flat" cmpd="sng" w="12700">
            <a:solidFill>
              <a:schemeClr val="lt2">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61" name="Google Shape;661;p40"/>
          <p:cNvSpPr/>
          <p:nvPr/>
        </p:nvSpPr>
        <p:spPr>
          <a:xfrm>
            <a:off x="4846206" y="1522476"/>
            <a:ext cx="411480" cy="411480"/>
          </a:xfrm>
          <a:prstGeom prst="ellipse">
            <a:avLst/>
          </a:prstGeom>
          <a:solidFill>
            <a:schemeClr val="accent4"/>
          </a:solidFill>
          <a:ln cap="flat" cmpd="sng" w="12700">
            <a:solidFill>
              <a:schemeClr val="accent4">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pic>
        <p:nvPicPr>
          <p:cNvPr descr="preencoded.png" id="662" name="Google Shape;662;p40"/>
          <p:cNvPicPr preferRelativeResize="0"/>
          <p:nvPr/>
        </p:nvPicPr>
        <p:blipFill rotWithShape="1">
          <a:blip r:embed="rId4">
            <a:alphaModFix/>
          </a:blip>
          <a:srcRect b="0" l="0" r="0" t="0"/>
          <a:stretch/>
        </p:blipFill>
        <p:spPr>
          <a:xfrm>
            <a:off x="4936731" y="1613002"/>
            <a:ext cx="230429" cy="230428"/>
          </a:xfrm>
          <a:prstGeom prst="rect">
            <a:avLst/>
          </a:prstGeom>
          <a:noFill/>
          <a:ln>
            <a:noFill/>
          </a:ln>
        </p:spPr>
      </p:pic>
      <p:sp>
        <p:nvSpPr>
          <p:cNvPr id="663" name="Google Shape;663;p40"/>
          <p:cNvSpPr txBox="1"/>
          <p:nvPr/>
        </p:nvSpPr>
        <p:spPr>
          <a:xfrm>
            <a:off x="5360556" y="1522476"/>
            <a:ext cx="3200286"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rPr b="1" i="0" lang="en" sz="1400" u="none" cap="none" strike="noStrike">
                <a:solidFill>
                  <a:schemeClr val="dk1"/>
                </a:solidFill>
                <a:latin typeface="Calibri"/>
                <a:ea typeface="Calibri"/>
                <a:cs typeface="Calibri"/>
                <a:sym typeface="Calibri"/>
              </a:rPr>
              <a:t>Training time: updates are not ready</a:t>
            </a:r>
            <a:endParaRPr b="0" i="0" sz="1400" u="none" cap="none" strike="noStrike">
              <a:solidFill>
                <a:schemeClr val="dk1"/>
              </a:solidFill>
              <a:latin typeface="Calibri"/>
              <a:ea typeface="Calibri"/>
              <a:cs typeface="Calibri"/>
              <a:sym typeface="Calibri"/>
            </a:endParaRPr>
          </a:p>
        </p:txBody>
      </p:sp>
      <p:sp>
        <p:nvSpPr>
          <p:cNvPr id="664" name="Google Shape;664;p40"/>
          <p:cNvSpPr txBox="1"/>
          <p:nvPr/>
        </p:nvSpPr>
        <p:spPr>
          <a:xfrm>
            <a:off x="4846206" y="2057400"/>
            <a:ext cx="78867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000"/>
              <a:buFont typeface="Calibri"/>
              <a:buNone/>
            </a:pPr>
            <a:r>
              <a:rPr b="1" i="0" lang="en" sz="1000" u="none" cap="none" strike="noStrike">
                <a:solidFill>
                  <a:schemeClr val="accent3"/>
                </a:solidFill>
                <a:latin typeface="Calibri"/>
                <a:ea typeface="Calibri"/>
                <a:cs typeface="Calibri"/>
                <a:sym typeface="Calibri"/>
              </a:rPr>
              <a:t>What happens</a:t>
            </a:r>
            <a:endParaRPr b="0" i="0" sz="1000" u="none" cap="none" strike="noStrike">
              <a:solidFill>
                <a:schemeClr val="dk1"/>
              </a:solidFill>
              <a:latin typeface="Calibri"/>
              <a:ea typeface="Calibri"/>
              <a:cs typeface="Calibri"/>
              <a:sym typeface="Calibri"/>
            </a:endParaRPr>
          </a:p>
        </p:txBody>
      </p:sp>
      <p:sp>
        <p:nvSpPr>
          <p:cNvPr id="665" name="Google Shape;665;p40"/>
          <p:cNvSpPr txBox="1"/>
          <p:nvPr/>
        </p:nvSpPr>
        <p:spPr>
          <a:xfrm>
            <a:off x="5669166" y="2057400"/>
            <a:ext cx="2891676"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When devices need time to train, 79% of F's visits find no update ready: 0.7 updates per round instead of 3.5. F reaches the target in 70–75% of trials (H1, FedEx route, FedCS: 85–100%).</a:t>
            </a:r>
            <a:endParaRPr b="0" i="0" sz="1100" u="none" cap="none" strike="noStrike">
              <a:solidFill>
                <a:schemeClr val="dk1"/>
              </a:solidFill>
              <a:latin typeface="Calibri"/>
              <a:ea typeface="Calibri"/>
              <a:cs typeface="Calibri"/>
              <a:sym typeface="Calibri"/>
            </a:endParaRPr>
          </a:p>
        </p:txBody>
      </p:sp>
      <p:sp>
        <p:nvSpPr>
          <p:cNvPr id="666" name="Google Shape;666;p40"/>
          <p:cNvSpPr txBox="1"/>
          <p:nvPr/>
        </p:nvSpPr>
        <p:spPr>
          <a:xfrm>
            <a:off x="4846206" y="2914650"/>
            <a:ext cx="78867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3"/>
              </a:buClr>
              <a:buSzPts val="1000"/>
              <a:buFont typeface="Calibri"/>
              <a:buNone/>
            </a:pPr>
            <a:r>
              <a:rPr b="1" i="0" lang="en" sz="1000" u="none" cap="none" strike="noStrike">
                <a:solidFill>
                  <a:schemeClr val="accent3"/>
                </a:solidFill>
                <a:latin typeface="Calibri"/>
                <a:ea typeface="Calibri"/>
                <a:cs typeface="Calibri"/>
                <a:sym typeface="Calibri"/>
              </a:rPr>
              <a:t>Why</a:t>
            </a:r>
            <a:endParaRPr b="0" i="0" sz="1000" u="none" cap="none" strike="noStrike">
              <a:solidFill>
                <a:schemeClr val="dk1"/>
              </a:solidFill>
              <a:latin typeface="Calibri"/>
              <a:ea typeface="Calibri"/>
              <a:cs typeface="Calibri"/>
              <a:sym typeface="Calibri"/>
            </a:endParaRPr>
          </a:p>
        </p:txBody>
      </p:sp>
      <p:sp>
        <p:nvSpPr>
          <p:cNvPr id="667" name="Google Shape;667;p40"/>
          <p:cNvSpPr txBox="1"/>
          <p:nvPr/>
        </p:nvSpPr>
        <p:spPr>
          <a:xfrm>
            <a:off x="5669166" y="2914650"/>
            <a:ext cx="2891676" cy="10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The plan assumes every update is waiting. Training (median 68 s) restarts with each new model, and F reaches the field with ~11 s of flying, so it often returns before devices finish. The baselines' ~130 s tours give devices time.</a:t>
            </a:r>
            <a:endParaRPr b="0" i="0" sz="1100" u="none" cap="none" strike="noStrike">
              <a:solidFill>
                <a:schemeClr val="dk1"/>
              </a:solidFill>
              <a:latin typeface="Calibri"/>
              <a:ea typeface="Calibri"/>
              <a:cs typeface="Calibri"/>
              <a:sym typeface="Calibri"/>
            </a:endParaRPr>
          </a:p>
        </p:txBody>
      </p:sp>
      <p:sp>
        <p:nvSpPr>
          <p:cNvPr id="668" name="Google Shape;668;p40"/>
          <p:cNvSpPr txBox="1"/>
          <p:nvPr/>
        </p:nvSpPr>
        <p:spPr>
          <a:xfrm>
            <a:off x="4846206" y="3977640"/>
            <a:ext cx="78867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2"/>
              </a:buClr>
              <a:buSzPts val="1000"/>
              <a:buFont typeface="Calibri"/>
              <a:buNone/>
            </a:pPr>
            <a:r>
              <a:rPr b="1" i="0" lang="en" sz="1000" u="none" cap="none" strike="noStrike">
                <a:solidFill>
                  <a:schemeClr val="accent2"/>
                </a:solidFill>
                <a:latin typeface="Calibri"/>
                <a:ea typeface="Calibri"/>
                <a:cs typeface="Calibri"/>
                <a:sym typeface="Calibri"/>
              </a:rPr>
              <a:t>Next step</a:t>
            </a:r>
            <a:endParaRPr b="0" i="0" sz="1000" u="none" cap="none" strike="noStrike">
              <a:solidFill>
                <a:schemeClr val="dk1"/>
              </a:solidFill>
              <a:latin typeface="Calibri"/>
              <a:ea typeface="Calibri"/>
              <a:cs typeface="Calibri"/>
              <a:sym typeface="Calibri"/>
            </a:endParaRPr>
          </a:p>
        </p:txBody>
      </p:sp>
      <p:sp>
        <p:nvSpPr>
          <p:cNvPr id="669" name="Google Shape;669;p40"/>
          <p:cNvSpPr txBox="1"/>
          <p:nvPr/>
        </p:nvSpPr>
        <p:spPr>
          <a:xfrm>
            <a:off x="5669166" y="3977640"/>
            <a:ext cx="2891676" cy="30861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Calibri"/>
              <a:buNone/>
            </a:pPr>
            <a:r>
              <a:rPr b="0" i="0" lang="en" sz="1100" u="none" cap="none" strike="noStrike">
                <a:solidFill>
                  <a:schemeClr val="dk1"/>
                </a:solidFill>
                <a:latin typeface="Calibri"/>
                <a:ea typeface="Calibri"/>
                <a:cs typeface="Calibri"/>
                <a:sym typeface="Calibri"/>
              </a:rPr>
              <a:t>Add each device's expected training time to the plan.</a:t>
            </a:r>
            <a:endParaRPr b="0" i="0" sz="1100" u="none" cap="none" strike="noStrike">
              <a:solidFill>
                <a:schemeClr val="dk1"/>
              </a:solidFill>
              <a:latin typeface="Calibri"/>
              <a:ea typeface="Calibri"/>
              <a:cs typeface="Calibri"/>
              <a:sym typeface="Calibri"/>
            </a:endParaRPr>
          </a:p>
        </p:txBody>
      </p:sp>
      <p:sp>
        <p:nvSpPr>
          <p:cNvPr id="670" name="Google Shape;670;p40"/>
          <p:cNvSpPr txBox="1"/>
          <p:nvPr/>
        </p:nvSpPr>
        <p:spPr>
          <a:xfrm>
            <a:off x="411480" y="4389120"/>
            <a:ext cx="832081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3"/>
              </a:buClr>
              <a:buSzPts val="900"/>
              <a:buFont typeface="Calibri"/>
              <a:buNone/>
            </a:pPr>
            <a:r>
              <a:rPr b="0" i="1" lang="en" sz="900" u="none" cap="none" strike="noStrike">
                <a:solidFill>
                  <a:schemeClr val="accent3"/>
                </a:solidFill>
                <a:latin typeface="Calibri"/>
                <a:ea typeface="Calibri"/>
                <a:cs typeface="Calibri"/>
                <a:sym typeface="Calibri"/>
              </a:rPr>
              <a:t>Also: flight, radio and energy are simulated (real-radio tests await a testbed), and some studies flew 20 of 40 planned trials. With non-IID data (each device holds a different kind of data), every scheduler reaches the target in about half the trials.</a:t>
            </a:r>
            <a:endParaRPr b="0" i="0" sz="900" u="none" cap="none" strike="noStrike">
              <a:solidFill>
                <a:schemeClr val="dk1"/>
              </a:solidFill>
              <a:latin typeface="Calibri"/>
              <a:ea typeface="Calibri"/>
              <a:cs typeface="Calibri"/>
              <a:sym typeface="Calibri"/>
            </a:endParaRPr>
          </a:p>
        </p:txBody>
      </p:sp>
      <p:sp>
        <p:nvSpPr>
          <p:cNvPr id="671" name="Google Shape;671;p40"/>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41"/>
          <p:cNvSpPr txBox="1"/>
          <p:nvPr>
            <p:ph type="title"/>
          </p:nvPr>
        </p:nvSpPr>
        <p:spPr>
          <a:xfrm>
            <a:off x="548640" y="411480"/>
            <a:ext cx="8023860" cy="6172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3000"/>
              <a:buFont typeface="Cambria"/>
              <a:buNone/>
            </a:pPr>
            <a:r>
              <a:rPr b="1" lang="en" sz="3000">
                <a:solidFill>
                  <a:schemeClr val="lt1"/>
                </a:solidFill>
              </a:rPr>
              <a:t>Takeaways and next steps</a:t>
            </a:r>
            <a:endParaRPr sz="3000"/>
          </a:p>
        </p:txBody>
      </p:sp>
      <p:sp>
        <p:nvSpPr>
          <p:cNvPr id="678" name="Google Shape;678;p41"/>
          <p:cNvSpPr/>
          <p:nvPr/>
        </p:nvSpPr>
        <p:spPr>
          <a:xfrm>
            <a:off x="548640" y="1303020"/>
            <a:ext cx="377190" cy="377190"/>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79" name="Google Shape;679;p41"/>
          <p:cNvSpPr txBox="1"/>
          <p:nvPr/>
        </p:nvSpPr>
        <p:spPr>
          <a:xfrm>
            <a:off x="548640" y="1303020"/>
            <a:ext cx="377190" cy="37719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 sz="1400" u="none" cap="none" strike="noStrike">
                <a:solidFill>
                  <a:schemeClr val="lt1"/>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680" name="Google Shape;680;p41"/>
          <p:cNvSpPr txBox="1"/>
          <p:nvPr/>
        </p:nvSpPr>
        <p:spPr>
          <a:xfrm>
            <a:off x="1097280" y="1268730"/>
            <a:ext cx="3840480"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500"/>
              <a:buFont typeface="Calibri"/>
              <a:buNone/>
            </a:pPr>
            <a:r>
              <a:rPr b="1" i="0" lang="en" sz="1500" u="none" cap="none" strike="noStrike">
                <a:solidFill>
                  <a:schemeClr val="lt1"/>
                </a:solidFill>
                <a:latin typeface="Calibri"/>
                <a:ea typeface="Calibri"/>
                <a:cs typeface="Calibri"/>
                <a:sym typeface="Calibri"/>
              </a:rPr>
              <a:t>Reach is a decision.</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lt2"/>
              </a:buClr>
              <a:buSzPts val="1200"/>
              <a:buFont typeface="Calibri"/>
              <a:buNone/>
            </a:pPr>
            <a:r>
              <a:rPr b="0" i="0" lang="en" sz="1200" u="none" cap="none" strike="noStrike">
                <a:solidFill>
                  <a:schemeClr val="lt2"/>
                </a:solidFill>
                <a:latin typeface="Calibri"/>
                <a:ea typeface="Calibri"/>
                <a:cs typeface="Calibri"/>
                <a:sym typeface="Calibri"/>
              </a:rPr>
              <a:t>Reach = how far the drone's radio can talk to devices. Choosing the band with the route made FeRRy 27–31% faster to the target accuracy.</a:t>
            </a:r>
            <a:endParaRPr b="0" i="0" sz="1500" u="none" cap="none" strike="noStrike">
              <a:solidFill>
                <a:schemeClr val="dk1"/>
              </a:solidFill>
              <a:latin typeface="Calibri"/>
              <a:ea typeface="Calibri"/>
              <a:cs typeface="Calibri"/>
              <a:sym typeface="Calibri"/>
            </a:endParaRPr>
          </a:p>
        </p:txBody>
      </p:sp>
      <p:sp>
        <p:nvSpPr>
          <p:cNvPr id="681" name="Google Shape;681;p41"/>
          <p:cNvSpPr/>
          <p:nvPr/>
        </p:nvSpPr>
        <p:spPr>
          <a:xfrm>
            <a:off x="548640" y="2331720"/>
            <a:ext cx="377190" cy="377190"/>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2" name="Google Shape;682;p41"/>
          <p:cNvSpPr txBox="1"/>
          <p:nvPr/>
        </p:nvSpPr>
        <p:spPr>
          <a:xfrm>
            <a:off x="548640" y="2331720"/>
            <a:ext cx="377190" cy="37719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 sz="1400" u="none" cap="none" strike="noStrike">
                <a:solidFill>
                  <a:schemeClr val="lt1"/>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683" name="Google Shape;683;p41"/>
          <p:cNvSpPr txBox="1"/>
          <p:nvPr/>
        </p:nvSpPr>
        <p:spPr>
          <a:xfrm>
            <a:off x="1097280" y="2297430"/>
            <a:ext cx="3840480"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500"/>
              <a:buFont typeface="Calibri"/>
              <a:buNone/>
            </a:pPr>
            <a:r>
              <a:rPr b="1" i="0" lang="en" sz="1500" u="none" cap="none" strike="noStrike">
                <a:solidFill>
                  <a:schemeClr val="lt1"/>
                </a:solidFill>
                <a:latin typeface="Calibri"/>
                <a:ea typeface="Calibri"/>
                <a:cs typeface="Calibri"/>
                <a:sym typeface="Calibri"/>
              </a:rPr>
              <a:t>The gain comes from the plan.</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lt2"/>
              </a:buClr>
              <a:buSzPts val="1200"/>
              <a:buFont typeface="Calibri"/>
              <a:buNone/>
            </a:pPr>
            <a:r>
              <a:rPr b="0" i="0" lang="en" sz="1200" u="none" cap="none" strike="noStrike">
                <a:solidFill>
                  <a:schemeClr val="lt2"/>
                </a:solidFill>
                <a:latin typeface="Calibri"/>
                <a:ea typeface="Calibri"/>
                <a:cs typeface="Calibri"/>
                <a:sym typeface="Calibri"/>
              </a:rPr>
              <a:t>Learning inside it matched a fixed rule, and reached the target 36% sooner than a learned scheduler with no plan.</a:t>
            </a:r>
            <a:endParaRPr b="0" i="0" sz="1500" u="none" cap="none" strike="noStrike">
              <a:solidFill>
                <a:schemeClr val="dk1"/>
              </a:solidFill>
              <a:latin typeface="Calibri"/>
              <a:ea typeface="Calibri"/>
              <a:cs typeface="Calibri"/>
              <a:sym typeface="Calibri"/>
            </a:endParaRPr>
          </a:p>
        </p:txBody>
      </p:sp>
      <p:sp>
        <p:nvSpPr>
          <p:cNvPr id="684" name="Google Shape;684;p41"/>
          <p:cNvSpPr/>
          <p:nvPr/>
        </p:nvSpPr>
        <p:spPr>
          <a:xfrm>
            <a:off x="548640" y="3360420"/>
            <a:ext cx="377190" cy="377190"/>
          </a:xfrm>
          <a:prstGeom prst="ellipse">
            <a:avLst/>
          </a:prstGeom>
          <a:solidFill>
            <a:schemeClr val="accent1"/>
          </a:solidFill>
          <a:ln cap="flat" cmpd="sng" w="12700">
            <a:solidFill>
              <a:schemeClr val="accent1">
                <a:alpha val="0"/>
              </a:schemeClr>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5" name="Google Shape;685;p41"/>
          <p:cNvSpPr txBox="1"/>
          <p:nvPr/>
        </p:nvSpPr>
        <p:spPr>
          <a:xfrm>
            <a:off x="548640" y="3360420"/>
            <a:ext cx="377190" cy="37719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400"/>
              <a:buFont typeface="Calibri"/>
              <a:buNone/>
            </a:pPr>
            <a:r>
              <a:rPr b="1" i="0" lang="en" sz="1400" u="none" cap="none" strike="noStrike">
                <a:solidFill>
                  <a:schemeClr val="lt1"/>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686" name="Google Shape;686;p41"/>
          <p:cNvSpPr txBox="1"/>
          <p:nvPr/>
        </p:nvSpPr>
        <p:spPr>
          <a:xfrm>
            <a:off x="1097280" y="3326130"/>
            <a:ext cx="3840480" cy="8915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500"/>
              <a:buFont typeface="Calibri"/>
              <a:buNone/>
            </a:pPr>
            <a:r>
              <a:rPr b="1" i="0" lang="en" sz="1500" u="none" cap="none" strike="noStrike">
                <a:solidFill>
                  <a:schemeClr val="lt1"/>
                </a:solidFill>
                <a:latin typeface="Calibri"/>
                <a:ea typeface="Calibri"/>
                <a:cs typeface="Calibri"/>
                <a:sym typeface="Calibri"/>
              </a:rPr>
              <a:t>Fresh and cheap.</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300"/>
              </a:spcBef>
              <a:spcAft>
                <a:spcPts val="0"/>
              </a:spcAft>
              <a:buClr>
                <a:schemeClr val="lt2"/>
              </a:buClr>
              <a:buSzPts val="1200"/>
              <a:buFont typeface="Calibri"/>
              <a:buNone/>
            </a:pPr>
            <a:r>
              <a:rPr b="0" i="0" lang="en" sz="1200" u="none" cap="none" strike="noStrike">
                <a:solidFill>
                  <a:schemeClr val="lt2"/>
                </a:solidFill>
                <a:latin typeface="Calibri"/>
                <a:ea typeface="Calibri"/>
                <a:cs typeface="Calibri"/>
                <a:sym typeface="Calibri"/>
              </a:rPr>
              <a:t>Updates stay about a quarter fresher (fewer missions since each device was last merged) under tight budgets, and 96 devices plan in 1.5 s.</a:t>
            </a:r>
            <a:endParaRPr b="0" i="0" sz="1500" u="none" cap="none" strike="noStrike">
              <a:solidFill>
                <a:schemeClr val="dk1"/>
              </a:solidFill>
              <a:latin typeface="Calibri"/>
              <a:ea typeface="Calibri"/>
              <a:cs typeface="Calibri"/>
              <a:sym typeface="Calibri"/>
            </a:endParaRPr>
          </a:p>
        </p:txBody>
      </p:sp>
      <p:sp>
        <p:nvSpPr>
          <p:cNvPr id="687" name="Google Shape;687;p41"/>
          <p:cNvSpPr/>
          <p:nvPr/>
        </p:nvSpPr>
        <p:spPr>
          <a:xfrm>
            <a:off x="5383530" y="1268730"/>
            <a:ext cx="3360420" cy="2708910"/>
          </a:xfrm>
          <a:prstGeom prst="roundRect">
            <a:avLst>
              <a:gd fmla="val 2532" name="adj"/>
            </a:avLst>
          </a:prstGeom>
          <a:solidFill>
            <a:schemeClr val="lt1">
              <a:alpha val="7843"/>
            </a:schemeClr>
          </a:solidFill>
          <a:ln cap="flat" cmpd="sng" w="15875">
            <a:solidFill>
              <a:schemeClr val="accent5"/>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688" name="Google Shape;688;p41"/>
          <p:cNvSpPr txBox="1"/>
          <p:nvPr/>
        </p:nvSpPr>
        <p:spPr>
          <a:xfrm>
            <a:off x="5623560" y="1405890"/>
            <a:ext cx="2880360" cy="26746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700"/>
              <a:buFont typeface="Calibri"/>
              <a:buNone/>
            </a:pPr>
            <a:r>
              <a:rPr b="1" i="0" lang="en" sz="1700" u="none" cap="none" strike="noStrike">
                <a:solidFill>
                  <a:schemeClr val="accent1"/>
                </a:solidFill>
                <a:latin typeface="Calibri"/>
                <a:ea typeface="Calibri"/>
                <a:cs typeface="Calibri"/>
                <a:sym typeface="Calibri"/>
              </a:rPr>
              <a:t>Next steps</a:t>
            </a:r>
            <a:endParaRPr b="0" i="0" sz="1700" u="none" cap="none" strike="noStrike">
              <a:solidFill>
                <a:schemeClr val="dk1"/>
              </a:solidFill>
              <a:latin typeface="Calibri"/>
              <a:ea typeface="Calibri"/>
              <a:cs typeface="Calibri"/>
              <a:sym typeface="Calibri"/>
            </a:endParaRPr>
          </a:p>
          <a:p>
            <a:pPr indent="-139700" lvl="0" marL="139700" marR="0" rtl="0" algn="l">
              <a:lnSpc>
                <a:spcPct val="100000"/>
              </a:lnSpc>
              <a:spcBef>
                <a:spcPts val="900"/>
              </a:spcBef>
              <a:spcAft>
                <a:spcPts val="0"/>
              </a:spcAft>
              <a:buClr>
                <a:schemeClr val="lt1"/>
              </a:buClr>
              <a:buSzPts val="1400"/>
              <a:buFont typeface="Calibri"/>
              <a:buChar char="•"/>
            </a:pPr>
            <a:r>
              <a:rPr b="0" i="0" lang="en" sz="1400" u="none" cap="none" strike="noStrike">
                <a:solidFill>
                  <a:schemeClr val="lt1"/>
                </a:solidFill>
                <a:latin typeface="Calibri"/>
                <a:ea typeface="Calibri"/>
                <a:cs typeface="Calibri"/>
                <a:sym typeface="Calibri"/>
              </a:rPr>
              <a:t>Price channel variation in the plan</a:t>
            </a:r>
            <a:endParaRPr b="0" i="0" sz="1700" u="none" cap="none" strike="noStrike">
              <a:solidFill>
                <a:schemeClr val="dk1"/>
              </a:solidFill>
              <a:latin typeface="Calibri"/>
              <a:ea typeface="Calibri"/>
              <a:cs typeface="Calibri"/>
              <a:sym typeface="Calibri"/>
            </a:endParaRPr>
          </a:p>
          <a:p>
            <a:pPr indent="-139700" lvl="0" marL="139700" marR="0" rtl="0" algn="l">
              <a:lnSpc>
                <a:spcPct val="100000"/>
              </a:lnSpc>
              <a:spcBef>
                <a:spcPts val="1200"/>
              </a:spcBef>
              <a:spcAft>
                <a:spcPts val="0"/>
              </a:spcAft>
              <a:buClr>
                <a:schemeClr val="lt1"/>
              </a:buClr>
              <a:buSzPts val="1400"/>
              <a:buFont typeface="Calibri"/>
              <a:buChar char="•"/>
            </a:pPr>
            <a:r>
              <a:rPr b="0" i="0" lang="en" sz="1400" u="none" cap="none" strike="noStrike">
                <a:solidFill>
                  <a:schemeClr val="lt1"/>
                </a:solidFill>
                <a:latin typeface="Calibri"/>
                <a:ea typeface="Calibri"/>
                <a:cs typeface="Calibri"/>
                <a:sym typeface="Calibri"/>
              </a:rPr>
              <a:t>Add device training time to the plan</a:t>
            </a:r>
            <a:endParaRPr b="0" i="0" sz="1700" u="none" cap="none" strike="noStrike">
              <a:solidFill>
                <a:schemeClr val="dk1"/>
              </a:solidFill>
              <a:latin typeface="Calibri"/>
              <a:ea typeface="Calibri"/>
              <a:cs typeface="Calibri"/>
              <a:sym typeface="Calibri"/>
            </a:endParaRPr>
          </a:p>
          <a:p>
            <a:pPr indent="-139700" lvl="0" marL="139700" marR="0" rtl="0" algn="l">
              <a:lnSpc>
                <a:spcPct val="100000"/>
              </a:lnSpc>
              <a:spcBef>
                <a:spcPts val="1200"/>
              </a:spcBef>
              <a:spcAft>
                <a:spcPts val="0"/>
              </a:spcAft>
              <a:buClr>
                <a:schemeClr val="lt1"/>
              </a:buClr>
              <a:buSzPts val="1400"/>
              <a:buFont typeface="Calibri"/>
              <a:buChar char="•"/>
            </a:pPr>
            <a:r>
              <a:rPr b="0" i="0" lang="en" sz="1400" u="none" cap="none" strike="noStrike">
                <a:solidFill>
                  <a:schemeClr val="lt1"/>
                </a:solidFill>
                <a:latin typeface="Calibri"/>
                <a:ea typeface="Calibri"/>
                <a:cs typeface="Calibri"/>
                <a:sym typeface="Calibri"/>
              </a:rPr>
              <a:t>Validate the band trade over the air on a UAV testbed</a:t>
            </a:r>
            <a:endParaRPr b="0" i="0" sz="1700" u="none" cap="none" strike="noStrike">
              <a:solidFill>
                <a:schemeClr val="dk1"/>
              </a:solidFill>
              <a:latin typeface="Calibri"/>
              <a:ea typeface="Calibri"/>
              <a:cs typeface="Calibri"/>
              <a:sym typeface="Calibri"/>
            </a:endParaRPr>
          </a:p>
          <a:p>
            <a:pPr indent="-139700" lvl="0" marL="139700" marR="0" rtl="0" algn="l">
              <a:lnSpc>
                <a:spcPct val="100000"/>
              </a:lnSpc>
              <a:spcBef>
                <a:spcPts val="1200"/>
              </a:spcBef>
              <a:spcAft>
                <a:spcPts val="0"/>
              </a:spcAft>
              <a:buClr>
                <a:schemeClr val="lt1"/>
              </a:buClr>
              <a:buSzPts val="1400"/>
              <a:buFont typeface="Calibri"/>
              <a:buChar char="•"/>
            </a:pPr>
            <a:r>
              <a:rPr b="0" i="0" lang="en" sz="1400" u="none" cap="none" strike="noStrike">
                <a:solidFill>
                  <a:schemeClr val="lt1"/>
                </a:solidFill>
                <a:latin typeface="Calibri"/>
                <a:ea typeface="Calibri"/>
                <a:cs typeface="Calibri"/>
                <a:sym typeface="Calibri"/>
              </a:rPr>
              <a:t>Coordinate drones that share spectrum and a dock</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2"/>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APPENDIX</a:t>
            </a:r>
            <a:endParaRPr sz="900"/>
          </a:p>
        </p:txBody>
      </p:sp>
      <p:sp>
        <p:nvSpPr>
          <p:cNvPr id="694" name="Google Shape;694;p42"/>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References</a:t>
            </a:r>
            <a:endParaRPr sz="2700"/>
          </a:p>
        </p:txBody>
      </p:sp>
      <p:sp>
        <p:nvSpPr>
          <p:cNvPr id="695" name="Google Shape;695;p42"/>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Numbers match the bracketed citations on slides 3, 7, 8, 14 and 20, in order of first appearance.</a:t>
            </a:r>
            <a:endParaRPr sz="1300"/>
          </a:p>
        </p:txBody>
      </p:sp>
      <p:sp>
        <p:nvSpPr>
          <p:cNvPr id="696" name="Google Shape;696;p42"/>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sp>
        <p:nvSpPr>
          <p:cNvPr id="697" name="Google Shape;697;p42"/>
          <p:cNvSpPr txBox="1"/>
          <p:nvPr/>
        </p:nvSpPr>
        <p:spPr>
          <a:xfrm>
            <a:off x="411480" y="1417320"/>
            <a:ext cx="4069080" cy="3200400"/>
          </a:xfrm>
          <a:prstGeom prst="rect">
            <a:avLst/>
          </a:prstGeom>
          <a:noFill/>
          <a:ln>
            <a:noFill/>
          </a:ln>
        </p:spPr>
        <p:txBody>
          <a:bodyPr anchorCtr="0" anchor="t" bIns="0" lIns="0" spcFirstLastPara="1" rIns="0" wrap="square" tIns="0">
            <a:noAutofit/>
          </a:bodyPr>
          <a:lstStyle/>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[1]</a:t>
            </a:r>
            <a:r>
              <a:rPr b="0" i="0" lang="en" sz="950" u="none" cap="none" strike="noStrike">
                <a:solidFill>
                  <a:schemeClr val="dk1"/>
                </a:solidFill>
                <a:latin typeface="Calibri"/>
                <a:ea typeface="Calibri"/>
                <a:cs typeface="Calibri"/>
                <a:sym typeface="Calibri"/>
              </a:rPr>
              <a:t>	McMahan et al. Communication-efficient learning of deep networks from decentralized data (FedAvg). AISTATS 2017, PMLR 54:1273–1282. arXiv:1602.05629</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[2]</a:t>
            </a:r>
            <a:r>
              <a:rPr b="0" i="0" lang="en" sz="950" u="none" cap="none" strike="noStrike">
                <a:solidFill>
                  <a:schemeClr val="dk1"/>
                </a:solidFill>
                <a:latin typeface="Calibri"/>
                <a:ea typeface="Calibri"/>
                <a:cs typeface="Calibri"/>
                <a:sym typeface="Calibri"/>
              </a:rPr>
              <a:t>	Liu et al. Client-edge-cloud hierarchical federated learning. IEEE ICC 2020. doi:10.1109/ICC40277.2020.9148862</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[3]</a:t>
            </a:r>
            <a:r>
              <a:rPr b="0" i="0" lang="en" sz="950" u="none" cap="none" strike="noStrike">
                <a:solidFill>
                  <a:schemeClr val="dk1"/>
                </a:solidFill>
                <a:latin typeface="Calibri"/>
                <a:ea typeface="Calibri"/>
                <a:cs typeface="Calibri"/>
                <a:sym typeface="Calibri"/>
              </a:rPr>
              <a:t>	Lin et al. Delay-aware hierarchical federated learning. arXiv:2303.12414, 2023.</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[4]</a:t>
            </a:r>
            <a:r>
              <a:rPr b="0" i="0" lang="en" sz="950" u="none" cap="none" strike="noStrike">
                <a:solidFill>
                  <a:schemeClr val="dk1"/>
                </a:solidFill>
                <a:latin typeface="Calibri"/>
                <a:ea typeface="Calibri"/>
                <a:cs typeface="Calibri"/>
                <a:sym typeface="Calibri"/>
              </a:rPr>
              <a:t>	Yemini et al. Robust federated learning with connectivity failures: a semi-decentralized framework with collaborative relaying. arXiv:2202.11850, 2022.</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[5]</a:t>
            </a:r>
            <a:r>
              <a:rPr b="0" i="0" lang="en" sz="950" u="none" cap="none" strike="noStrike">
                <a:solidFill>
                  <a:schemeClr val="dk1"/>
                </a:solidFill>
                <a:latin typeface="Calibri"/>
                <a:ea typeface="Calibri"/>
                <a:cs typeface="Calibri"/>
                <a:sym typeface="Calibri"/>
              </a:rPr>
              <a:t>	Mestoukirdi et al. UAV-aided multi-community federated learning. IEEE GLOBECOM 2022. arXiv:2206.02043</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[6]</a:t>
            </a:r>
            <a:r>
              <a:rPr b="0" i="0" lang="en" sz="950" u="none" cap="none" strike="noStrike">
                <a:solidFill>
                  <a:schemeClr val="dk1"/>
                </a:solidFill>
                <a:latin typeface="Calibri"/>
                <a:ea typeface="Calibri"/>
                <a:cs typeface="Calibri"/>
                <a:sym typeface="Calibri"/>
              </a:rPr>
              <a:t>	Zhai et al. UAV-enabled asynchronous federated learning. IEEE Trans. Wireless Commun. 24(3), 2025, pp. 2358–2372. doi:10.1109/TWC.2024.3520501</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[7]</a:t>
            </a:r>
            <a:r>
              <a:rPr b="0" i="0" lang="en" sz="950" u="none" cap="none" strike="noStrike">
                <a:solidFill>
                  <a:schemeClr val="dk1"/>
                </a:solidFill>
                <a:latin typeface="Calibri"/>
                <a:ea typeface="Calibri"/>
                <a:cs typeface="Calibri"/>
                <a:sym typeface="Calibri"/>
              </a:rPr>
              <a:t>	Bian et al. Indirect-communication federated learning via mobile transporters (FedEx). IEEE Trans. Mobile Comput. 24(6), 2025, pp. 4845–4857. doi:10.1109/TMC.2025.3527405</a:t>
            </a:r>
            <a:endParaRPr b="0" i="0" sz="1300" u="none" cap="none" strike="noStrike">
              <a:solidFill>
                <a:srgbClr val="000000"/>
              </a:solidFill>
              <a:latin typeface="Calibri"/>
              <a:ea typeface="Calibri"/>
              <a:cs typeface="Calibri"/>
              <a:sym typeface="Calibri"/>
            </a:endParaRPr>
          </a:p>
        </p:txBody>
      </p:sp>
      <p:sp>
        <p:nvSpPr>
          <p:cNvPr id="698" name="Google Shape;698;p42"/>
          <p:cNvSpPr txBox="1"/>
          <p:nvPr/>
        </p:nvSpPr>
        <p:spPr>
          <a:xfrm>
            <a:off x="4663440" y="1417320"/>
            <a:ext cx="4069080" cy="3200400"/>
          </a:xfrm>
          <a:prstGeom prst="rect">
            <a:avLst/>
          </a:prstGeom>
          <a:noFill/>
          <a:ln>
            <a:noFill/>
          </a:ln>
        </p:spPr>
        <p:txBody>
          <a:bodyPr anchorCtr="0" anchor="t" bIns="0" lIns="0" spcFirstLastPara="1" rIns="0" wrap="square" tIns="0">
            <a:noAutofit/>
          </a:bodyPr>
          <a:lstStyle/>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[8]</a:t>
            </a:r>
            <a:r>
              <a:rPr b="0" i="0" lang="en" sz="950" u="none" cap="none" strike="noStrike">
                <a:solidFill>
                  <a:schemeClr val="dk1"/>
                </a:solidFill>
                <a:latin typeface="Calibri"/>
                <a:ea typeface="Calibri"/>
                <a:cs typeface="Calibri"/>
                <a:sym typeface="Calibri"/>
              </a:rPr>
              <a:t>	Chen et al. Model-aided federated reinforcement learning for multi-UAV trajectory planning in IoT networks. IEEE GLOBECOM Workshops 2023, pp. 818–823. doi:10.1109/GCWkshps58843.2023.10465088</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[9]</a:t>
            </a:r>
            <a:r>
              <a:rPr b="0" i="0" lang="en" sz="950" u="none" cap="none" strike="noStrike">
                <a:solidFill>
                  <a:schemeClr val="dk1"/>
                </a:solidFill>
                <a:latin typeface="Calibri"/>
                <a:ea typeface="Calibri"/>
                <a:cs typeface="Calibri"/>
                <a:sym typeface="Calibri"/>
              </a:rPr>
              <a:t>	Yu et al. The surprising effectiveness of PPO in cooperative multi-agent games (MAPPO). NeurIPS 2022 Datasets and Benchmarks. arXiv:2103.01955</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[10]</a:t>
            </a:r>
            <a:r>
              <a:rPr b="0" i="0" lang="en" sz="950" u="none" cap="none" strike="noStrike">
                <a:solidFill>
                  <a:schemeClr val="dk1"/>
                </a:solidFill>
                <a:latin typeface="Calibri"/>
                <a:ea typeface="Calibri"/>
                <a:cs typeface="Calibri"/>
                <a:sym typeface="Calibri"/>
              </a:rPr>
              <a:t>	Nishio and Yonetani. Client selection for federated learning with heterogeneous resources in mobile edge (FedCS). IEEE ICC 2019. doi:10.1109/ICC.2019.8761315</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[11]</a:t>
            </a:r>
            <a:r>
              <a:rPr b="0" i="0" lang="en" sz="950" u="none" cap="none" strike="noStrike">
                <a:solidFill>
                  <a:schemeClr val="dk1"/>
                </a:solidFill>
                <a:latin typeface="Calibri"/>
                <a:ea typeface="Calibri"/>
                <a:cs typeface="Calibri"/>
                <a:sym typeface="Calibri"/>
              </a:rPr>
              <a:t>	Lai et al. Oort: efficient federated learning via guided participant selection. USENIX OSDI 2021. arXiv:2010.06081</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[12]</a:t>
            </a:r>
            <a:r>
              <a:rPr b="0" i="0" lang="en" sz="950" u="none" cap="none" strike="noStrike">
                <a:solidFill>
                  <a:schemeClr val="dk1"/>
                </a:solidFill>
                <a:latin typeface="Calibri"/>
                <a:ea typeface="Calibri"/>
                <a:cs typeface="Calibri"/>
                <a:sym typeface="Calibri"/>
              </a:rPr>
              <a:t>	Cui et al. Data value based asynchronous federated learning for UAV swarm under unstable communication scenarios (Whittle index, age of information). IEEE Trans. Mobile Comput. 23(6), 2024, pp. 7165–7179. doi:10.1109/TMC.2023.3331906</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[13]</a:t>
            </a:r>
            <a:r>
              <a:rPr b="0" i="0" lang="en" sz="950" u="none" cap="none" strike="noStrike">
                <a:solidFill>
                  <a:schemeClr val="dk1"/>
                </a:solidFill>
                <a:latin typeface="Calibri"/>
                <a:ea typeface="Calibri"/>
                <a:cs typeface="Calibri"/>
                <a:sym typeface="Calibri"/>
              </a:rPr>
              <a:t>	Nguyen et al. Federated learning with buffered asynchronous aggregation (FedBuff). AISTATS 2022, PMLR 151:3581–3607. arXiv:2106.06639</a:t>
            </a:r>
            <a:endParaRPr b="0" i="0" sz="1300" u="none" cap="none" strike="noStrike">
              <a:solidFill>
                <a:srgbClr val="000000"/>
              </a:solidFill>
              <a:latin typeface="Calibri"/>
              <a:ea typeface="Calibri"/>
              <a:cs typeface="Calibri"/>
              <a:sym typeface="Calibri"/>
            </a:endParaRPr>
          </a:p>
          <a:p>
            <a:pPr indent="-260000" lvl="0" marL="260000" marR="0" rtl="0" algn="l">
              <a:lnSpc>
                <a:spcPct val="100000"/>
              </a:lnSpc>
              <a:spcBef>
                <a:spcPts val="500"/>
              </a:spcBef>
              <a:spcAft>
                <a:spcPts val="0"/>
              </a:spcAft>
              <a:buClr>
                <a:schemeClr val="accent3"/>
              </a:buClr>
              <a:buSzPts val="1300"/>
              <a:buFont typeface="Arial"/>
              <a:buNone/>
            </a:pPr>
            <a:r>
              <a:rPr b="1" i="0" lang="en" sz="950" u="none" cap="none" strike="noStrike">
                <a:solidFill>
                  <a:schemeClr val="dk1"/>
                </a:solidFill>
                <a:latin typeface="Calibri"/>
                <a:ea typeface="Calibri"/>
                <a:cs typeface="Calibri"/>
                <a:sym typeface="Calibri"/>
              </a:rPr>
              <a:t>[14]</a:t>
            </a:r>
            <a:r>
              <a:rPr b="0" i="0" lang="en" sz="950" u="none" cap="none" strike="noStrike">
                <a:solidFill>
                  <a:schemeClr val="dk1"/>
                </a:solidFill>
                <a:latin typeface="Calibri"/>
                <a:ea typeface="Calibri"/>
                <a:cs typeface="Calibri"/>
                <a:sym typeface="Calibri"/>
              </a:rPr>
              <a:t>	Yu et al. Async-HFL: efficient and robust asynchronous federated learning in hierarchical IoT networks. IoTDI 2023. doi:10.1145/3576842.3582377</a:t>
            </a:r>
            <a:endParaRPr b="0" i="0" sz="13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6" name="Google Shape;426;p29"/>
          <p:cNvSpPr txBox="1"/>
          <p:nvPr>
            <p:ph idx="1" type="body"/>
          </p:nvPr>
        </p:nvSpPr>
        <p:spPr>
          <a:xfrm>
            <a:off x="411480" y="233172"/>
            <a:ext cx="6858000" cy="2057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2"/>
              </a:buClr>
              <a:buSzPts val="900"/>
              <a:buNone/>
            </a:pPr>
            <a:r>
              <a:rPr b="1" lang="en" sz="900">
                <a:solidFill>
                  <a:schemeClr val="accent2"/>
                </a:solidFill>
              </a:rPr>
              <a:t>RESULTS · TRADE-OFFS</a:t>
            </a:r>
            <a:endParaRPr sz="900"/>
          </a:p>
        </p:txBody>
      </p:sp>
      <p:sp>
        <p:nvSpPr>
          <p:cNvPr id="427" name="Google Shape;427;p29"/>
          <p:cNvSpPr txBox="1"/>
          <p:nvPr>
            <p:ph type="title"/>
          </p:nvPr>
        </p:nvSpPr>
        <p:spPr>
          <a:xfrm>
            <a:off x="411480" y="438912"/>
            <a:ext cx="8320811" cy="493776"/>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2700"/>
              <a:buFont typeface="Cambria"/>
              <a:buNone/>
            </a:pPr>
            <a:r>
              <a:rPr b="1" lang="en" sz="2700">
                <a:solidFill>
                  <a:schemeClr val="dk1"/>
                </a:solidFill>
              </a:rPr>
              <a:t>Only a tight budget lets the baselines catch up</a:t>
            </a:r>
            <a:endParaRPr sz="2700"/>
          </a:p>
        </p:txBody>
      </p:sp>
      <p:sp>
        <p:nvSpPr>
          <p:cNvPr id="428" name="Google Shape;428;p29"/>
          <p:cNvSpPr txBox="1"/>
          <p:nvPr>
            <p:ph idx="2" type="body"/>
          </p:nvPr>
        </p:nvSpPr>
        <p:spPr>
          <a:xfrm>
            <a:off x="411480" y="973836"/>
            <a:ext cx="8320811" cy="30861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accent3"/>
              </a:buClr>
              <a:buSzPts val="1300"/>
              <a:buNone/>
            </a:pPr>
            <a:r>
              <a:rPr lang="en" sz="1300">
                <a:solidFill>
                  <a:schemeClr val="accent3"/>
                </a:solidFill>
              </a:rPr>
              <a:t>Time to 71% accuracy at each budget (lower is better), 6 devices, 1 drone, mean of 20 paired trials.</a:t>
            </a:r>
            <a:endParaRPr sz="1300"/>
          </a:p>
        </p:txBody>
      </p:sp>
      <p:sp>
        <p:nvSpPr>
          <p:cNvPr id="475" name="Google Shape;475;p29"/>
          <p:cNvSpPr txBox="1"/>
          <p:nvPr>
            <p:ph idx="4294967295" type="sldNum"/>
          </p:nvPr>
        </p:nvSpPr>
        <p:spPr>
          <a:xfrm>
            <a:off x="8387334" y="4800600"/>
            <a:ext cx="342900" cy="192024"/>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SzPts val="800"/>
              <a:buNone/>
            </a:pPr>
            <a:fld id="{00000000-1234-1234-1234-123412341234}" type="slidenum">
              <a:rPr b="0" lang="en" sz="800">
                <a:solidFill>
                  <a:srgbClr val="5E6B78"/>
                </a:solidFill>
                <a:latin typeface="Calibri"/>
                <a:ea typeface="Calibri"/>
                <a:cs typeface="Calibri"/>
                <a:sym typeface="Calibri"/>
              </a:rPr>
              <a:t>‹#›</a:t>
            </a:fld>
            <a:endParaRPr sz="800">
              <a:solidFill>
                <a:srgbClr val="5E6B78"/>
              </a:solidFill>
              <a:latin typeface="Calibri"/>
              <a:ea typeface="Calibri"/>
              <a:cs typeface="Calibri"/>
              <a:sym typeface="Calibri"/>
            </a:endParaRPr>
          </a:p>
        </p:txBody>
      </p:sp>
      <p:graphicFrame>
        <p:nvGraphicFramePr>
          <p:cNvPr id="476" name="Time to target by budget chart"/>
          <p:cNvGraphicFramePr>
            <a:graphicFrameLocks noGrp="1"/>
          </p:cNvGraphicFramePr>
          <p:nvPr/>
        </p:nvGraphicFramePr>
        <p:xfrm>
          <a:off x="347472" y="1335024"/>
          <a:ext cx="5715000" cy="3127248"/>
        </p:xfrm>
        <a:graphic>
          <a:graphicData uri="http://schemas.openxmlformats.org/drawingml/2006/chart">
            <c:chart xmlns:c="http://schemas.openxmlformats.org/drawingml/2006/chart" r:id="rId2"/>
          </a:graphicData>
        </a:graphic>
      </p:graphicFrame>
      <p:sp>
        <p:nvSpPr>
          <p:cNvPr id="477" name="Rounded Rectangle 476"/>
          <p:cNvSpPr/>
          <p:nvPr/>
        </p:nvSpPr>
        <p:spPr>
          <a:xfrm>
            <a:off x="6263640" y="1408176"/>
            <a:ext cx="2468880" cy="932688"/>
          </a:xfrm>
          <a:prstGeom prst="roundRect">
            <a:avLst>
              <a:gd name="adj" fmla="val 5517"/>
            </a:avLst>
          </a:prstGeom>
          <a:solidFill>
            <a:schemeClr val="lt2"/>
          </a:solidFill>
          <a:ln>
            <a:noFill/>
          </a:ln>
        </p:spPr>
        <p:txBody>
          <a:bodyPr rtlCol="0" anchor="ctr"/>
          <a:lstStyle/>
          <a:p/>
        </p:txBody>
      </p:sp>
      <p:sp>
        <p:nvSpPr>
          <p:cNvPr id="478" name="TextBox 477"/>
          <p:cNvSpPr txBox="1"/>
          <p:nvPr/>
        </p:nvSpPr>
        <p:spPr>
          <a:xfrm>
            <a:off x="6409944" y="1490472"/>
            <a:ext cx="2176272" cy="292608"/>
          </a:xfrm>
          <a:prstGeom prst="rect">
            <a:avLst/>
          </a:prstGeom>
          <a:noFill/>
        </p:spPr>
        <p:txBody>
          <a:bodyPr wrap="square" lIns="0" rIns="0" tIns="0" bIns="0" anchor="t">
            <a:spAutoFit/>
          </a:bodyPr>
          <a:lstStyle/>
          <a:p>
            <a:pPr algn="l"/>
            <a:r>
              <a:rPr sz="1700" b="1" i="0">
                <a:solidFill>
                  <a:schemeClr val="accent1"/>
                </a:solidFill>
                <a:latin typeface="Calibri"/>
              </a:rPr>
              <a:t>178–194 s</a:t>
            </a:r>
          </a:p>
        </p:txBody>
      </p:sp>
      <p:sp>
        <p:nvSpPr>
          <p:cNvPr id="479" name="TextBox 478"/>
          <p:cNvSpPr txBox="1"/>
          <p:nvPr/>
        </p:nvSpPr>
        <p:spPr>
          <a:xfrm>
            <a:off x="6409944" y="1792224"/>
            <a:ext cx="2176272" cy="512064"/>
          </a:xfrm>
          <a:prstGeom prst="rect">
            <a:avLst/>
          </a:prstGeom>
          <a:noFill/>
        </p:spPr>
        <p:txBody>
          <a:bodyPr wrap="square" lIns="0" rIns="0" tIns="0" bIns="0" anchor="t">
            <a:spAutoFit/>
          </a:bodyPr>
          <a:lstStyle/>
          <a:p>
            <a:pPr algn="l"/>
            <a:r>
              <a:rPr sz="1000" b="0" i="0">
                <a:solidFill>
                  <a:schemeClr val="dk1"/>
                </a:solidFill>
                <a:latin typeface="Calibri"/>
              </a:rPr>
              <a:t>FeRRy F at every budget: its plan barely changes, so its line stays flat</a:t>
            </a:r>
          </a:p>
        </p:txBody>
      </p:sp>
      <p:sp>
        <p:nvSpPr>
          <p:cNvPr id="480" name="Rounded Rectangle 479"/>
          <p:cNvSpPr/>
          <p:nvPr/>
        </p:nvSpPr>
        <p:spPr>
          <a:xfrm>
            <a:off x="6263640" y="2432304"/>
            <a:ext cx="2468880" cy="932688"/>
          </a:xfrm>
          <a:prstGeom prst="roundRect">
            <a:avLst>
              <a:gd name="adj" fmla="val 5517"/>
            </a:avLst>
          </a:prstGeom>
          <a:solidFill>
            <a:schemeClr val="lt2"/>
          </a:solidFill>
          <a:ln>
            <a:noFill/>
          </a:ln>
        </p:spPr>
        <p:txBody>
          <a:bodyPr rtlCol="0" anchor="ctr"/>
          <a:lstStyle/>
          <a:p/>
        </p:txBody>
      </p:sp>
      <p:sp>
        <p:nvSpPr>
          <p:cNvPr id="481" name="TextBox 480"/>
          <p:cNvSpPr txBox="1"/>
          <p:nvPr/>
        </p:nvSpPr>
        <p:spPr>
          <a:xfrm>
            <a:off x="6409944" y="2514600"/>
            <a:ext cx="2176272" cy="292608"/>
          </a:xfrm>
          <a:prstGeom prst="rect">
            <a:avLst/>
          </a:prstGeom>
          <a:noFill/>
        </p:spPr>
        <p:txBody>
          <a:bodyPr wrap="square" lIns="0" rIns="0" tIns="0" bIns="0" anchor="t">
            <a:spAutoFit/>
          </a:bodyPr>
          <a:lstStyle/>
          <a:p>
            <a:pPr algn="l"/>
            <a:r>
              <a:rPr sz="1700" b="1" i="0">
                <a:solidFill>
                  <a:schemeClr val="dk1"/>
                </a:solidFill>
                <a:latin typeface="Calibri"/>
              </a:rPr>
              <a:t>20–61 s</a:t>
            </a:r>
          </a:p>
        </p:txBody>
      </p:sp>
      <p:sp>
        <p:nvSpPr>
          <p:cNvPr id="482" name="TextBox 481"/>
          <p:cNvSpPr txBox="1"/>
          <p:nvPr/>
        </p:nvSpPr>
        <p:spPr>
          <a:xfrm>
            <a:off x="6409944" y="2816352"/>
            <a:ext cx="2176272" cy="512064"/>
          </a:xfrm>
          <a:prstGeom prst="rect">
            <a:avLst/>
          </a:prstGeom>
          <a:noFill/>
        </p:spPr>
        <p:txBody>
          <a:bodyPr wrap="square" lIns="0" rIns="0" tIns="0" bIns="0" anchor="t">
            <a:spAutoFit/>
          </a:bodyPr>
          <a:lstStyle/>
          <a:p>
            <a:pPr algn="l"/>
            <a:r>
              <a:rPr sz="1000" b="0" i="0">
                <a:solidFill>
                  <a:schemeClr val="dk1"/>
                </a:solidFill>
                <a:latin typeface="Calibri"/>
              </a:rPr>
              <a:t>F's lead at 75 s over the six baselines that obey the budget: their cut-short tours catch up</a:t>
            </a:r>
          </a:p>
        </p:txBody>
      </p:sp>
      <p:sp>
        <p:nvSpPr>
          <p:cNvPr id="483" name="Rounded Rectangle 482"/>
          <p:cNvSpPr/>
          <p:nvPr/>
        </p:nvSpPr>
        <p:spPr>
          <a:xfrm>
            <a:off x="6263640" y="3456432"/>
            <a:ext cx="2468880" cy="932688"/>
          </a:xfrm>
          <a:prstGeom prst="roundRect">
            <a:avLst>
              <a:gd name="adj" fmla="val 5517"/>
            </a:avLst>
          </a:prstGeom>
          <a:solidFill>
            <a:schemeClr val="lt2"/>
          </a:solidFill>
          <a:ln>
            <a:noFill/>
          </a:ln>
        </p:spPr>
        <p:txBody>
          <a:bodyPr rtlCol="0" anchor="ctr"/>
          <a:lstStyle/>
          <a:p/>
        </p:txBody>
      </p:sp>
      <p:sp>
        <p:nvSpPr>
          <p:cNvPr id="484" name="TextBox 483"/>
          <p:cNvSpPr txBox="1"/>
          <p:nvPr/>
        </p:nvSpPr>
        <p:spPr>
          <a:xfrm>
            <a:off x="6409944" y="3538728"/>
            <a:ext cx="2176272" cy="292608"/>
          </a:xfrm>
          <a:prstGeom prst="rect">
            <a:avLst/>
          </a:prstGeom>
          <a:noFill/>
        </p:spPr>
        <p:txBody>
          <a:bodyPr wrap="square" lIns="0" rIns="0" tIns="0" bIns="0" anchor="t">
            <a:spAutoFit/>
          </a:bodyPr>
          <a:lstStyle/>
          <a:p>
            <a:pPr algn="l"/>
            <a:r>
              <a:rPr sz="1700" b="1" i="0">
                <a:solidFill>
                  <a:schemeClr val="dk1"/>
                </a:solidFill>
                <a:latin typeface="Calibri"/>
              </a:rPr>
              <a:t>67–96 s</a:t>
            </a:r>
          </a:p>
        </p:txBody>
      </p:sp>
      <p:sp>
        <p:nvSpPr>
          <p:cNvPr id="485" name="TextBox 484"/>
          <p:cNvSpPr txBox="1"/>
          <p:nvPr/>
        </p:nvSpPr>
        <p:spPr>
          <a:xfrm>
            <a:off x="6409944" y="3840480"/>
            <a:ext cx="2176272" cy="512064"/>
          </a:xfrm>
          <a:prstGeom prst="rect">
            <a:avLst/>
          </a:prstGeom>
          <a:noFill/>
        </p:spPr>
        <p:txBody>
          <a:bodyPr wrap="square" lIns="0" rIns="0" tIns="0" bIns="0" anchor="t">
            <a:spAutoFit/>
          </a:bodyPr>
          <a:lstStyle/>
          <a:p>
            <a:pPr algn="l"/>
            <a:r>
              <a:rPr sz="1000" b="0" i="0">
                <a:solidFill>
                  <a:schemeClr val="dk1"/>
                </a:solidFill>
                <a:latin typeface="Calibri"/>
              </a:rPr>
              <a:t>its lead once the budget stops binding (300 s on); 1800 s gives the same times as 300 s</a:t>
            </a:r>
          </a:p>
        </p:txBody>
      </p:sp>
      <p:sp>
        <p:nvSpPr>
          <p:cNvPr id="486" name="TextBox 485"/>
          <p:cNvSpPr txBox="1"/>
          <p:nvPr/>
        </p:nvSpPr>
        <p:spPr>
          <a:xfrm>
            <a:off x="411480" y="4507992"/>
            <a:ext cx="5669280" cy="274320"/>
          </a:xfrm>
          <a:prstGeom prst="rect">
            <a:avLst/>
          </a:prstGeom>
          <a:noFill/>
        </p:spPr>
        <p:txBody>
          <a:bodyPr wrap="square" lIns="0" rIns="0" tIns="0" bIns="0" anchor="t">
            <a:spAutoFit/>
          </a:bodyPr>
          <a:lstStyle/>
          <a:p>
            <a:pPr algn="l"/>
            <a:r>
              <a:rPr sz="900" b="0" i="1">
                <a:solidFill>
                  <a:schemeClr val="accent3"/>
                </a:solidFill>
                <a:latin typeface="Calibri"/>
              </a:rPr>
              <a:t>Budgets are evenly spaced, not to scale. Means over trials that reached 71%: all 20, except 18–19 for H1, Oort, FedCS and DQN (Chen) at 75 s. *FQ: exploratory.</a:t>
            </a:r>
          </a:p>
        </p:txBody>
      </p:sp>
    </p:spTree>
  </p:cSld>
  <p:clrMapOvr>
    <a:masterClrMapping/>
  </p:clrMapOvr>
</p:sld>
</file>

<file path=ppt/theme/theme1.xml><?xml version="1.0" encoding="utf-8"?>
<a:theme xmlns:a="http://schemas.openxmlformats.org/drawingml/2006/main" xmlns:r="http://schemas.openxmlformats.org/officeDocument/2006/relationships" name="FeRRy Field">
  <a:themeElements>
    <a:clrScheme name="FeRRy Field">
      <a:dk1>
        <a:srgbClr val="1B2430"/>
      </a:dk1>
      <a:lt1>
        <a:srgbClr val="FFFFFF"/>
      </a:lt1>
      <a:dk2>
        <a:srgbClr val="102A3A"/>
      </a:dk2>
      <a:lt2>
        <a:srgbClr val="EEF2F5"/>
      </a:lt2>
      <a:accent1>
        <a:srgbClr val="D9681A"/>
      </a:accent1>
      <a:accent2>
        <a:srgbClr val="1F7A8C"/>
      </a:accent2>
      <a:accent3>
        <a:srgbClr val="5E6B78"/>
      </a:accent3>
      <a:accent4>
        <a:srgbClr val="C2453D"/>
      </a:accent4>
      <a:accent5>
        <a:srgbClr val="3B98A6"/>
      </a:accent5>
      <a:accent6>
        <a:srgbClr val="0D2F3D"/>
      </a:accent6>
      <a:hlink>
        <a:srgbClr val="1F7A8C"/>
      </a:hlink>
      <a:folHlink>
        <a:srgbClr val="5E6B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